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g" ContentType="image/jpeg"/>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p="http://schemas.openxmlformats.org/presentationml/2006/main" xmlns:a="http://schemas.openxmlformats.org/drawingml/2006/main" xmlns:r="http://schemas.openxmlformats.org/officeDocument/2006/relationships">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Lst>
  <p:sldSz cx="12192000" cy="6858000" type="screen16x9"/>
  <p:notesSz cx="6858000" cy="9144000"/>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cNvSpPr/>
          <p:nvPr>
            <p:ph type="body" idx="1"/>
          </p:nvPr>
        </p:nvSpPr>
        <p:spPr/>
        <p:txBody>
          <a:bodyPr/>
          <a:lstStyle/>
          <a:p>
            <a:pPr algn="l">
              <a:lnSpc>
                <a:spcPts val="1500"/>
              </a:lnSpc>
              <a:spcBef>
                <a:spcPts val="0"/>
              </a:spcBef>
              <a:spcAft>
                <a:spcPts val="0"/>
              </a:spcAft>
            </a:pPr>
            <a:r>
              <a:rPr lang="fr-FR" sz="1200" b="0">
                <a:solidFill>
                  <a:srgbClr val="203A32"/>
                </a:solidFill>
                <a:latin typeface="Segoe UI"/>
                <a:ea typeface="Segoe UI"/>
                <a:cs typeface="Tahoma"/>
              </a:rPr>
              <a:t xml:space="preserve">Soutenance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LMA3NA</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Présenter le projet comme une comparaison scientifique. Les tableaux T4 sont les résultats exécutés sauvegardés. Les expériences d’amélioration restent identifiées séparément.</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Sources :</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results/report_data/provenance.json</a:t>
            </a:r>
            <a:endParaRPr lang="fr-FR" sz="1200"/>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cNvSpPr/>
          <p:nvPr>
            <p:ph type="body" idx="1"/>
          </p:nvPr>
        </p:nvSpPr>
        <p:spPr/>
        <p:txBody>
          <a:bodyPr/>
          <a:lstStyle/>
          <a:p>
            <a:pPr algn="l">
              <a:lnSpc>
                <a:spcPts val="1500"/>
              </a:lnSpc>
              <a:spcBef>
                <a:spcPts val="0"/>
              </a:spcBef>
              <a:spcAft>
                <a:spcPts val="0"/>
              </a:spcAft>
            </a:pPr>
            <a:r>
              <a:rPr lang="fr-FR" sz="1200" b="0">
                <a:solidFill>
                  <a:srgbClr val="203A32"/>
                </a:solidFill>
                <a:latin typeface="Segoe UI"/>
                <a:ea typeface="Segoe UI"/>
                <a:cs typeface="Tahoma"/>
              </a:rPr>
              <a:t xml:space="preserve">01 · Problème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Le contexte peut inverser le sens des mots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L’exemple vient des essais qualitatifs transmis par l’utilisateur. La lecture ironique est informelle et ne remplace pas une annotation indépendante.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Sources :</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results/report_data/phrases_capture.csv</a:t>
            </a:r>
            <a:endParaRPr lang="fr-FR" sz="1200"/>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cNvSpPr/>
          <p:nvPr>
            <p:ph type="body" idx="1"/>
          </p:nvPr>
        </p:nvSpPr>
        <p:spPr/>
        <p:txBody>
          <a:bodyPr/>
          <a:lstStyle/>
          <a:p>
            <a:pPr algn="l">
              <a:lnSpc>
                <a:spcPts val="1500"/>
              </a:lnSpc>
              <a:spcBef>
                <a:spcPts val="0"/>
              </a:spcBef>
              <a:spcAft>
                <a:spcPts val="0"/>
              </a:spcAft>
            </a:pPr>
            <a:r>
              <a:rPr lang="fr-FR" sz="1200" b="0">
                <a:solidFill>
                  <a:srgbClr val="203A32"/>
                </a:solidFill>
                <a:latin typeface="Segoe UI"/>
                <a:ea typeface="Segoe UI"/>
                <a:cs typeface="Tahoma"/>
              </a:rPr>
              <a:t xml:space="preserve">01 · Parcours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Une démarche complète, du corpus à la démonstration</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Présenter les étapes dans leur ordre logique. La séparation des données précède les apprentissages. Les familles A à E sont des modèles, F et G des évaluations. L’application restitue les mesures existantes. R-Drop reste une extension ajoutée.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Sources :</a:t>
            </a:r>
            <a:endParaRPr lang="fr-FR" sz="1200"/>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cNvSpPr/>
          <p:nvPr>
            <p:ph type="body" idx="1"/>
          </p:nvPr>
        </p:nvSpPr>
        <p:spPr/>
        <p:txBody>
          <a:bodyPr/>
          <a:lstStyle/>
          <a:p>
            <a:pPr algn="l">
              <a:lnSpc>
                <a:spcPts val="1500"/>
              </a:lnSpc>
              <a:spcBef>
                <a:spcPts val="0"/>
              </a:spcBef>
              <a:spcAft>
                <a:spcPts val="0"/>
              </a:spcAft>
            </a:pPr>
            <a:r>
              <a:rPr lang="fr-FR" sz="1200" b="0">
                <a:solidFill>
                  <a:srgbClr val="203A32"/>
                </a:solidFill>
                <a:latin typeface="Segoe UI"/>
                <a:ea typeface="Segoe UI"/>
                <a:cs typeface="Tahoma"/>
              </a:rPr>
              <a:t xml:space="preserve">02 · Données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Les partitions restent distinctes pendant le protocole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Le CSV officiel comprend 12 548 tweets. Le split stratifié réserve 1 255 tweets à la validation. Les exclusions s’appliquent ensuite au train, qui passe à 10 842. Le test reste officiel, avec 3 000 tweets. Le texte test peut intervenir dans la détection des collisions sans utiliser ses labels.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Sources :</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results/split_audit.json</a:t>
            </a:r>
            <a:endParaRPr lang="fr-FR" sz="1200"/>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cNvSpPr/>
          <p:nvPr>
            <p:ph type="body" idx="1"/>
          </p:nvPr>
        </p:nvSpPr>
        <p:spPr/>
        <p:txBody>
          <a:bodyPr/>
          <a:lstStyle/>
          <a:p>
            <a:pPr algn="l">
              <a:lnSpc>
                <a:spcPts val="1500"/>
              </a:lnSpc>
              <a:spcBef>
                <a:spcPts val="0"/>
              </a:spcBef>
              <a:spcAft>
                <a:spcPts val="0"/>
              </a:spcAft>
            </a:pPr>
            <a:r>
              <a:rPr lang="fr-FR" sz="1200" b="0">
                <a:solidFill>
                  <a:srgbClr val="203A32"/>
                </a:solidFill>
                <a:latin typeface="Segoe UI"/>
                <a:ea typeface="Segoe UI"/>
                <a:cs typeface="Tahoma"/>
              </a:rPr>
              <a:t xml:space="preserve">02 · Déséquilibre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L’accuracy masque facilement la classe rare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Expliquer le piège du déséquilibre : prédire toujours non sarcastique donne une accuracy élevée, mais aucun rappel sur la classe utile. Le F1 combine précision et rappel. L’Average Precision exploite le classement des scores et complète un F1 dépendant du seuil.</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Sources :</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results/compte_rendu.md, Q1</a:t>
            </a:r>
            <a:endParaRPr lang="fr-FR" sz="1200"/>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cNvSpPr/>
          <p:nvPr>
            <p:ph type="body" idx="1"/>
          </p:nvPr>
        </p:nvSpPr>
        <p:spPr/>
        <p:txBody>
          <a:bodyPr/>
          <a:lstStyle/>
          <a:p>
            <a:pPr algn="l">
              <a:lnSpc>
                <a:spcPts val="1500"/>
              </a:lnSpc>
              <a:spcBef>
                <a:spcPts val="0"/>
              </a:spcBef>
              <a:spcAft>
                <a:spcPts val="0"/>
              </a:spcAft>
            </a:pPr>
            <a:r>
              <a:rPr lang="fr-FR" sz="1200" b="0">
                <a:solidFill>
                  <a:srgbClr val="203A32"/>
                </a:solidFill>
                <a:latin typeface="Segoe UI"/>
                <a:ea typeface="Segoe UI"/>
                <a:cs typeface="Tahoma"/>
              </a:rPr>
              <a:t xml:space="preserve">02 · Audit</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Les collisions et contradictions sont traitées avant l’apprentissage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Les clés normalisées recherchent les mêmes contenus malgré des variantes d’écriture. Les ensembles de doublons, collisions et contradictions se recouvrent. Leur somme serait trompeuse. Préserver validation et test empêche de modifier l’évaluation pour améliorer artificiellement les scores.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Sources :</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results/compte_rendu.md, Q2</a:t>
            </a:r>
            <a:endParaRPr lang="fr-FR" sz="1200"/>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cNvSpPr/>
          <p:nvPr>
            <p:ph type="body" idx="1"/>
          </p:nvPr>
        </p:nvSpPr>
        <p:spPr/>
        <p:txBody>
          <a:bodyPr/>
          <a:lstStyle/>
          <a:p>
            <a:pPr algn="l">
              <a:lnSpc>
                <a:spcPts val="1500"/>
              </a:lnSpc>
              <a:spcBef>
                <a:spcPts val="0"/>
              </a:spcBef>
              <a:spcAft>
                <a:spcPts val="0"/>
              </a:spcAft>
            </a:pPr>
            <a:r>
              <a:rPr lang="fr-FR" sz="1200" b="0">
                <a:solidFill>
                  <a:srgbClr val="203A32"/>
                </a:solidFill>
                <a:latin typeface="Segoe UI"/>
                <a:ea typeface="Segoe UI"/>
                <a:cs typeface="Tahoma"/>
              </a:rPr>
              <a:t xml:space="preserve">03 · Prétraitement</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Le nettoyage préserve les marqueurs utiles à l’ironie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Un nettoyage trop fort détruit le signal. Les rires, emojis, répétitions et négations peuvent expliquer le contraste ironique. Le traitement doit rester compatible avec le tokenizer du modèle préentraîné. En inférence, on reprend exactement le même prétraitement.</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Sources :</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src/preprocess.py ; notebook de présentation, Dataset et prétraitement</a:t>
            </a:r>
            <a:endParaRPr lang="fr-FR" sz="1200"/>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cNvSpPr/>
          <p:nvPr>
            <p:ph type="body" idx="1"/>
          </p:nvPr>
        </p:nvSpPr>
        <p:spPr/>
        <p:txBody>
          <a:bodyPr/>
          <a:lstStyle/>
          <a:p>
            <a:pPr algn="l">
              <a:lnSpc>
                <a:spcPts val="1500"/>
              </a:lnSpc>
              <a:spcBef>
                <a:spcPts val="0"/>
              </a:spcBef>
              <a:spcAft>
                <a:spcPts val="0"/>
              </a:spcAft>
            </a:pPr>
            <a:r>
              <a:rPr lang="fr-FR" sz="1200" b="0">
                <a:solidFill>
                  <a:srgbClr val="203A32"/>
                </a:solidFill>
                <a:latin typeface="Segoe UI"/>
                <a:ea typeface="Segoe UI"/>
                <a:cs typeface="Tahoma"/>
              </a:rPr>
              <a:t xml:space="preserve">03 · Risques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Les indices d’export créent des raccourcis de prédiction</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Les fréquences de marqueurs diffèrent entre les exports. Un modèle peut apprendre leur provenance plutôt que l’ironie. La règle à une seule variable est un diagnostic de raccourci. Les résultats ne prouvent pas qu’un indice cause le sarcasme.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Sources :</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results/report_data/cell_017_table_1.csv</a:t>
            </a:r>
            <a:endParaRPr lang="fr-FR" sz="1200"/>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cNvSpPr/>
          <p:nvPr>
            <p:ph type="body" idx="1"/>
          </p:nvPr>
        </p:nvSpPr>
        <p:spPr/>
        <p:txBody>
          <a:bodyPr/>
          <a:lstStyle/>
          <a:p>
            <a:pPr algn="l">
              <a:lnSpc>
                <a:spcPts val="1500"/>
              </a:lnSpc>
              <a:spcBef>
                <a:spcPts val="0"/>
              </a:spcBef>
              <a:spcAft>
                <a:spcPts val="0"/>
              </a:spcAft>
            </a:pPr>
            <a:r>
              <a:rPr lang="fr-FR" sz="1200" b="0">
                <a:solidFill>
                  <a:srgbClr val="203A32"/>
                </a:solidFill>
                <a:latin typeface="Segoe UI"/>
                <a:ea typeface="Segoe UI"/>
                <a:cs typeface="Tahoma"/>
              </a:rPr>
              <a:t xml:space="preserve">04 · A · Baseline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Le nettoyage conservateur gagne la comparaison TF-IDF</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TF-IDF combine n-grammes de mots et de caractères pour couvrir aussi des variantes morphologiques. La régression logistique fournit un score, puis le seuil de validation fournit la décision. Le nettoyage conservateur gagne cette ablation, mais le résultat ne vaut pas universellement pour tous les corpus.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Sources :</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results/report_data/cell_029_table_1.csv</a:t>
            </a:r>
            <a:endParaRPr lang="fr-FR" sz="1200"/>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cNvSpPr/>
          <p:nvPr>
            <p:ph type="body" idx="1"/>
          </p:nvPr>
        </p:nvSpPr>
        <p:spPr/>
        <p:txBody>
          <a:bodyPr/>
          <a:lstStyle/>
          <a:p>
            <a:pPr algn="l">
              <a:lnSpc>
                <a:spcPts val="1500"/>
              </a:lnSpc>
              <a:spcBef>
                <a:spcPts val="0"/>
              </a:spcBef>
              <a:spcAft>
                <a:spcPts val="0"/>
              </a:spcAft>
            </a:pPr>
            <a:r>
              <a:rPr lang="fr-FR" sz="1200" b="0">
                <a:solidFill>
                  <a:srgbClr val="203A32"/>
                </a:solidFill>
                <a:latin typeface="Segoe UI"/>
                <a:ea typeface="Segoe UI"/>
                <a:cs typeface="Tahoma"/>
              </a:rPr>
              <a:t xml:space="preserve">04 · B · Transfert</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Le zero-shot dépend du prompt et du signal de sentiment</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NLI : mDeBERTa multilingue XNLI. Sentiment : CAMeLBERT. Aucun ajustement de ces encodeurs sur les exemples du TP pour B. Une contamination avec des sources de sentiment réannotées reste possible pour B2.</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Sources :</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results/report_data/cell_038_table_1.csv</a:t>
            </a:r>
            <a:endParaRPr lang="fr-FR" sz="1200"/>
          </a:p>
        </p:txBody>
      </p:sp>
    </p:spTree>
  </p:cSld>
  <p:clrMapOvr>
    <a:masterClrMapping/>
  </p:clrMapOvr>
</p:notes>
</file>

<file path=ppt/notesSlides/notesSlide1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cNvSpPr/>
          <p:nvPr>
            <p:ph type="body" idx="1"/>
          </p:nvPr>
        </p:nvSpPr>
        <p:spPr/>
        <p:txBody>
          <a:bodyPr/>
          <a:lstStyle/>
          <a:p>
            <a:pPr algn="l">
              <a:lnSpc>
                <a:spcPts val="1500"/>
              </a:lnSpc>
              <a:spcBef>
                <a:spcPts val="0"/>
              </a:spcBef>
              <a:spcAft>
                <a:spcPts val="0"/>
              </a:spcAft>
            </a:pPr>
            <a:r>
              <a:rPr lang="fr-FR" sz="1200" b="0">
                <a:solidFill>
                  <a:srgbClr val="203A32"/>
                </a:solidFill>
                <a:latin typeface="Segoe UI"/>
                <a:ea typeface="Segoe UI"/>
                <a:cs typeface="Tahoma"/>
              </a:rPr>
              <a:t xml:space="preserve">04 · C · Réseaux</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Trois architectures apprennent l’ordre et les relations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C1 résume les états bidirectionnels par max-pooling. C2 apprend une pondération des états. C3 représente les relations entre tokens par auto-attention et ajoute une information de position. Le masque évite d’apprendre à partir du padding. Ces architectures gardent le budget du TP.</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Sources :</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src/models.py</a:t>
            </a:r>
            <a:endParaRPr lang="fr-FR" sz="1200"/>
          </a:p>
        </p:txBody>
      </p:sp>
    </p:spTree>
  </p:cSld>
  <p:clrMapOvr>
    <a:masterClrMapping/>
  </p:clrMapOvr>
</p:notes>
</file>

<file path=ppt/notesSlides/notesSlide1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cNvSpPr/>
          <p:nvPr>
            <p:ph type="body" idx="1"/>
          </p:nvPr>
        </p:nvSpPr>
        <p:spPr/>
        <p:txBody>
          <a:bodyPr/>
          <a:lstStyle/>
          <a:p>
            <a:pPr algn="l">
              <a:lnSpc>
                <a:spcPts val="1500"/>
              </a:lnSpc>
              <a:spcBef>
                <a:spcPts val="0"/>
              </a:spcBef>
              <a:spcAft>
                <a:spcPts val="0"/>
              </a:spcAft>
            </a:pPr>
            <a:r>
              <a:rPr lang="fr-FR" sz="1200" b="0">
                <a:solidFill>
                  <a:srgbClr val="203A32"/>
                </a:solidFill>
                <a:latin typeface="Segoe UI"/>
                <a:ea typeface="Segoe UI"/>
                <a:cs typeface="Tahoma"/>
              </a:rPr>
              <a:t xml:space="preserve">04 · C · Représentations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AraVec améliore les trois réseaux statiques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AraVec améliore toutes les architectures C sur la validation de cette exécution. Les embeddings apportent des régularités lexicales apprises sur Twitter. Il faut distinguer le calendrier de dégel de l’époque du meilleur checkpoint, qui peut être antérieure.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Sources :</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results/report_data/cell_051_table_1.csv ; notebook de présentation, AraVec</a:t>
            </a:r>
            <a:endParaRPr lang="fr-FR" sz="1200"/>
          </a:p>
        </p:txBody>
      </p:sp>
    </p:spTree>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cNvSpPr/>
          <p:nvPr>
            <p:ph type="body" idx="1"/>
          </p:nvPr>
        </p:nvSpPr>
        <p:spPr/>
        <p:txBody>
          <a:bodyPr/>
          <a:lstStyle/>
          <a:p>
            <a:pPr algn="l">
              <a:lnSpc>
                <a:spcPts val="1500"/>
              </a:lnSpc>
              <a:spcBef>
                <a:spcPts val="0"/>
              </a:spcBef>
              <a:spcAft>
                <a:spcPts val="0"/>
              </a:spcAft>
            </a:pPr>
            <a:r>
              <a:rPr lang="fr-FR" sz="1200" b="0">
                <a:solidFill>
                  <a:srgbClr val="203A32"/>
                </a:solidFill>
                <a:latin typeface="Segoe UI"/>
                <a:ea typeface="Segoe UI"/>
                <a:cs typeface="Tahoma"/>
              </a:rPr>
              <a:t xml:space="preserve">04 · C · Décision</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Le seuil compte autant que le traitement du déséquilibre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Les trois stratégies de déséquilibre ne produisent pas les mêmes distributions de scores. Optimiser le seuil sur validation améliore chaque configuration. Il serait incorrect de choisir le seuil sur test ou de sur-échantillonner avant la séparation.</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Sources :</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results/report_data/cell_056_table_1.csv</a:t>
            </a:r>
            <a:endParaRPr lang="fr-FR" sz="1200"/>
          </a:p>
        </p:txBody>
      </p:sp>
    </p:spTree>
  </p:cSld>
  <p:clrMapOvr>
    <a:masterClrMapping/>
  </p:clrMapOvr>
</p:notes>
</file>

<file path=ppt/notesSlides/notesSlide1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cNvSpPr/>
          <p:nvPr>
            <p:ph type="body" idx="1"/>
          </p:nvPr>
        </p:nvSpPr>
        <p:spPr/>
        <p:txBody>
          <a:bodyPr/>
          <a:lstStyle/>
          <a:p>
            <a:pPr algn="l">
              <a:lnSpc>
                <a:spcPts val="1500"/>
              </a:lnSpc>
              <a:spcBef>
                <a:spcPts val="0"/>
              </a:spcBef>
              <a:spcAft>
                <a:spcPts val="0"/>
              </a:spcAft>
            </a:pPr>
            <a:r>
              <a:rPr lang="fr-FR" sz="1200" b="0">
                <a:solidFill>
                  <a:srgbClr val="203A32"/>
                </a:solidFill>
                <a:latin typeface="Segoe UI"/>
                <a:ea typeface="Segoe UI"/>
                <a:cs typeface="Tahoma"/>
              </a:rPr>
              <a:t xml:space="preserve">04 · D · Encodeur gelé</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AraBERT gelé fournit des représentations contextuelles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D conserve les poids de l’encodeur et n’ajuste que la tête supervisée. Les représentations contextuelles sont plus riches que les embeddings statiques. Les temps d’ajustement de tête excluent l’extraction et ne représentent donc pas le temps total du système.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Sources :</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results/compte_rendu.md, Q8</a:t>
            </a:r>
            <a:endParaRPr lang="fr-FR" sz="1200"/>
          </a:p>
        </p:txBody>
      </p:sp>
    </p:spTree>
  </p:cSld>
  <p:clrMapOvr>
    <a:masterClrMapping/>
  </p:clrMapOvr>
</p:notes>
</file>

<file path=ppt/notesSlides/notesSlide1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cNvSpPr/>
          <p:nvPr>
            <p:ph type="body" idx="1"/>
          </p:nvPr>
        </p:nvSpPr>
        <p:spPr/>
        <p:txBody>
          <a:bodyPr/>
          <a:lstStyle/>
          <a:p>
            <a:pPr algn="l">
              <a:lnSpc>
                <a:spcPts val="1500"/>
              </a:lnSpc>
              <a:spcBef>
                <a:spcPts val="0"/>
              </a:spcBef>
              <a:spcAft>
                <a:spcPts val="0"/>
              </a:spcAft>
            </a:pPr>
            <a:r>
              <a:rPr lang="fr-FR" sz="1200" b="0">
                <a:solidFill>
                  <a:srgbClr val="203A32"/>
                </a:solidFill>
                <a:latin typeface="Segoe UI"/>
                <a:ea typeface="Segoe UI"/>
                <a:cs typeface="Tahoma"/>
              </a:rPr>
              <a:t xml:space="preserve">04 · E · Fine-tuning</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Le multi-tâche partage l’encodeur entre sarcasme et sentiment</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E1 ajuste l’encodeur pour le sarcasme. E2 partage l’encodeur avec une tâche de sentiment. Le coefficient lambda contrôle le signal auxiliaire. Une corrélation sentiment-sarcasme peut aider, mais la négativité ne définit pas l’ironie. La tête sentiment peut aussi détourner l’apprentissage.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Sources :</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src/models.py ; résultats T4 E1/E2</a:t>
            </a:r>
            <a:endParaRPr lang="fr-FR" sz="1200"/>
          </a:p>
        </p:txBody>
      </p:sp>
    </p:spTree>
  </p:cSld>
  <p:clrMapOvr>
    <a:masterClrMapping/>
  </p:clrMapOvr>
</p:notes>
</file>

<file path=ppt/notesSlides/notesSlide1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cNvSpPr/>
          <p:nvPr>
            <p:ph type="body" idx="1"/>
          </p:nvPr>
        </p:nvSpPr>
        <p:spPr/>
        <p:txBody>
          <a:bodyPr/>
          <a:lstStyle/>
          <a:p>
            <a:pPr algn="l">
              <a:lnSpc>
                <a:spcPts val="1500"/>
              </a:lnSpc>
              <a:spcBef>
                <a:spcPts val="0"/>
              </a:spcBef>
              <a:spcAft>
                <a:spcPts val="0"/>
              </a:spcAft>
            </a:pPr>
            <a:r>
              <a:rPr lang="fr-FR" sz="1200" b="0">
                <a:solidFill>
                  <a:srgbClr val="203A32"/>
                </a:solidFill>
                <a:latin typeface="Segoe UI"/>
                <a:ea typeface="Segoe UI"/>
                <a:cs typeface="Tahoma"/>
              </a:rPr>
              <a:t xml:space="preserve">04 · E · Sélection</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La validation sélectionne AraBERT E2 avec λ = 0,3</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La comparaison utilise la validation pour sélectionner l’encodeur et lambda. Les trois graines mesurent la variabilité de l’apprentissage. Le choix final retient AraBERT E2 lambda 0,3. Le score validation ne doit pas être présenté comme un score test.</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Sources :</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results/report_data/cell_076_table_1.csv</a:t>
            </a:r>
            <a:endParaRPr lang="fr-FR" sz="1200"/>
          </a:p>
        </p:txBody>
      </p:sp>
    </p:spTree>
  </p:cSld>
  <p:clrMapOvr>
    <a:masterClrMapping/>
  </p:clrMapOvr>
</p:notes>
</file>

<file path=ppt/notesSlides/notesSlide1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cNvSpPr/>
          <p:nvPr>
            <p:ph type="body" idx="1"/>
          </p:nvPr>
        </p:nvSpPr>
        <p:spPr/>
        <p:txBody>
          <a:bodyPr/>
          <a:lstStyle/>
          <a:p>
            <a:pPr algn="l">
              <a:lnSpc>
                <a:spcPts val="1500"/>
              </a:lnSpc>
              <a:spcBef>
                <a:spcPts val="0"/>
              </a:spcBef>
              <a:spcAft>
                <a:spcPts val="0"/>
              </a:spcAft>
            </a:pPr>
            <a:r>
              <a:rPr lang="fr-FR" sz="1200" b="0">
                <a:solidFill>
                  <a:srgbClr val="203A32"/>
                </a:solidFill>
                <a:latin typeface="Segoe UI"/>
                <a:ea typeface="Segoe UI"/>
                <a:cs typeface="Tahoma"/>
              </a:rPr>
              <a:t xml:space="preserve">04 · Entraînement</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Les checkpoints reposent sur les courbes de validation</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Le suivi par époque choisit le checkpoint sur validation avec early stopping. La campagne historique limite les PLM à trois époques. AMP FP16 concerne les entraînements T4. Les nouvelles valeurs de code non exécutées ne créent pas de nouveaux résultats.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Sources :</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results/report_data/cell_101_image_1.png</a:t>
            </a:r>
            <a:endParaRPr lang="fr-FR" sz="1200"/>
          </a:p>
        </p:txBody>
      </p:sp>
    </p:spTree>
  </p:cSld>
  <p:clrMapOvr>
    <a:masterClrMapping/>
  </p:clrMapOvr>
</p:notes>
</file>

<file path=ppt/notesSlides/notesSlide1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cNvSpPr/>
          <p:nvPr>
            <p:ph type="body" idx="1"/>
          </p:nvPr>
        </p:nvSpPr>
        <p:spPr/>
        <p:txBody>
          <a:bodyPr/>
          <a:lstStyle/>
          <a:p>
            <a:pPr algn="l">
              <a:lnSpc>
                <a:spcPts val="1500"/>
              </a:lnSpc>
              <a:spcBef>
                <a:spcPts val="0"/>
              </a:spcBef>
              <a:spcAft>
                <a:spcPts val="0"/>
              </a:spcAft>
            </a:pPr>
            <a:r>
              <a:rPr lang="fr-FR" sz="1200" b="0">
                <a:solidFill>
                  <a:srgbClr val="203A32"/>
                </a:solidFill>
                <a:latin typeface="Segoe UI"/>
                <a:ea typeface="Segoe UI"/>
                <a:cs typeface="Tahoma"/>
              </a:rPr>
              <a:t xml:space="preserve">05 · Résultats finaux</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E1 et E2 obtiennent presque le même F1 test moyen</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Le classement donne les moyennes de test des modèles retenus auparavant sur validation. Les scores E1 et E2 sont presque identiques. L’écart de 0,03 point est très inférieur à la dispersion entre graines. A/C/D/E utilisent trois graines et B1/B2 un passage.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Sources :</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results/report_data/cell_101_table_1.csv</a:t>
            </a:r>
            <a:endParaRPr lang="fr-FR" sz="1200"/>
          </a:p>
        </p:txBody>
      </p:sp>
    </p:spTree>
  </p:cSld>
  <p:clrMapOvr>
    <a:masterClrMapping/>
  </p:clrMapOvr>
</p:notes>
</file>

<file path=ppt/notesSlides/notesSlide1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cNvSpPr/>
          <p:nvPr>
            <p:ph type="body" idx="1"/>
          </p:nvPr>
        </p:nvSpPr>
        <p:spPr/>
        <p:txBody>
          <a:bodyPr/>
          <a:lstStyle/>
          <a:p>
            <a:pPr algn="l">
              <a:lnSpc>
                <a:spcPts val="1500"/>
              </a:lnSpc>
              <a:spcBef>
                <a:spcPts val="0"/>
              </a:spcBef>
              <a:spcAft>
                <a:spcPts val="0"/>
              </a:spcAft>
            </a:pPr>
            <a:r>
              <a:rPr lang="fr-FR" sz="1200" b="0">
                <a:solidFill>
                  <a:srgbClr val="203A32"/>
                </a:solidFill>
                <a:latin typeface="Segoe UI"/>
                <a:ea typeface="Segoe UI"/>
                <a:cs typeface="Tahoma"/>
              </a:rPr>
              <a:t xml:space="preserve">05 · Détail des runs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Les trois graines rendent la variabilité visible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Le tableau permet de vérifier les agrégats. TF-IDF est déterministe dans cette configuration, donc ses trois résultats identiques ne sont pas un bug. E1 varie davantage. Le meilleur run test ne devient pas automatiquement le modèle à choisir après coup.</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Sources :</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results/report_data/cell_085_table_1.csv</a:t>
            </a:r>
            <a:endParaRPr lang="fr-FR" sz="1200"/>
          </a:p>
        </p:txBody>
      </p:sp>
    </p:spTree>
  </p:cSld>
  <p:clrMapOvr>
    <a:masterClrMapping/>
  </p:clrMapOvr>
</p:notes>
</file>

<file path=ppt/notesSlides/notesSlide2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cNvSpPr/>
          <p:nvPr>
            <p:ph type="body" idx="1"/>
          </p:nvPr>
        </p:nvSpPr>
        <p:spPr/>
        <p:txBody>
          <a:bodyPr/>
          <a:lstStyle/>
          <a:p>
            <a:pPr algn="l">
              <a:lnSpc>
                <a:spcPts val="1500"/>
              </a:lnSpc>
              <a:spcBef>
                <a:spcPts val="0"/>
              </a:spcBef>
              <a:spcAft>
                <a:spcPts val="0"/>
              </a:spcAft>
            </a:pPr>
            <a:r>
              <a:rPr lang="fr-FR" sz="1200" b="0">
                <a:solidFill>
                  <a:srgbClr val="203A32"/>
                </a:solidFill>
                <a:latin typeface="Segoe UI"/>
                <a:ea typeface="Segoe UI"/>
                <a:cs typeface="Tahoma"/>
              </a:rPr>
              <a:t xml:space="preserve">05 · Erreurs test</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La matrice révèle encore 237 sarcasmes manqués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La matrice correspond à une seule graine E2, pas à la moyenne de trois modèles. Les 237 faux négatifs sont des sarcasmes manqués et les 467 faux positifs des textes pris à tort pour sarcastiques. Le total est bien de 3 000 et les positifs réels de 821.</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Sources :</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results/report_data/cell_101_image_3.png</a:t>
            </a:r>
            <a:endParaRPr lang="fr-FR" sz="1200"/>
          </a:p>
        </p:txBody>
      </p:sp>
    </p:spTree>
  </p:cSld>
  <p:clrMapOvr>
    <a:masterClrMapping/>
  </p:clrMapOvr>
</p:notes>
</file>

<file path=ppt/notesSlides/notesSlide2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cNvSpPr/>
          <p:nvPr>
            <p:ph type="body" idx="1"/>
          </p:nvPr>
        </p:nvSpPr>
        <p:spPr/>
        <p:txBody>
          <a:bodyPr/>
          <a:lstStyle/>
          <a:p>
            <a:pPr algn="l">
              <a:lnSpc>
                <a:spcPts val="1500"/>
              </a:lnSpc>
              <a:spcBef>
                <a:spcPts val="0"/>
              </a:spcBef>
              <a:spcAft>
                <a:spcPts val="0"/>
              </a:spcAft>
            </a:pPr>
            <a:r>
              <a:rPr lang="fr-FR" sz="1200" b="0">
                <a:solidFill>
                  <a:srgbClr val="203A32"/>
                </a:solidFill>
                <a:latin typeface="Segoe UI"/>
                <a:ea typeface="Segoe UI"/>
                <a:cs typeface="Tahoma"/>
              </a:rPr>
              <a:t xml:space="preserve">05 · Qualité et coût</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TF-IDF reste un compromis intéressant sur CPU</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La latence doit être interprétée avec son protocole : CPU Colab, batch un, après chauffe. TF-IDF offre une solution légère. AraBERT améliore la qualité mais nécessite les poids complets, même avec un encodeur gelé. Les temps de tête ne comparent pas tous les coûts.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Sources :</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results/report_data/cell_101_table_1.csv</a:t>
            </a:r>
            <a:endParaRPr lang="fr-FR" sz="1200"/>
          </a:p>
        </p:txBody>
      </p:sp>
    </p:spTree>
  </p:cSld>
  <p:clrMapOvr>
    <a:masterClrMapping/>
  </p:clrMapOvr>
</p:notes>
</file>

<file path=ppt/notesSlides/notesSlide2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cNvSpPr/>
          <p:nvPr>
            <p:ph type="body" idx="1"/>
          </p:nvPr>
        </p:nvSpPr>
        <p:spPr/>
        <p:txBody>
          <a:bodyPr/>
          <a:lstStyle/>
          <a:p>
            <a:pPr algn="l">
              <a:lnSpc>
                <a:spcPts val="1500"/>
              </a:lnSpc>
              <a:spcBef>
                <a:spcPts val="0"/>
              </a:spcBef>
              <a:spcAft>
                <a:spcPts val="0"/>
              </a:spcAft>
            </a:pPr>
            <a:r>
              <a:rPr lang="fr-FR" sz="1200" b="0">
                <a:solidFill>
                  <a:srgbClr val="203A32"/>
                </a:solidFill>
                <a:latin typeface="Segoe UI"/>
                <a:ea typeface="Segoe UI"/>
                <a:cs typeface="Tahoma"/>
              </a:rPr>
              <a:t xml:space="preserve">06 · Généralisation</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Le taux de sarcasme change entre validation et test</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Le prior de sarcasme change de plus de dix points entre validation et test. Cela affecte précision et F1. Les écarts ne prouvent pas à eux seuls une mauvaise implémentation. Les diagnostics de seuils post-hoc expliquent une sensibilité, sans autoriser un réglage sur test.</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Sources :</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results/report_data/cell_081_table_1.csv</a:t>
            </a:r>
            <a:endParaRPr lang="fr-FR" sz="1200"/>
          </a:p>
        </p:txBody>
      </p:sp>
    </p:spTree>
  </p:cSld>
  <p:clrMapOvr>
    <a:masterClrMapping/>
  </p:clrMapOvr>
</p:notes>
</file>

<file path=ppt/notesSlides/notesSlide2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cNvSpPr/>
          <p:nvPr>
            <p:ph type="body" idx="1"/>
          </p:nvPr>
        </p:nvSpPr>
        <p:spPr/>
        <p:txBody>
          <a:bodyPr/>
          <a:lstStyle/>
          <a:p>
            <a:pPr algn="l">
              <a:lnSpc>
                <a:spcPts val="1500"/>
              </a:lnSpc>
              <a:spcBef>
                <a:spcPts val="0"/>
              </a:spcBef>
              <a:spcAft>
                <a:spcPts val="0"/>
              </a:spcAft>
            </a:pPr>
            <a:r>
              <a:rPr lang="fr-FR" sz="1200" b="0">
                <a:solidFill>
                  <a:srgbClr val="203A32"/>
                </a:solidFill>
                <a:latin typeface="Segoe UI"/>
                <a:ea typeface="Segoe UI"/>
                <a:cs typeface="Tahoma"/>
              </a:rPr>
              <a:t xml:space="preserve">06 · Robustesse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Les sous-groupes URL ont des distributions différentes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Le sous-groupe avec URL contient seulement 16 sarcasmes. Son prior diffère radicalement du groupe sans URL. Un F1 très faible doit donc être discuté avec les effectifs. Les ablations réentraînées complètent cette observation sans isoler parfaitement une cause.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Sources :</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results/report_data/cell_088_table_1.csv</a:t>
            </a:r>
            <a:endParaRPr lang="fr-FR" sz="1200"/>
          </a:p>
        </p:txBody>
      </p:sp>
    </p:spTree>
  </p:cSld>
  <p:clrMapOvr>
    <a:masterClrMapping/>
  </p:clrMapOvr>
</p:notes>
</file>

<file path=ppt/notesSlides/notesSlide2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cNvSpPr/>
          <p:nvPr>
            <p:ph type="body" idx="1"/>
          </p:nvPr>
        </p:nvSpPr>
        <p:spPr/>
        <p:txBody>
          <a:bodyPr/>
          <a:lstStyle/>
          <a:p>
            <a:pPr algn="l">
              <a:lnSpc>
                <a:spcPts val="1500"/>
              </a:lnSpc>
              <a:spcBef>
                <a:spcPts val="0"/>
              </a:spcBef>
              <a:spcAft>
                <a:spcPts val="0"/>
              </a:spcAft>
            </a:pPr>
            <a:r>
              <a:rPr lang="fr-FR" sz="1200" b="0">
                <a:solidFill>
                  <a:srgbClr val="203A32"/>
                </a:solidFill>
                <a:latin typeface="Segoe UI"/>
                <a:ea typeface="Segoe UI"/>
                <a:cs typeface="Tahoma"/>
              </a:rPr>
              <a:t xml:space="preserve">06 · Ablations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Retirer les indices ne garantit pas de meilleurs résultats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La suppression des URL et mentions ne suffit pas à améliorer les résultats. La généralisation sans égyptien reste limitée comme preuve, car le préentraînement peut déjà contenir le dialecte. Une ablation contrôlée teste une hypothèse précise, sans garantir une invariance générale.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Sources :</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results/report_data/cell_092_table_1.csv</a:t>
            </a:r>
            <a:endParaRPr lang="fr-FR" sz="1200"/>
          </a:p>
        </p:txBody>
      </p:sp>
    </p:spTree>
  </p:cSld>
  <p:clrMapOvr>
    <a:masterClrMapping/>
  </p:clrMapOvr>
</p:notes>
</file>

<file path=ppt/notesSlides/notesSlide2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cNvSpPr/>
          <p:nvPr>
            <p:ph type="body" idx="1"/>
          </p:nvPr>
        </p:nvSpPr>
        <p:spPr/>
        <p:txBody>
          <a:bodyPr/>
          <a:lstStyle/>
          <a:p>
            <a:pPr algn="l">
              <a:lnSpc>
                <a:spcPts val="1500"/>
              </a:lnSpc>
              <a:spcBef>
                <a:spcPts val="0"/>
              </a:spcBef>
              <a:spcAft>
                <a:spcPts val="0"/>
              </a:spcAft>
            </a:pPr>
            <a:r>
              <a:rPr lang="fr-FR" sz="1200" b="0">
                <a:solidFill>
                  <a:srgbClr val="203A32"/>
                </a:solidFill>
                <a:latin typeface="Segoe UI"/>
                <a:ea typeface="Segoe UI"/>
                <a:cs typeface="Tahoma"/>
              </a:rPr>
              <a:t xml:space="preserve">06 · Dialectes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Les dialectes rares limitent les conclusions de déploiement</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Le nombre de tweets maghrébins est insuffisant pour conclure sur la darija. Deux exemples test négatifs ne renseignent pas la détection des sarcasmes en darija. Les performances en égyptien ne se transfèrent pas automatiquement au marocain ou à l’Arabizi.</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Sources :</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results/compte_rendu.md, Q1 et Q11</a:t>
            </a:r>
            <a:endParaRPr lang="fr-FR" sz="1200"/>
          </a:p>
        </p:txBody>
      </p:sp>
    </p:spTree>
  </p:cSld>
  <p:clrMapOvr>
    <a:masterClrMapping/>
  </p:clrMapOvr>
</p:notes>
</file>

<file path=ppt/notesSlides/notesSlide2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cNvSpPr/>
          <p:nvPr>
            <p:ph type="body" idx="1"/>
          </p:nvPr>
        </p:nvSpPr>
        <p:spPr/>
        <p:txBody>
          <a:bodyPr/>
          <a:lstStyle/>
          <a:p>
            <a:pPr algn="l">
              <a:lnSpc>
                <a:spcPts val="1500"/>
              </a:lnSpc>
              <a:spcBef>
                <a:spcPts val="0"/>
              </a:spcBef>
              <a:spcAft>
                <a:spcPts val="0"/>
              </a:spcAft>
            </a:pPr>
            <a:r>
              <a:rPr lang="fr-FR" sz="1200" b="0">
                <a:solidFill>
                  <a:srgbClr val="203A32"/>
                </a:solidFill>
                <a:latin typeface="Segoe UI"/>
                <a:ea typeface="Segoe UI"/>
                <a:cs typeface="Tahoma"/>
              </a:rPr>
              <a:t xml:space="preserve">06 · Incertitude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Les intervalles et les désaccords nuancent le classement</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Le bootstrap rééchantillonne les tweets du test pour chaque modèle et graine. L’écart-type entre graines répond à une autre question. McNemar compare les désaccords de classification appariés et ne teste pas directement une différence de F1. Ne pas confondre absence de différence détectée et équivalence.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Sources :</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results/report_data/cell_093_table_1.csv ; cell_095_table_1.csv</a:t>
            </a:r>
            <a:endParaRPr lang="fr-FR" sz="1200"/>
          </a:p>
        </p:txBody>
      </p:sp>
    </p:spTree>
  </p:cSld>
  <p:clrMapOvr>
    <a:masterClrMapping/>
  </p:clrMapOvr>
</p:notes>
</file>

<file path=ppt/notesSlides/notesSlide2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cNvSpPr/>
          <p:nvPr>
            <p:ph type="body" idx="1"/>
          </p:nvPr>
        </p:nvSpPr>
        <p:spPr/>
        <p:txBody>
          <a:bodyPr/>
          <a:lstStyle/>
          <a:p>
            <a:pPr algn="l">
              <a:lnSpc>
                <a:spcPts val="1500"/>
              </a:lnSpc>
              <a:spcBef>
                <a:spcPts val="0"/>
              </a:spcBef>
              <a:spcAft>
                <a:spcPts val="0"/>
              </a:spcAft>
            </a:pPr>
            <a:r>
              <a:rPr lang="fr-FR" sz="1200" b="0">
                <a:solidFill>
                  <a:srgbClr val="203A32"/>
                </a:solidFill>
                <a:latin typeface="Segoe UI"/>
                <a:ea typeface="Segoe UI"/>
                <a:cs typeface="Tahoma"/>
              </a:rPr>
              <a:t xml:space="preserve">06 · Interprétation</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L’attention indique des poids, sans prouver la compréhension</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L’attention indique des poids, sans prouver la compréhension</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Cinq tweets de validation</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La tête D2 pondère les représentations des tokens. Des mots de contenu et de la ponctuation reçoivent de l’attention.</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Un poids élevé n’est pas une explication causale de la décision.</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Lecture qualitative à rapprocher du texte arabe, de la prédiction et des erreurs. Aucun score supplémentaire ne résulte de cette figure.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Sources :</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results/report_data/cell_067_image_5.png ; notebook de présentation, attention D2</a:t>
            </a:r>
            <a:endParaRPr lang="fr-FR" sz="1200"/>
          </a:p>
        </p:txBody>
      </p:sp>
    </p:spTree>
  </p:cSld>
  <p:clrMapOvr>
    <a:masterClrMapping/>
  </p:clrMapOvr>
</p:notes>
</file>

<file path=ppt/notesSlides/notesSlide2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cNvSpPr/>
          <p:nvPr>
            <p:ph type="body" idx="1"/>
          </p:nvPr>
        </p:nvSpPr>
        <p:spPr/>
        <p:txBody>
          <a:bodyPr/>
          <a:lstStyle/>
          <a:p>
            <a:pPr algn="l">
              <a:lnSpc>
                <a:spcPts val="1500"/>
              </a:lnSpc>
              <a:spcBef>
                <a:spcPts val="0"/>
              </a:spcBef>
              <a:spcAft>
                <a:spcPts val="0"/>
              </a:spcAft>
            </a:pPr>
            <a:r>
              <a:rPr lang="fr-FR" sz="1200" b="0">
                <a:solidFill>
                  <a:srgbClr val="203A32"/>
                </a:solidFill>
                <a:latin typeface="Segoe UI"/>
                <a:ea typeface="Segoe UI"/>
                <a:cs typeface="Tahoma"/>
              </a:rPr>
              <a:t xml:space="preserve">06 · Limites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L’analyse des erreurs demande encore une relecture humaine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L’analyse des erreurs demande encore une relecture humaine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15 + 15</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Faux négatifs et faux positifs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Échantillon d’erreurs à analyser dans leur contexte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19 / 30</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Contexte ou ironie implicite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Catégorie proposée automatiquement, encore provisoire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6 + 5</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Dialecte / marqueur</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6 cas dialecte–contexte et 5 marqueurs potentiellement mal interprétés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Ces catégories ne sont pas une annotation humaine finalisée. Aucun taux global de bruit ne peut en être déduit.</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Sources :</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results/report_data/cell_097_table_1.csv ; cell_097_table_2.csv</a:t>
            </a:r>
            <a:endParaRPr lang="fr-FR" sz="1200"/>
          </a:p>
        </p:txBody>
      </p:sp>
    </p:spTree>
  </p:cSld>
  <p:clrMapOvr>
    <a:masterClrMapping/>
  </p:clrMapOvr>
</p:notes>
</file>

<file path=ppt/notesSlides/notesSlide2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cNvSpPr/>
          <p:nvPr>
            <p:ph type="body" idx="1"/>
          </p:nvPr>
        </p:nvSpPr>
        <p:spPr/>
        <p:txBody>
          <a:bodyPr/>
          <a:lstStyle/>
          <a:p>
            <a:pPr algn="l">
              <a:lnSpc>
                <a:spcPts val="1500"/>
              </a:lnSpc>
              <a:spcBef>
                <a:spcPts val="0"/>
              </a:spcBef>
              <a:spcAft>
                <a:spcPts val="0"/>
              </a:spcAft>
            </a:pPr>
            <a:r>
              <a:rPr lang="fr-FR" sz="1200" b="0">
                <a:solidFill>
                  <a:srgbClr val="203A32"/>
                </a:solidFill>
                <a:latin typeface="Segoe UI"/>
                <a:ea typeface="Segoe UI"/>
                <a:cs typeface="Tahoma"/>
              </a:rPr>
              <a:t xml:space="preserve">07 · Démonstration qualitative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Les phrases réelles exposent une limite visible du modèle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Les deux exemples ironiques sont manqués. La capture constitue une transcription qualitative, pas une expérience indépendante donnant une accuracy généralisable. Ne pas abaisser le seuil pour réussir ces seuls exemples.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Sources :</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results/report_data/phrases_capture.csv</a:t>
            </a:r>
            <a:endParaRPr lang="fr-FR" sz="1200"/>
          </a:p>
        </p:txBody>
      </p:sp>
    </p:spTree>
  </p:cSld>
  <p:clrMapOvr>
    <a:masterClrMapping/>
  </p:clrMapOvr>
</p:notes>
</file>

<file path=ppt/notesSlides/notesSlide3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cNvSpPr/>
          <p:nvPr>
            <p:ph type="body" idx="1"/>
          </p:nvPr>
        </p:nvSpPr>
        <p:spPr/>
        <p:txBody>
          <a:bodyPr/>
          <a:lstStyle/>
          <a:p>
            <a:pPr algn="l">
              <a:lnSpc>
                <a:spcPts val="1500"/>
              </a:lnSpc>
              <a:spcBef>
                <a:spcPts val="0"/>
              </a:spcBef>
              <a:spcAft>
                <a:spcPts val="0"/>
              </a:spcAft>
            </a:pPr>
            <a:r>
              <a:rPr lang="fr-FR" sz="1200" b="0">
                <a:solidFill>
                  <a:srgbClr val="203A32"/>
                </a:solidFill>
                <a:latin typeface="Segoe UI"/>
                <a:ea typeface="Segoe UI"/>
                <a:cs typeface="Tahoma"/>
              </a:rPr>
              <a:t xml:space="preserve">07 · Réalisation</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Les difficultés techniques ont des solutions identifiées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Les difficultés techniques ont des solutions identifiées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Problème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Solution dans le projet</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Dépendances absentes sur Colab</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Installation dans le Python du noyau, puis redémarrage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Disque Windows invisible depuis Colab</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Chemins du projet distant et ressources vérifiées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Chargements et tokenisations répétés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Caches, padding dynamique et réemploi des ressources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Avertissement bert.pooler</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CLS brut utilisé, pooler hors de la tête de décision</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Graphiques historiques vides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Affichage conditionnel des données, exclusion des axes vides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CPU local, RAM 16 Go</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Inférences séquentielles et chargement différé</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Sources :</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notebook de présentation ; src/predict.py ; src/reprise_t4.py</a:t>
            </a:r>
            <a:endParaRPr lang="fr-FR" sz="1200"/>
          </a:p>
        </p:txBody>
      </p:sp>
    </p:spTree>
  </p:cSld>
  <p:clrMapOvr>
    <a:masterClrMapping/>
  </p:clrMapOvr>
</p:notes>
</file>

<file path=ppt/notesSlides/notesSlide3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cNvSpPr/>
          <p:nvPr>
            <p:ph type="body" idx="1"/>
          </p:nvPr>
        </p:nvSpPr>
        <p:spPr/>
        <p:txBody>
          <a:bodyPr/>
          <a:lstStyle/>
          <a:p>
            <a:pPr algn="l">
              <a:lnSpc>
                <a:spcPts val="1500"/>
              </a:lnSpc>
              <a:spcBef>
                <a:spcPts val="0"/>
              </a:spcBef>
              <a:spcAft>
                <a:spcPts val="0"/>
              </a:spcAft>
            </a:pPr>
            <a:r>
              <a:rPr lang="fr-FR" sz="1200" b="0">
                <a:solidFill>
                  <a:srgbClr val="203A32"/>
                </a:solidFill>
                <a:latin typeface="Segoe UI"/>
                <a:ea typeface="Segoe UI"/>
                <a:cs typeface="Tahoma"/>
              </a:rPr>
              <a:t xml:space="preserve">07 · Application web</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LMA3NA rassemble les résultats et leurs sources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LMA3NA rassemble les résultats et leurs sources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Un espace de restitution</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50 tableaux enregistrés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19 figures exploitables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17 évaluations T4</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Modèles et techniques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Provenance et limites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Application locale. Les métriques T4 historiques et la validation CPU locale restent séparées.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Sources :</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webapp/README.md ; output/webapp/LMA3NA.jpg</a:t>
            </a:r>
            <a:endParaRPr lang="fr-FR" sz="1200"/>
          </a:p>
        </p:txBody>
      </p:sp>
    </p:spTree>
  </p:cSld>
  <p:clrMapOvr>
    <a:masterClrMapping/>
  </p:clrMapOvr>
</p:notes>
</file>

<file path=ppt/notesSlides/notesSlide3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cNvSpPr/>
          <p:nvPr>
            <p:ph type="body" idx="1"/>
          </p:nvPr>
        </p:nvSpPr>
        <p:spPr/>
        <p:txBody>
          <a:bodyPr/>
          <a:lstStyle/>
          <a:p>
            <a:pPr algn="l">
              <a:lnSpc>
                <a:spcPts val="1500"/>
              </a:lnSpc>
              <a:spcBef>
                <a:spcPts val="0"/>
              </a:spcBef>
              <a:spcAft>
                <a:spcPts val="0"/>
              </a:spcAft>
            </a:pPr>
            <a:r>
              <a:rPr lang="fr-FR" sz="1200" b="0">
                <a:solidFill>
                  <a:srgbClr val="203A32"/>
                </a:solidFill>
                <a:latin typeface="Segoe UI"/>
                <a:ea typeface="Segoe UI"/>
                <a:cs typeface="Tahoma"/>
              </a:rPr>
              <a:t xml:space="preserve">07 · Inférence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La saisie compare les checkpoints disponibles localement</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La vérification locale enregistrée a répondu en environ 49,9 secondes, chargements inclus, sans erreur de modèle. Ce délai ne remplace pas les latences expérimentales batch 1 du tableau G. Les scores affichés ne sont pas des probabilités calibrées de justesse.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Sources :</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output/webapp/inference_verification.json ; webapp/README.md</a:t>
            </a:r>
            <a:endParaRPr lang="fr-FR" sz="1200"/>
          </a:p>
        </p:txBody>
      </p:sp>
    </p:spTree>
  </p:cSld>
  <p:clrMapOvr>
    <a:masterClrMapping/>
  </p:clrMapOvr>
</p:notes>
</file>

<file path=ppt/notesSlides/notesSlide3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cNvSpPr/>
          <p:nvPr>
            <p:ph type="body" idx="1"/>
          </p:nvPr>
        </p:nvSpPr>
        <p:spPr/>
        <p:txBody>
          <a:bodyPr/>
          <a:lstStyle/>
          <a:p>
            <a:pPr algn="l">
              <a:lnSpc>
                <a:spcPts val="1500"/>
              </a:lnSpc>
              <a:spcBef>
                <a:spcPts val="0"/>
              </a:spcBef>
              <a:spcAft>
                <a:spcPts val="0"/>
              </a:spcAft>
            </a:pPr>
            <a:r>
              <a:rPr lang="fr-FR" sz="1200" b="0">
                <a:solidFill>
                  <a:srgbClr val="203A32"/>
                </a:solidFill>
                <a:latin typeface="Segoe UI"/>
                <a:ea typeface="Segoe UI"/>
                <a:cs typeface="Tahoma"/>
              </a:rPr>
              <a:t xml:space="preserve">08 · Extension ajoutée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R-Drop ajoute une contrainte de cohérence entre deux passages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R-Drop ajoute une contrainte de cohérence entre deux passages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Même tweet</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Aucune donnée supplémentaire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Deux passages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Dropout différent à chaque fois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Deux distributions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p₁ et p₂ sur le sarcasme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Perte = CE moyenne + λ × CE sentiment moyenne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α × KL symétrique des prédictions de sarcasme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Pendant l’entraînement seulement. À l’inférence : un passage en mode eval(). Gain encore à mesurer sur ce projet.</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Sources :</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src/ameliorations.py, loss_parts ; Liang et al. 2021</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https://proceedings.neurips.cc/paper_files/paper/2021/hash/5a66b9200f29ac3fa0ae244cc2a51b39-Abstract.html</a:t>
            </a:r>
            <a:endParaRPr lang="fr-FR" sz="1200"/>
          </a:p>
        </p:txBody>
      </p:sp>
    </p:spTree>
  </p:cSld>
  <p:clrMapOvr>
    <a:masterClrMapping/>
  </p:clrMapOvr>
</p:notes>
</file>

<file path=ppt/notesSlides/notesSlide3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cNvSpPr/>
          <p:nvPr>
            <p:ph type="body" idx="1"/>
          </p:nvPr>
        </p:nvSpPr>
        <p:spPr/>
        <p:txBody>
          <a:bodyPr/>
          <a:lstStyle/>
          <a:p>
            <a:pPr algn="l">
              <a:lnSpc>
                <a:spcPts val="1500"/>
              </a:lnSpc>
              <a:spcBef>
                <a:spcPts val="0"/>
              </a:spcBef>
              <a:spcAft>
                <a:spcPts val="0"/>
              </a:spcAft>
            </a:pPr>
            <a:r>
              <a:rPr lang="fr-FR" sz="1200" b="0">
                <a:solidFill>
                  <a:srgbClr val="203A32"/>
                </a:solidFill>
                <a:latin typeface="Segoe UI"/>
                <a:ea typeface="Segoe UI"/>
                <a:cs typeface="Tahoma"/>
              </a:rPr>
              <a:t xml:space="preserve">08 · Expérience à exécuter</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L’extension R-Drop dispose d’un protocole sans résultat annoncé</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L’extension R-Drop dispose d’un protocole sans résultat annoncé</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Comparaison appariée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E2 AraBERT, λ 0,3</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Référence : α = 0</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R-Drop : α = 1</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Graines 42, 43, 44</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Réglages identiques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Même train et validation</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LR 2e−5, longueur 64</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Batch effectif 32</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3 époques max., patience 2</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État vérifié</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3 cellules ajoutées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Exécution désactivée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Aucun run local terminé</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Aucun gain revendiqué</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Six runs au total. Sélection sur validation. Les résultats seront séparés des expériences historiques A–G.</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Sources :</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notebooks/TP2_Sarcasme_Arabe_Presentation.ipynb, H.1–H.3</a:t>
            </a:r>
            <a:endParaRPr lang="fr-FR" sz="1200"/>
          </a:p>
        </p:txBody>
      </p:sp>
    </p:spTree>
  </p:cSld>
  <p:clrMapOvr>
    <a:masterClrMapping/>
  </p:clrMapOvr>
</p:notes>
</file>

<file path=ppt/notesSlides/notesSlide3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cNvSpPr/>
          <p:nvPr>
            <p:ph type="body" idx="1"/>
          </p:nvPr>
        </p:nvSpPr>
        <p:spPr/>
        <p:txBody>
          <a:bodyPr/>
          <a:lstStyle/>
          <a:p>
            <a:pPr algn="l">
              <a:lnSpc>
                <a:spcPts val="1500"/>
              </a:lnSpc>
              <a:spcBef>
                <a:spcPts val="0"/>
              </a:spcBef>
              <a:spcAft>
                <a:spcPts val="0"/>
              </a:spcAft>
            </a:pPr>
            <a:r>
              <a:rPr lang="fr-FR" sz="1200" b="0">
                <a:solidFill>
                  <a:srgbClr val="203A32"/>
                </a:solidFill>
                <a:latin typeface="Segoe UI"/>
                <a:ea typeface="Segoe UI"/>
                <a:cs typeface="Tahoma"/>
              </a:rPr>
              <a:t xml:space="preserve">08 · Plan de progrès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Les prochaines étapes privilégient des comparaisons contrôlées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Les prochaines étapes privilégient des comparaisons contrôlées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Priorité</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Action</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Critère de décision</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1</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Revalider checkpoint, prétraitement et seuil</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Même chaîne en évaluation et en saisie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2</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Exécuter référence / R-Drop</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Écarts appariés sur trois graines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3</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Comparer LR, longueur et prétraitement</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Gain validation et coût mesuré</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4</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Étudier ensemble ou TAPT sur train</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Extension isolée, sans labels test</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5</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Finaliser les preuves et l’analyse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Exports test et relecture des erreurs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Pas de modification des réglages pour réussir quelques phrases de démonstration. Aucune amélioration n’est garantie avant mesure.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Sources :</a:t>
            </a:r>
            <a:endParaRPr lang="fr-FR" sz="1200"/>
          </a:p>
        </p:txBody>
      </p:sp>
    </p:spTree>
  </p:cSld>
  <p:clrMapOvr>
    <a:masterClrMapping/>
  </p:clrMapOvr>
</p:notes>
</file>

<file path=ppt/notesSlides/notesSlide3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cNvSpPr/>
          <p:nvPr>
            <p:ph type="body" idx="1"/>
          </p:nvPr>
        </p:nvSpPr>
        <p:spPr/>
        <p:txBody>
          <a:bodyPr/>
          <a:lstStyle/>
          <a:p>
            <a:pPr algn="l">
              <a:lnSpc>
                <a:spcPts val="1500"/>
              </a:lnSpc>
              <a:spcBef>
                <a:spcPts val="0"/>
              </a:spcBef>
              <a:spcAft>
                <a:spcPts val="0"/>
              </a:spcAft>
            </a:pPr>
            <a:r>
              <a:rPr lang="fr-FR" sz="1200" b="0">
                <a:solidFill>
                  <a:srgbClr val="203A32"/>
                </a:solidFill>
                <a:latin typeface="Segoe UI"/>
                <a:ea typeface="Segoe UI"/>
                <a:cs typeface="Tahoma"/>
              </a:rPr>
              <a:t xml:space="preserve">09 · Bilan</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La reproductibilité dépend aussi des artefacts conservés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La reproductibilité dépend aussi des artefacts conservés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Disponible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Code et notebooks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Tableaux T4 exportés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Figures historiques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Registre et checkpoints CPU</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À compléter</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17 CSV individuels test</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Poids T4 nécessaires au service</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Relecture des 30 erreurs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Résultats R-Drop exécutés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Séparations explicites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CPU / T4</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Validation / test</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Agrégats / prédictions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Exécuté / seulement ajouté</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Le dépôt public permet de consulter le projet : github.com/OmarElkhali/TP2-ArSarcasm-v2</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Sources :</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results/report_data/provenance.json ; webapp/README.md</a:t>
            </a:r>
            <a:endParaRPr lang="fr-FR" sz="1200"/>
          </a:p>
        </p:txBody>
      </p:sp>
    </p:spTree>
  </p:cSld>
  <p:clrMapOvr>
    <a:masterClrMapping/>
  </p:clrMapOvr>
</p:notes>
</file>

<file path=ppt/notesSlides/notesSlide3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cNvSpPr/>
          <p:nvPr>
            <p:ph type="body" idx="1"/>
          </p:nvPr>
        </p:nvSpPr>
        <p:spPr/>
        <p:txBody>
          <a:bodyPr/>
          <a:lstStyle/>
          <a:p>
            <a:pPr algn="l">
              <a:lnSpc>
                <a:spcPts val="1500"/>
              </a:lnSpc>
              <a:spcBef>
                <a:spcPts val="0"/>
              </a:spcBef>
              <a:spcAft>
                <a:spcPts val="0"/>
              </a:spcAft>
            </a:pPr>
            <a:r>
              <a:rPr lang="fr-FR" sz="1200" b="0">
                <a:solidFill>
                  <a:srgbClr val="203A32"/>
                </a:solidFill>
                <a:latin typeface="Segoe UI"/>
                <a:ea typeface="Segoe UI"/>
                <a:cs typeface="Tahoma"/>
              </a:rPr>
              <a:t xml:space="preserve">09 · Conclusion</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Un résultat de corpus ne suffit pas à valider l’usage réel</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Conclusion personnelle : les PLM améliorent le score par rapport à TF-IDF, mais E2 et E1 restent presque équivalents sur test. Les exemples manuels montrent une limite hors du corpus. L’application doit rester un laboratoire pédagogique, avec contrôle humain pour un usage réel.</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Sources :</a:t>
            </a:r>
            <a:endParaRPr lang="fr-FR" sz="1200"/>
          </a:p>
        </p:txBody>
      </p:sp>
    </p:spTree>
  </p:cSld>
  <p:clrMapOvr>
    <a:masterClrMapping/>
  </p:clrMapOvr>
</p:notes>
</file>

<file path=ppt/notesSlides/notesSlide3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cNvSpPr/>
          <p:nvPr>
            <p:ph type="body" idx="1"/>
          </p:nvPr>
        </p:nvSpPr>
        <p:spPr/>
        <p:txBody>
          <a:bodyPr/>
          <a:lstStyle/>
          <a:p>
            <a:pPr algn="l">
              <a:lnSpc>
                <a:spcPts val="1500"/>
              </a:lnSpc>
              <a:spcBef>
                <a:spcPts val="0"/>
              </a:spcBef>
              <a:spcAft>
                <a:spcPts val="0"/>
              </a:spcAft>
            </a:pPr>
            <a:r>
              <a:rPr lang="fr-FR" sz="1200" b="0">
                <a:solidFill>
                  <a:srgbClr val="203A32"/>
                </a:solidFill>
                <a:latin typeface="Segoe UI"/>
                <a:ea typeface="Segoe UI"/>
                <a:cs typeface="Tahoma"/>
              </a:rPr>
              <a:t xml:space="preserve">Annexe · Références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Sources scientifiques et preuves du projet</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Sources scientifiques et preuves du projet</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ArSarcasm-v2</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iabufarha/ArSarcasm-v2, jeu officiel et partitions</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AraBERT</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Antoun, Baly et Hajj, 2020</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ARBERT &amp; MARBERT</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Abdul-Mageed, Elmadany et Nagoudi, 2021</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R-Drop</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Liang et al., NeurIPS 2021</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Sources :</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https://github.com/iabufarha/ArSarcasm-v2</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https://aclanthology.org/2020.osact-1.2/</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https://aclanthology.org/2021.acl-long.551/</a:t>
            </a:r>
            <a:endParaRPr lang="fr-FR" sz="1200"/>
          </a:p>
          <a:p>
            <a:pPr algn="l">
              <a:lnSpc>
                <a:spcPts val="1500"/>
              </a:lnSpc>
              <a:spcBef>
                <a:spcPts val="0"/>
              </a:spcBef>
              <a:spcAft>
                <a:spcPts val="0"/>
              </a:spcAft>
            </a:pPr>
            <a:r>
              <a:rPr lang="fr-FR" sz="1200" b="0">
                <a:solidFill>
                  <a:srgbClr val="203A32"/>
                </a:solidFill>
                <a:latin typeface="Segoe UI"/>
                <a:ea typeface="Segoe UI"/>
                <a:cs typeface="Tahoma"/>
              </a:rPr>
              <a:t xml:space="preserve">https://proceedings.neurips.cc/paper_files/paper/2021/hash/5a66b9200f29ac3fa0ae244cc2a51b39-Abstract.html</a:t>
            </a:r>
            <a:endParaRPr lang="fr-FR" sz="1200"/>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1.pn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2.pn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3.png"/></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4.jpg"/></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5.jpg"/></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72E2B"/>
        </a:solidFill>
        <a:effectLst/>
      </p:bgPr>
    </p:bg>
    <p:spTree>
      <p:nvGrpSpPr>
        <p:cNvPr id="1" name=""/>
        <p:cNvGrpSpPr/>
        <p:nvPr/>
      </p:nvGrpSpPr>
      <p:grpSpPr>
        <a:xfrm>
          <a:off x="0" y="0"/>
          <a:ext cx="0" cy="0"/>
          <a:chOff x="0" y="0"/>
          <a:chExt cx="0" cy="0"/>
        </a:xfrm>
      </p:grpSpPr>
      <p:sp>
        <p:nvSpPr>
          <p:cNvPr id="2" name="text-2"/>
          <p:cNvSpPr txBox="1"/>
          <p:nvPr/>
        </p:nvSpPr>
        <p:spPr>
          <a:xfrm>
            <a:off x="647700" y="619125"/>
            <a:ext cx="9525000" cy="857250"/>
          </a:xfrm>
          <a:prstGeom prst="rect">
            <a:avLst/>
          </a:prstGeom>
          <a:noFill/>
          <a:ln>
            <a:noFill/>
          </a:ln>
        </p:spPr>
        <p:txBody>
          <a:bodyPr wrap="none" lIns="0" tIns="0" rIns="0" bIns="0" anchor="t"/>
          <a:lstStyle/>
          <a:p>
            <a:pPr algn="l">
              <a:lnSpc>
                <a:spcPts val="6188"/>
              </a:lnSpc>
              <a:spcBef>
                <a:spcPts val="0"/>
              </a:spcBef>
              <a:spcAft>
                <a:spcPts val="0"/>
              </a:spcAft>
            </a:pPr>
            <a:r>
              <a:rPr lang="fr-FR" sz="4950" b="1">
                <a:solidFill>
                  <a:srgbClr val="FFFFFF"/>
                </a:solidFill>
                <a:latin typeface="Segoe UI"/>
                <a:ea typeface="Segoe UI"/>
                <a:cs typeface="Tahoma"/>
              </a:rPr>
              <a:t xml:space="preserve">LMA3NA</a:t>
            </a:r>
            <a:endParaRPr lang="fr-FR" sz="4950"/>
          </a:p>
        </p:txBody>
      </p:sp>
      <p:sp>
        <p:nvSpPr>
          <p:cNvPr id="3" name="text-3"/>
          <p:cNvSpPr txBox="1"/>
          <p:nvPr/>
        </p:nvSpPr>
        <p:spPr>
          <a:xfrm>
            <a:off x="647700" y="1876425"/>
            <a:ext cx="7239000" cy="1666875"/>
          </a:xfrm>
          <a:prstGeom prst="rect">
            <a:avLst/>
          </a:prstGeom>
          <a:noFill/>
          <a:ln>
            <a:noFill/>
          </a:ln>
        </p:spPr>
        <p:txBody>
          <a:bodyPr wrap="none" lIns="0" tIns="0" rIns="0" bIns="0" anchor="t"/>
          <a:lstStyle/>
          <a:p>
            <a:pPr algn="l">
              <a:lnSpc>
                <a:spcPts val="4875"/>
              </a:lnSpc>
              <a:spcBef>
                <a:spcPts val="0"/>
              </a:spcBef>
              <a:spcAft>
                <a:spcPts val="0"/>
              </a:spcAft>
            </a:pPr>
            <a:r>
              <a:rPr lang="fr-FR" sz="3900" b="1">
                <a:solidFill>
                  <a:srgbClr val="FFFFFF"/>
                </a:solidFill>
                <a:latin typeface="Segoe UI"/>
                <a:ea typeface="Segoe UI"/>
                <a:cs typeface="Tahoma"/>
              </a:rPr>
              <a:t xml:space="preserve">Détection du sarcasme</a:t>
            </a:r>
            <a:endParaRPr lang="fr-FR" sz="3900"/>
          </a:p>
          <a:p>
            <a:pPr algn="l">
              <a:lnSpc>
                <a:spcPts val="4875"/>
              </a:lnSpc>
              <a:spcBef>
                <a:spcPts val="0"/>
              </a:spcBef>
              <a:spcAft>
                <a:spcPts val="0"/>
              </a:spcAft>
            </a:pPr>
            <a:r>
              <a:rPr lang="fr-FR" sz="3900" b="1">
                <a:solidFill>
                  <a:srgbClr val="FFFFFF"/>
                </a:solidFill>
                <a:latin typeface="Segoe UI"/>
                <a:ea typeface="Segoe UI"/>
                <a:cs typeface="Tahoma"/>
              </a:rPr>
              <a:t xml:space="preserve">dans les tweets arabes</a:t>
            </a:r>
            <a:endParaRPr lang="fr-FR" sz="3900"/>
          </a:p>
        </p:txBody>
      </p:sp>
      <p:sp>
        <p:nvSpPr>
          <p:cNvPr id="4" name="text-4"/>
          <p:cNvSpPr txBox="1"/>
          <p:nvPr/>
        </p:nvSpPr>
        <p:spPr>
          <a:xfrm>
            <a:off x="666750" y="3810000"/>
            <a:ext cx="8096250" cy="619125"/>
          </a:xfrm>
          <a:prstGeom prst="rect">
            <a:avLst/>
          </a:prstGeom>
          <a:noFill/>
          <a:ln>
            <a:noFill/>
          </a:ln>
        </p:spPr>
        <p:txBody>
          <a:bodyPr wrap="none" lIns="0" tIns="0" rIns="0" bIns="0" anchor="t"/>
          <a:lstStyle/>
          <a:p>
            <a:pPr algn="l">
              <a:lnSpc>
                <a:spcPts val="2531"/>
              </a:lnSpc>
              <a:spcBef>
                <a:spcPts val="0"/>
              </a:spcBef>
              <a:spcAft>
                <a:spcPts val="0"/>
              </a:spcAft>
            </a:pPr>
            <a:r>
              <a:rPr lang="fr-FR" sz="2025" b="0">
                <a:solidFill>
                  <a:srgbClr val="BCCEBE"/>
                </a:solidFill>
                <a:latin typeface="Segoe UI"/>
                <a:ea typeface="Segoe UI"/>
                <a:cs typeface="Tahoma"/>
              </a:rPr>
              <a:t xml:space="preserve">Données, architectures, résultats et limites</a:t>
            </a:r>
            <a:endParaRPr lang="fr-FR" sz="2025"/>
          </a:p>
        </p:txBody>
      </p:sp>
      <p:pic>
        <p:nvPicPr>
          <p:cNvPr id="5" name="image-5"/>
          <p:cNvPicPr>
            <a:picLocks noChangeAspect="1"/>
          </p:cNvPicPr>
          <p:nvPr/>
        </p:nvPicPr>
        <p:blipFill>
          <a:blip r:embed="rId3"/>
          <a:stretch>
            <a:fillRect/>
          </a:stretch>
        </p:blipFill>
        <p:spPr>
          <a:xfrm>
            <a:off x="7905750" y="1787037"/>
            <a:ext cx="3476625" cy="1283677"/>
          </a:xfrm>
          <a:prstGeom prst="rect">
            <a:avLst/>
          </a:prstGeom>
        </p:spPr>
      </p:pic>
      <p:cxnSp>
        <p:nvCxnSpPr>
          <p:cNvPr id="6" name="line-6"/>
          <p:cNvCxnSpPr/>
          <p:nvPr/>
        </p:nvCxnSpPr>
        <p:spPr>
          <a:xfrm>
            <a:off x="666750" y="4905375"/>
            <a:ext cx="10858500" cy="0"/>
          </a:xfrm>
          <a:prstGeom prst="line">
            <a:avLst/>
          </a:prstGeom>
          <a:ln w="9525">
            <a:solidFill>
              <a:srgbClr val="5B7568"/>
            </a:solidFill>
          </a:ln>
        </p:spPr>
      </p:cxnSp>
      <p:sp>
        <p:nvSpPr>
          <p:cNvPr id="7" name="text-7"/>
          <p:cNvSpPr txBox="1"/>
          <p:nvPr/>
        </p:nvSpPr>
        <p:spPr>
          <a:xfrm>
            <a:off x="666750" y="5286375"/>
            <a:ext cx="7143750" cy="857250"/>
          </a:xfrm>
          <a:prstGeom prst="rect">
            <a:avLst/>
          </a:prstGeom>
          <a:noFill/>
          <a:ln>
            <a:noFill/>
          </a:ln>
        </p:spPr>
        <p:txBody>
          <a:bodyPr wrap="none" lIns="0" tIns="0" rIns="0" bIns="0" anchor="t"/>
          <a:lstStyle/>
          <a:p>
            <a:pPr algn="l">
              <a:lnSpc>
                <a:spcPts val="2344"/>
              </a:lnSpc>
              <a:spcBef>
                <a:spcPts val="0"/>
              </a:spcBef>
              <a:spcAft>
                <a:spcPts val="0"/>
              </a:spcAft>
            </a:pPr>
            <a:r>
              <a:rPr lang="fr-FR" sz="1875" b="0">
                <a:solidFill>
                  <a:srgbClr val="FFFFFF"/>
                </a:solidFill>
                <a:latin typeface="Segoe UI"/>
                <a:ea typeface="Segoe UI"/>
                <a:cs typeface="Tahoma"/>
              </a:rPr>
              <a:t xml:space="preserve">Omar Elkhali</a:t>
            </a:r>
            <a:endParaRPr lang="fr-FR" sz="1875"/>
          </a:p>
          <a:p>
            <a:pPr algn="l">
              <a:lnSpc>
                <a:spcPts val="2344"/>
              </a:lnSpc>
              <a:spcBef>
                <a:spcPts val="0"/>
              </a:spcBef>
              <a:spcAft>
                <a:spcPts val="0"/>
              </a:spcAft>
            </a:pPr>
            <a:r>
              <a:rPr lang="fr-FR" sz="1875" b="0">
                <a:solidFill>
                  <a:srgbClr val="FFFFFF"/>
                </a:solidFill>
                <a:latin typeface="Segoe UI"/>
                <a:ea typeface="Segoe UI"/>
                <a:cs typeface="Tahoma"/>
              </a:rPr>
              <a:t xml:space="preserve">BDIOT · Travail individuel</a:t>
            </a:r>
            <a:endParaRPr lang="fr-FR" sz="1875"/>
          </a:p>
        </p:txBody>
      </p:sp>
      <p:sp>
        <p:nvSpPr>
          <p:cNvPr id="8" name="text-8"/>
          <p:cNvSpPr txBox="1"/>
          <p:nvPr/>
        </p:nvSpPr>
        <p:spPr>
          <a:xfrm>
            <a:off x="8953500" y="5286375"/>
            <a:ext cx="2619375" cy="857250"/>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BCCEBE"/>
                </a:solidFill>
                <a:latin typeface="Segoe UI"/>
                <a:ea typeface="Segoe UI"/>
                <a:cs typeface="Tahoma"/>
              </a:rPr>
              <a:t xml:space="preserve">TP2 · ArSarcasm-v2</a:t>
            </a:r>
            <a:endParaRPr lang="fr-FR" sz="1725"/>
          </a:p>
          <a:p>
            <a:pPr algn="l">
              <a:lnSpc>
                <a:spcPts val="2156"/>
              </a:lnSpc>
              <a:spcBef>
                <a:spcPts val="0"/>
              </a:spcBef>
              <a:spcAft>
                <a:spcPts val="0"/>
              </a:spcAft>
            </a:pPr>
            <a:r>
              <a:rPr lang="fr-FR" sz="1725" b="0">
                <a:solidFill>
                  <a:srgbClr val="BCCEBE"/>
                </a:solidFill>
                <a:latin typeface="Segoe UI"/>
                <a:ea typeface="Segoe UI"/>
                <a:cs typeface="Tahoma"/>
              </a:rPr>
              <a:t xml:space="preserve">26 octobre 2026</a:t>
            </a:r>
            <a:endParaRPr lang="fr-FR" sz="1725"/>
          </a:p>
        </p:txBody>
      </p:sp>
      <p:cxnSp>
        <p:nvCxnSpPr>
          <p:cNvPr id="9" name="line-9"/>
          <p:cNvCxnSpPr/>
          <p:nvPr/>
        </p:nvCxnSpPr>
        <p:spPr>
          <a:xfrm>
            <a:off x="552450" y="6505575"/>
            <a:ext cx="11087100" cy="0"/>
          </a:xfrm>
          <a:prstGeom prst="line">
            <a:avLst/>
          </a:prstGeom>
          <a:ln w="9525">
            <a:solidFill>
              <a:srgbClr val="4A6658"/>
            </a:solidFill>
          </a:ln>
        </p:spPr>
      </p:cxnSp>
      <p:sp>
        <p:nvSpPr>
          <p:cNvPr id="10" name="text-10"/>
          <p:cNvSpPr txBox="1"/>
          <p:nvPr/>
        </p:nvSpPr>
        <p:spPr>
          <a:xfrm>
            <a:off x="552450" y="6572250"/>
            <a:ext cx="8572500" cy="219075"/>
          </a:xfrm>
          <a:prstGeom prst="rect">
            <a:avLst/>
          </a:prstGeom>
          <a:noFill/>
          <a:ln>
            <a:noFill/>
          </a:ln>
        </p:spPr>
        <p:txBody>
          <a:bodyPr wrap="none" lIns="0" tIns="0" rIns="0" bIns="0" anchor="t"/>
          <a:lstStyle/>
          <a:p>
            <a:pPr algn="l">
              <a:lnSpc>
                <a:spcPts val="1125"/>
              </a:lnSpc>
              <a:spcBef>
                <a:spcPts val="0"/>
              </a:spcBef>
              <a:spcAft>
                <a:spcPts val="0"/>
              </a:spcAft>
            </a:pPr>
            <a:r>
              <a:rPr lang="fr-FR" sz="900" b="0">
                <a:solidFill>
                  <a:srgbClr val="BCCEBE"/>
                </a:solidFill>
                <a:latin typeface="Segoe UI"/>
                <a:ea typeface="Segoe UI"/>
                <a:cs typeface="Tahoma"/>
              </a:rPr>
              <a:t xml:space="preserve">LMA3NA · Omar Elkhali · BDIOT</a:t>
            </a:r>
            <a:endParaRPr lang="fr-FR" sz="900"/>
          </a:p>
        </p:txBody>
      </p:sp>
      <p:sp>
        <p:nvSpPr>
          <p:cNvPr id="11" name="text-11"/>
          <p:cNvSpPr txBox="1"/>
          <p:nvPr/>
        </p:nvSpPr>
        <p:spPr>
          <a:xfrm>
            <a:off x="10763250" y="6572250"/>
            <a:ext cx="876300" cy="219075"/>
          </a:xfrm>
          <a:prstGeom prst="rect">
            <a:avLst/>
          </a:prstGeom>
          <a:noFill/>
          <a:ln>
            <a:noFill/>
          </a:ln>
        </p:spPr>
        <p:txBody>
          <a:bodyPr wrap="none" lIns="0" tIns="0" rIns="0" bIns="0" anchor="t"/>
          <a:lstStyle/>
          <a:p>
            <a:pPr algn="r">
              <a:lnSpc>
                <a:spcPts val="1125"/>
              </a:lnSpc>
              <a:spcBef>
                <a:spcPts val="0"/>
              </a:spcBef>
              <a:spcAft>
                <a:spcPts val="0"/>
              </a:spcAft>
            </a:pPr>
            <a:r>
              <a:rPr lang="fr-FR" sz="900" b="0">
                <a:solidFill>
                  <a:srgbClr val="BCCEBE"/>
                </a:solidFill>
                <a:latin typeface="Segoe UI"/>
                <a:ea typeface="Segoe UI"/>
                <a:cs typeface="Tahoma"/>
              </a:rPr>
              <a:t xml:space="preserve">01 / 38</a:t>
            </a:r>
            <a:endParaRPr lang="fr-FR" sz="9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5F4EE"/>
        </a:solidFill>
        <a:effectLst/>
      </p:bgPr>
    </p:bg>
    <p:spTree>
      <p:nvGrpSpPr>
        <p:cNvPr id="1" name=""/>
        <p:cNvGrpSpPr/>
        <p:nvPr/>
      </p:nvGrpSpPr>
      <p:grpSpPr>
        <a:xfrm>
          <a:off x="0" y="0"/>
          <a:ext cx="0" cy="0"/>
          <a:chOff x="0" y="0"/>
          <a:chExt cx="0" cy="0"/>
        </a:xfrm>
      </p:grpSpPr>
      <p:sp>
        <p:nvSpPr>
          <p:cNvPr id="2" name="rect-2"/>
          <p:cNvSpPr txBox="1"/>
          <p:nvPr/>
        </p:nvSpPr>
        <p:spPr>
          <a:xfrm>
            <a:off x="552450" y="361950"/>
            <a:ext cx="400050" cy="38100"/>
          </a:xfrm>
          <a:prstGeom prst="rect">
            <a:avLst/>
          </a:prstGeom>
          <a:solidFill>
            <a:srgbClr val="E6A477"/>
          </a:solidFill>
          <a:ln>
            <a:noFill/>
          </a:ln>
        </p:spPr>
      </p:sp>
      <p:sp>
        <p:nvSpPr>
          <p:cNvPr id="3" name="text-3"/>
          <p:cNvSpPr txBox="1"/>
          <p:nvPr/>
        </p:nvSpPr>
        <p:spPr>
          <a:xfrm>
            <a:off x="1066800" y="276225"/>
            <a:ext cx="10287000" cy="266700"/>
          </a:xfrm>
          <a:prstGeom prst="rect">
            <a:avLst/>
          </a:prstGeom>
          <a:noFill/>
          <a:ln>
            <a:noFill/>
          </a:ln>
        </p:spPr>
        <p:txBody>
          <a:bodyPr wrap="none" lIns="0" tIns="0" rIns="0" bIns="0" anchor="t"/>
          <a:lstStyle/>
          <a:p>
            <a:pPr algn="l">
              <a:lnSpc>
                <a:spcPts val="1406"/>
              </a:lnSpc>
              <a:spcBef>
                <a:spcPts val="0"/>
              </a:spcBef>
              <a:spcAft>
                <a:spcPts val="0"/>
              </a:spcAft>
            </a:pPr>
            <a:r>
              <a:rPr lang="fr-FR" sz="1125" b="1">
                <a:solidFill>
                  <a:srgbClr val="285D4B"/>
                </a:solidFill>
                <a:latin typeface="Segoe UI"/>
                <a:ea typeface="Segoe UI"/>
                <a:cs typeface="Tahoma"/>
              </a:rPr>
              <a:t xml:space="preserve">01 · PROBLÈME</a:t>
            </a:r>
            <a:endParaRPr lang="fr-FR" sz="1125"/>
          </a:p>
        </p:txBody>
      </p:sp>
      <p:sp>
        <p:nvSpPr>
          <p:cNvPr id="4" name="text-4"/>
          <p:cNvSpPr txBox="1"/>
          <p:nvPr/>
        </p:nvSpPr>
        <p:spPr>
          <a:xfrm>
            <a:off x="552450" y="790575"/>
            <a:ext cx="11087100" cy="1066800"/>
          </a:xfrm>
          <a:prstGeom prst="rect">
            <a:avLst/>
          </a:prstGeom>
          <a:noFill/>
          <a:ln>
            <a:noFill/>
          </a:ln>
        </p:spPr>
        <p:txBody>
          <a:bodyPr wrap="none" lIns="0" tIns="0" rIns="0" bIns="0" anchor="t"/>
          <a:lstStyle/>
          <a:p>
            <a:pPr algn="l">
              <a:lnSpc>
                <a:spcPts val="4031"/>
              </a:lnSpc>
              <a:spcBef>
                <a:spcPts val="0"/>
              </a:spcBef>
              <a:spcAft>
                <a:spcPts val="0"/>
              </a:spcAft>
            </a:pPr>
            <a:r>
              <a:rPr lang="fr-FR" sz="3225" b="1">
                <a:solidFill>
                  <a:srgbClr val="203A32"/>
                </a:solidFill>
                <a:latin typeface="Segoe UI"/>
                <a:ea typeface="Segoe UI"/>
                <a:cs typeface="Tahoma"/>
              </a:rPr>
              <a:t xml:space="preserve">Le contexte peut inverser le sens des mots</a:t>
            </a:r>
            <a:endParaRPr lang="fr-FR" sz="3225"/>
          </a:p>
        </p:txBody>
      </p:sp>
      <p:pic>
        <p:nvPicPr>
          <p:cNvPr id="5" name="image-5"/>
          <p:cNvPicPr>
            <a:picLocks noChangeAspect="1"/>
          </p:cNvPicPr>
          <p:nvPr/>
        </p:nvPicPr>
        <p:blipFill>
          <a:blip r:embed="rId3"/>
          <a:stretch>
            <a:fillRect/>
          </a:stretch>
        </p:blipFill>
        <p:spPr>
          <a:xfrm>
            <a:off x="1473200" y="1952625"/>
            <a:ext cx="9245600" cy="1238250"/>
          </a:xfrm>
          <a:prstGeom prst="rect">
            <a:avLst/>
          </a:prstGeom>
        </p:spPr>
      </p:pic>
      <p:sp>
        <p:nvSpPr>
          <p:cNvPr id="6" name="rect-6"/>
          <p:cNvSpPr txBox="1"/>
          <p:nvPr/>
        </p:nvSpPr>
        <p:spPr>
          <a:xfrm>
            <a:off x="552450" y="3476625"/>
            <a:ext cx="3543300" cy="1219200"/>
          </a:xfrm>
          <a:prstGeom prst="rect">
            <a:avLst/>
          </a:prstGeom>
          <a:solidFill>
            <a:srgbClr val="FFFFFF"/>
          </a:solidFill>
          <a:ln>
            <a:noFill/>
          </a:ln>
        </p:spPr>
      </p:sp>
      <p:sp>
        <p:nvSpPr>
          <p:cNvPr id="7" name="text-7"/>
          <p:cNvSpPr txBox="1"/>
          <p:nvPr/>
        </p:nvSpPr>
        <p:spPr>
          <a:xfrm>
            <a:off x="704850" y="3619500"/>
            <a:ext cx="3238500" cy="523875"/>
          </a:xfrm>
          <a:prstGeom prst="rect">
            <a:avLst/>
          </a:prstGeom>
          <a:noFill/>
          <a:ln>
            <a:noFill/>
          </a:ln>
        </p:spPr>
        <p:txBody>
          <a:bodyPr wrap="none" lIns="0" tIns="0" rIns="0" bIns="0" anchor="t"/>
          <a:lstStyle/>
          <a:p>
            <a:pPr algn="l">
              <a:lnSpc>
                <a:spcPts val="2250"/>
              </a:lnSpc>
              <a:spcBef>
                <a:spcPts val="0"/>
              </a:spcBef>
              <a:spcAft>
                <a:spcPts val="0"/>
              </a:spcAft>
            </a:pPr>
            <a:r>
              <a:rPr lang="fr-FR" sz="1800" b="1">
                <a:solidFill>
                  <a:srgbClr val="285D4B"/>
                </a:solidFill>
                <a:latin typeface="Segoe UI"/>
                <a:ea typeface="Segoe UI"/>
                <a:cs typeface="Tahoma"/>
              </a:rPr>
              <a:t xml:space="preserve">Situation</a:t>
            </a:r>
            <a:endParaRPr lang="fr-FR" sz="1800"/>
          </a:p>
        </p:txBody>
      </p:sp>
      <p:sp>
        <p:nvSpPr>
          <p:cNvPr id="8" name="text-8"/>
          <p:cNvSpPr txBox="1"/>
          <p:nvPr/>
        </p:nvSpPr>
        <p:spPr>
          <a:xfrm>
            <a:off x="704850" y="4143375"/>
            <a:ext cx="3238500" cy="533400"/>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64736B"/>
                </a:solidFill>
                <a:latin typeface="Segoe UI"/>
                <a:ea typeface="Segoe UI"/>
                <a:cs typeface="Tahoma"/>
              </a:rPr>
              <a:t xml:space="preserve">Une coupure Internet répétée</a:t>
            </a:r>
            <a:endParaRPr lang="fr-FR" sz="1350"/>
          </a:p>
        </p:txBody>
      </p:sp>
      <p:cxnSp>
        <p:nvCxnSpPr>
          <p:cNvPr id="9" name="line-9"/>
          <p:cNvCxnSpPr/>
          <p:nvPr/>
        </p:nvCxnSpPr>
        <p:spPr>
          <a:xfrm>
            <a:off x="4124325" y="4086225"/>
            <a:ext cx="161925" cy="0"/>
          </a:xfrm>
          <a:prstGeom prst="line">
            <a:avLst/>
          </a:prstGeom>
          <a:ln w="28575">
            <a:solidFill>
              <a:srgbClr val="E6A477"/>
            </a:solidFill>
          </a:ln>
        </p:spPr>
      </p:cxnSp>
      <p:sp>
        <p:nvSpPr>
          <p:cNvPr id="10" name="rect-10"/>
          <p:cNvSpPr txBox="1"/>
          <p:nvPr/>
        </p:nvSpPr>
        <p:spPr>
          <a:xfrm>
            <a:off x="4324350" y="3476625"/>
            <a:ext cx="3543300" cy="1219200"/>
          </a:xfrm>
          <a:prstGeom prst="rect">
            <a:avLst/>
          </a:prstGeom>
          <a:solidFill>
            <a:srgbClr val="FFFFFF"/>
          </a:solidFill>
          <a:ln>
            <a:noFill/>
          </a:ln>
        </p:spPr>
      </p:sp>
      <p:sp>
        <p:nvSpPr>
          <p:cNvPr id="11" name="text-11"/>
          <p:cNvSpPr txBox="1"/>
          <p:nvPr/>
        </p:nvSpPr>
        <p:spPr>
          <a:xfrm>
            <a:off x="4476750" y="3619500"/>
            <a:ext cx="3238500" cy="523875"/>
          </a:xfrm>
          <a:prstGeom prst="rect">
            <a:avLst/>
          </a:prstGeom>
          <a:noFill/>
          <a:ln>
            <a:noFill/>
          </a:ln>
        </p:spPr>
        <p:txBody>
          <a:bodyPr wrap="none" lIns="0" tIns="0" rIns="0" bIns="0" anchor="t"/>
          <a:lstStyle/>
          <a:p>
            <a:pPr algn="l">
              <a:lnSpc>
                <a:spcPts val="2250"/>
              </a:lnSpc>
              <a:spcBef>
                <a:spcPts val="0"/>
              </a:spcBef>
              <a:spcAft>
                <a:spcPts val="0"/>
              </a:spcAft>
            </a:pPr>
            <a:r>
              <a:rPr lang="fr-FR" sz="1800" b="1">
                <a:solidFill>
                  <a:srgbClr val="285D4B"/>
                </a:solidFill>
                <a:latin typeface="Segoe UI"/>
                <a:ea typeface="Segoe UI"/>
                <a:cs typeface="Tahoma"/>
              </a:rPr>
              <a:t xml:space="preserve">Formulation</a:t>
            </a:r>
            <a:endParaRPr lang="fr-FR" sz="1800"/>
          </a:p>
        </p:txBody>
      </p:sp>
      <p:sp>
        <p:nvSpPr>
          <p:cNvPr id="12" name="text-12"/>
          <p:cNvSpPr txBox="1"/>
          <p:nvPr/>
        </p:nvSpPr>
        <p:spPr>
          <a:xfrm>
            <a:off x="4476750" y="4143375"/>
            <a:ext cx="3238500" cy="533400"/>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64736B"/>
                </a:solidFill>
                <a:latin typeface="Segoe UI"/>
                <a:ea typeface="Segoe UI"/>
                <a:cs typeface="Tahoma"/>
              </a:rPr>
              <a:t xml:space="preserve">Une louange apparente</a:t>
            </a:r>
            <a:endParaRPr lang="fr-FR" sz="1350"/>
          </a:p>
        </p:txBody>
      </p:sp>
      <p:cxnSp>
        <p:nvCxnSpPr>
          <p:cNvPr id="13" name="line-13"/>
          <p:cNvCxnSpPr/>
          <p:nvPr/>
        </p:nvCxnSpPr>
        <p:spPr>
          <a:xfrm>
            <a:off x="7896225" y="4086225"/>
            <a:ext cx="161925" cy="0"/>
          </a:xfrm>
          <a:prstGeom prst="line">
            <a:avLst/>
          </a:prstGeom>
          <a:ln w="28575">
            <a:solidFill>
              <a:srgbClr val="E6A477"/>
            </a:solidFill>
          </a:ln>
        </p:spPr>
      </p:cxnSp>
      <p:sp>
        <p:nvSpPr>
          <p:cNvPr id="14" name="rect-14"/>
          <p:cNvSpPr txBox="1"/>
          <p:nvPr/>
        </p:nvSpPr>
        <p:spPr>
          <a:xfrm>
            <a:off x="8096250" y="3476625"/>
            <a:ext cx="3543300" cy="1219200"/>
          </a:xfrm>
          <a:prstGeom prst="rect">
            <a:avLst/>
          </a:prstGeom>
          <a:solidFill>
            <a:srgbClr val="FFFFFF"/>
          </a:solidFill>
          <a:ln>
            <a:noFill/>
          </a:ln>
        </p:spPr>
      </p:sp>
      <p:sp>
        <p:nvSpPr>
          <p:cNvPr id="15" name="text-15"/>
          <p:cNvSpPr txBox="1"/>
          <p:nvPr/>
        </p:nvSpPr>
        <p:spPr>
          <a:xfrm>
            <a:off x="8248650" y="3619500"/>
            <a:ext cx="3238500" cy="523875"/>
          </a:xfrm>
          <a:prstGeom prst="rect">
            <a:avLst/>
          </a:prstGeom>
          <a:noFill/>
          <a:ln>
            <a:noFill/>
          </a:ln>
        </p:spPr>
        <p:txBody>
          <a:bodyPr wrap="none" lIns="0" tIns="0" rIns="0" bIns="0" anchor="t"/>
          <a:lstStyle/>
          <a:p>
            <a:pPr algn="l">
              <a:lnSpc>
                <a:spcPts val="2250"/>
              </a:lnSpc>
              <a:spcBef>
                <a:spcPts val="0"/>
              </a:spcBef>
              <a:spcAft>
                <a:spcPts val="0"/>
              </a:spcAft>
            </a:pPr>
            <a:r>
              <a:rPr lang="fr-FR" sz="1800" b="1">
                <a:solidFill>
                  <a:srgbClr val="285D4B"/>
                </a:solidFill>
                <a:latin typeface="Segoe UI"/>
                <a:ea typeface="Segoe UI"/>
                <a:cs typeface="Tahoma"/>
              </a:rPr>
              <a:t xml:space="preserve">Lecture attendue</a:t>
            </a:r>
            <a:endParaRPr lang="fr-FR" sz="1800"/>
          </a:p>
        </p:txBody>
      </p:sp>
      <p:sp>
        <p:nvSpPr>
          <p:cNvPr id="16" name="text-16"/>
          <p:cNvSpPr txBox="1"/>
          <p:nvPr/>
        </p:nvSpPr>
        <p:spPr>
          <a:xfrm>
            <a:off x="8248650" y="4143375"/>
            <a:ext cx="3238500" cy="533400"/>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64736B"/>
                </a:solidFill>
                <a:latin typeface="Segoe UI"/>
                <a:ea typeface="Segoe UI"/>
                <a:cs typeface="Tahoma"/>
              </a:rPr>
              <a:t xml:space="preserve">Une critique ironique</a:t>
            </a:r>
            <a:endParaRPr lang="fr-FR" sz="1350"/>
          </a:p>
        </p:txBody>
      </p:sp>
      <p:sp>
        <p:nvSpPr>
          <p:cNvPr id="17" name="rect-17"/>
          <p:cNvSpPr txBox="1"/>
          <p:nvPr/>
        </p:nvSpPr>
        <p:spPr>
          <a:xfrm>
            <a:off x="552450" y="5810250"/>
            <a:ext cx="11087100" cy="542925"/>
          </a:xfrm>
          <a:prstGeom prst="rect">
            <a:avLst/>
          </a:prstGeom>
          <a:solidFill>
            <a:srgbClr val="DDE7D6"/>
          </a:solidFill>
          <a:ln>
            <a:noFill/>
          </a:ln>
        </p:spPr>
      </p:sp>
      <p:sp>
        <p:nvSpPr>
          <p:cNvPr id="18" name="text-18"/>
          <p:cNvSpPr txBox="1"/>
          <p:nvPr/>
        </p:nvSpPr>
        <p:spPr>
          <a:xfrm>
            <a:off x="723900" y="5857875"/>
            <a:ext cx="10715625" cy="476250"/>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285D4B"/>
                </a:solidFill>
                <a:latin typeface="Segoe UI"/>
                <a:ea typeface="Segoe UI"/>
                <a:cs typeface="Tahoma"/>
              </a:rPr>
              <a:t xml:space="preserve">Objectif : distinguer sarcasme et sens littéral malgré les dialectes, le sentiment et le contexte manquant.</a:t>
            </a:r>
            <a:endParaRPr lang="fr-FR" sz="1350"/>
          </a:p>
        </p:txBody>
      </p:sp>
      <p:cxnSp>
        <p:nvCxnSpPr>
          <p:cNvPr id="19" name="line-19"/>
          <p:cNvCxnSpPr/>
          <p:nvPr/>
        </p:nvCxnSpPr>
        <p:spPr>
          <a:xfrm>
            <a:off x="552450" y="6505575"/>
            <a:ext cx="11087100" cy="0"/>
          </a:xfrm>
          <a:prstGeom prst="line">
            <a:avLst/>
          </a:prstGeom>
          <a:ln w="9525">
            <a:solidFill>
              <a:srgbClr val="D4DBCE"/>
            </a:solidFill>
          </a:ln>
        </p:spPr>
      </p:cxnSp>
      <p:sp>
        <p:nvSpPr>
          <p:cNvPr id="20" name="text-20"/>
          <p:cNvSpPr txBox="1"/>
          <p:nvPr/>
        </p:nvSpPr>
        <p:spPr>
          <a:xfrm>
            <a:off x="552450" y="6572250"/>
            <a:ext cx="8572500" cy="219075"/>
          </a:xfrm>
          <a:prstGeom prst="rect">
            <a:avLst/>
          </a:prstGeom>
          <a:noFill/>
          <a:ln>
            <a:noFill/>
          </a:ln>
        </p:spPr>
        <p:txBody>
          <a:bodyPr wrap="none" lIns="0" tIns="0" rIns="0" bIns="0" anchor="t"/>
          <a:lstStyle/>
          <a:p>
            <a:pPr algn="l">
              <a:lnSpc>
                <a:spcPts val="1125"/>
              </a:lnSpc>
              <a:spcBef>
                <a:spcPts val="0"/>
              </a:spcBef>
              <a:spcAft>
                <a:spcPts val="0"/>
              </a:spcAft>
            </a:pPr>
            <a:r>
              <a:rPr lang="fr-FR" sz="900" b="0">
                <a:solidFill>
                  <a:srgbClr val="64736B"/>
                </a:solidFill>
                <a:latin typeface="Segoe UI"/>
                <a:ea typeface="Segoe UI"/>
                <a:cs typeface="Tahoma"/>
              </a:rPr>
              <a:t xml:space="preserve">LMA3NA · Omar Elkhali · BDIOT</a:t>
            </a:r>
            <a:endParaRPr lang="fr-FR" sz="900"/>
          </a:p>
        </p:txBody>
      </p:sp>
      <p:sp>
        <p:nvSpPr>
          <p:cNvPr id="21" name="text-21"/>
          <p:cNvSpPr txBox="1"/>
          <p:nvPr/>
        </p:nvSpPr>
        <p:spPr>
          <a:xfrm>
            <a:off x="10763250" y="6572250"/>
            <a:ext cx="876300" cy="219075"/>
          </a:xfrm>
          <a:prstGeom prst="rect">
            <a:avLst/>
          </a:prstGeom>
          <a:noFill/>
          <a:ln>
            <a:noFill/>
          </a:ln>
        </p:spPr>
        <p:txBody>
          <a:bodyPr wrap="none" lIns="0" tIns="0" rIns="0" bIns="0" anchor="t"/>
          <a:lstStyle/>
          <a:p>
            <a:pPr algn="r">
              <a:lnSpc>
                <a:spcPts val="1125"/>
              </a:lnSpc>
              <a:spcBef>
                <a:spcPts val="0"/>
              </a:spcBef>
              <a:spcAft>
                <a:spcPts val="0"/>
              </a:spcAft>
            </a:pPr>
            <a:r>
              <a:rPr lang="fr-FR" sz="900" b="0">
                <a:solidFill>
                  <a:srgbClr val="64736B"/>
                </a:solidFill>
                <a:latin typeface="Segoe UI"/>
                <a:ea typeface="Segoe UI"/>
                <a:cs typeface="Tahoma"/>
              </a:rPr>
              <a:t xml:space="preserve">02 / 38</a:t>
            </a:r>
            <a:endParaRPr lang="fr-FR" sz="9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5F4EE"/>
        </a:solidFill>
        <a:effectLst/>
      </p:bgPr>
    </p:bg>
    <p:spTree>
      <p:nvGrpSpPr>
        <p:cNvPr id="1" name=""/>
        <p:cNvGrpSpPr/>
        <p:nvPr/>
      </p:nvGrpSpPr>
      <p:grpSpPr>
        <a:xfrm>
          <a:off x="0" y="0"/>
          <a:ext cx="0" cy="0"/>
          <a:chOff x="0" y="0"/>
          <a:chExt cx="0" cy="0"/>
        </a:xfrm>
      </p:grpSpPr>
      <p:sp>
        <p:nvSpPr>
          <p:cNvPr id="2" name="rect-2"/>
          <p:cNvSpPr txBox="1"/>
          <p:nvPr/>
        </p:nvSpPr>
        <p:spPr>
          <a:xfrm>
            <a:off x="552450" y="361950"/>
            <a:ext cx="400050" cy="38100"/>
          </a:xfrm>
          <a:prstGeom prst="rect">
            <a:avLst/>
          </a:prstGeom>
          <a:solidFill>
            <a:srgbClr val="E6A477"/>
          </a:solidFill>
          <a:ln>
            <a:noFill/>
          </a:ln>
        </p:spPr>
      </p:sp>
      <p:sp>
        <p:nvSpPr>
          <p:cNvPr id="3" name="text-3"/>
          <p:cNvSpPr txBox="1"/>
          <p:nvPr/>
        </p:nvSpPr>
        <p:spPr>
          <a:xfrm>
            <a:off x="1066800" y="276225"/>
            <a:ext cx="10287000" cy="266700"/>
          </a:xfrm>
          <a:prstGeom prst="rect">
            <a:avLst/>
          </a:prstGeom>
          <a:noFill/>
          <a:ln>
            <a:noFill/>
          </a:ln>
        </p:spPr>
        <p:txBody>
          <a:bodyPr wrap="none" lIns="0" tIns="0" rIns="0" bIns="0" anchor="t"/>
          <a:lstStyle/>
          <a:p>
            <a:pPr algn="l">
              <a:lnSpc>
                <a:spcPts val="1406"/>
              </a:lnSpc>
              <a:spcBef>
                <a:spcPts val="0"/>
              </a:spcBef>
              <a:spcAft>
                <a:spcPts val="0"/>
              </a:spcAft>
            </a:pPr>
            <a:r>
              <a:rPr lang="fr-FR" sz="1125" b="1">
                <a:solidFill>
                  <a:srgbClr val="285D4B"/>
                </a:solidFill>
                <a:latin typeface="Segoe UI"/>
                <a:ea typeface="Segoe UI"/>
                <a:cs typeface="Tahoma"/>
              </a:rPr>
              <a:t xml:space="preserve">01 · PARCOURS</a:t>
            </a:r>
            <a:endParaRPr lang="fr-FR" sz="1125"/>
          </a:p>
        </p:txBody>
      </p:sp>
      <p:sp>
        <p:nvSpPr>
          <p:cNvPr id="4" name="text-4"/>
          <p:cNvSpPr txBox="1"/>
          <p:nvPr/>
        </p:nvSpPr>
        <p:spPr>
          <a:xfrm>
            <a:off x="552450" y="790575"/>
            <a:ext cx="11087100" cy="1066800"/>
          </a:xfrm>
          <a:prstGeom prst="rect">
            <a:avLst/>
          </a:prstGeom>
          <a:noFill/>
          <a:ln>
            <a:noFill/>
          </a:ln>
        </p:spPr>
        <p:txBody>
          <a:bodyPr wrap="none" lIns="0" tIns="0" rIns="0" bIns="0" anchor="t"/>
          <a:lstStyle/>
          <a:p>
            <a:pPr algn="l">
              <a:lnSpc>
                <a:spcPts val="4031"/>
              </a:lnSpc>
              <a:spcBef>
                <a:spcPts val="0"/>
              </a:spcBef>
              <a:spcAft>
                <a:spcPts val="0"/>
              </a:spcAft>
            </a:pPr>
            <a:r>
              <a:rPr lang="fr-FR" sz="3225" b="1">
                <a:solidFill>
                  <a:srgbClr val="203A32"/>
                </a:solidFill>
                <a:latin typeface="Segoe UI"/>
                <a:ea typeface="Segoe UI"/>
                <a:cs typeface="Tahoma"/>
              </a:rPr>
              <a:t xml:space="preserve">Une démarche complète, du corpus à la démonstration</a:t>
            </a:r>
            <a:endParaRPr lang="fr-FR" sz="3225"/>
          </a:p>
        </p:txBody>
      </p:sp>
      <p:sp>
        <p:nvSpPr>
          <p:cNvPr id="5" name="text-5"/>
          <p:cNvSpPr txBox="1"/>
          <p:nvPr/>
        </p:nvSpPr>
        <p:spPr>
          <a:xfrm>
            <a:off x="552450" y="2047875"/>
            <a:ext cx="3524250" cy="476250"/>
          </a:xfrm>
          <a:prstGeom prst="rect">
            <a:avLst/>
          </a:prstGeom>
          <a:noFill/>
          <a:ln>
            <a:noFill/>
          </a:ln>
        </p:spPr>
        <p:txBody>
          <a:bodyPr wrap="none" lIns="0" tIns="0" rIns="0" bIns="0" anchor="t"/>
          <a:lstStyle/>
          <a:p>
            <a:pPr algn="l">
              <a:lnSpc>
                <a:spcPts val="2719"/>
              </a:lnSpc>
              <a:spcBef>
                <a:spcPts val="0"/>
              </a:spcBef>
              <a:spcAft>
                <a:spcPts val="0"/>
              </a:spcAft>
            </a:pPr>
            <a:r>
              <a:rPr lang="fr-FR" sz="2175" b="1">
                <a:solidFill>
                  <a:srgbClr val="285D4B"/>
                </a:solidFill>
                <a:latin typeface="Segoe UI"/>
                <a:ea typeface="Segoe UI"/>
                <a:cs typeface="Tahoma"/>
              </a:rPr>
              <a:t xml:space="preserve">01 Données</a:t>
            </a:r>
            <a:endParaRPr lang="fr-FR" sz="2175"/>
          </a:p>
        </p:txBody>
      </p:sp>
      <p:sp>
        <p:nvSpPr>
          <p:cNvPr id="6" name="text-6"/>
          <p:cNvSpPr txBox="1"/>
          <p:nvPr/>
        </p:nvSpPr>
        <p:spPr>
          <a:xfrm>
            <a:off x="552450" y="2619375"/>
            <a:ext cx="3333750" cy="933450"/>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64736B"/>
                </a:solidFill>
                <a:latin typeface="Segoe UI"/>
                <a:ea typeface="Segoe UI"/>
                <a:cs typeface="Tahoma"/>
              </a:rPr>
              <a:t xml:space="preserve">Téléchargement officiel, audit et</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séparation</a:t>
            </a:r>
            <a:endParaRPr lang="fr-FR" sz="1725"/>
          </a:p>
        </p:txBody>
      </p:sp>
      <p:sp>
        <p:nvSpPr>
          <p:cNvPr id="7" name="text-7"/>
          <p:cNvSpPr txBox="1"/>
          <p:nvPr/>
        </p:nvSpPr>
        <p:spPr>
          <a:xfrm>
            <a:off x="4324350" y="2047875"/>
            <a:ext cx="3524250" cy="476250"/>
          </a:xfrm>
          <a:prstGeom prst="rect">
            <a:avLst/>
          </a:prstGeom>
          <a:noFill/>
          <a:ln>
            <a:noFill/>
          </a:ln>
        </p:spPr>
        <p:txBody>
          <a:bodyPr wrap="none" lIns="0" tIns="0" rIns="0" bIns="0" anchor="t"/>
          <a:lstStyle/>
          <a:p>
            <a:pPr algn="l">
              <a:lnSpc>
                <a:spcPts val="2719"/>
              </a:lnSpc>
              <a:spcBef>
                <a:spcPts val="0"/>
              </a:spcBef>
              <a:spcAft>
                <a:spcPts val="0"/>
              </a:spcAft>
            </a:pPr>
            <a:r>
              <a:rPr lang="fr-FR" sz="2175" b="1">
                <a:solidFill>
                  <a:srgbClr val="285D4B"/>
                </a:solidFill>
                <a:latin typeface="Segoe UI"/>
                <a:ea typeface="Segoe UI"/>
                <a:cs typeface="Tahoma"/>
              </a:rPr>
              <a:t xml:space="preserve">02 Prétraitement</a:t>
            </a:r>
            <a:endParaRPr lang="fr-FR" sz="2175"/>
          </a:p>
        </p:txBody>
      </p:sp>
      <p:sp>
        <p:nvSpPr>
          <p:cNvPr id="8" name="text-8"/>
          <p:cNvSpPr txBox="1"/>
          <p:nvPr/>
        </p:nvSpPr>
        <p:spPr>
          <a:xfrm>
            <a:off x="4324350" y="2619375"/>
            <a:ext cx="3333750" cy="933450"/>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64736B"/>
                </a:solidFill>
                <a:latin typeface="Segoe UI"/>
                <a:ea typeface="Segoe UI"/>
                <a:cs typeface="Tahoma"/>
              </a:rPr>
              <a:t xml:space="preserve">Nettoyage par famille et</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conservation des indices</a:t>
            </a:r>
            <a:endParaRPr lang="fr-FR" sz="1725"/>
          </a:p>
        </p:txBody>
      </p:sp>
      <p:sp>
        <p:nvSpPr>
          <p:cNvPr id="9" name="text-9"/>
          <p:cNvSpPr txBox="1"/>
          <p:nvPr/>
        </p:nvSpPr>
        <p:spPr>
          <a:xfrm>
            <a:off x="8096250" y="2047875"/>
            <a:ext cx="3524250" cy="476250"/>
          </a:xfrm>
          <a:prstGeom prst="rect">
            <a:avLst/>
          </a:prstGeom>
          <a:noFill/>
          <a:ln>
            <a:noFill/>
          </a:ln>
        </p:spPr>
        <p:txBody>
          <a:bodyPr wrap="none" lIns="0" tIns="0" rIns="0" bIns="0" anchor="t"/>
          <a:lstStyle/>
          <a:p>
            <a:pPr algn="l">
              <a:lnSpc>
                <a:spcPts val="2719"/>
              </a:lnSpc>
              <a:spcBef>
                <a:spcPts val="0"/>
              </a:spcBef>
              <a:spcAft>
                <a:spcPts val="0"/>
              </a:spcAft>
            </a:pPr>
            <a:r>
              <a:rPr lang="fr-FR" sz="2175" b="1">
                <a:solidFill>
                  <a:srgbClr val="285D4B"/>
                </a:solidFill>
                <a:latin typeface="Segoe UI"/>
                <a:ea typeface="Segoe UI"/>
                <a:cs typeface="Tahoma"/>
              </a:rPr>
              <a:t xml:space="preserve">03 Modèles A–E</a:t>
            </a:r>
            <a:endParaRPr lang="fr-FR" sz="2175"/>
          </a:p>
        </p:txBody>
      </p:sp>
      <p:sp>
        <p:nvSpPr>
          <p:cNvPr id="10" name="text-10"/>
          <p:cNvSpPr txBox="1"/>
          <p:nvPr/>
        </p:nvSpPr>
        <p:spPr>
          <a:xfrm>
            <a:off x="8096250" y="2619375"/>
            <a:ext cx="3333750" cy="933450"/>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64736B"/>
                </a:solidFill>
                <a:latin typeface="Segoe UI"/>
                <a:ea typeface="Segoe UI"/>
                <a:cs typeface="Tahoma"/>
              </a:rPr>
              <a:t xml:space="preserve">Baselines, réseaux et modèles</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préentraînés</a:t>
            </a:r>
            <a:endParaRPr lang="fr-FR" sz="1725"/>
          </a:p>
        </p:txBody>
      </p:sp>
      <p:sp>
        <p:nvSpPr>
          <p:cNvPr id="11" name="text-11"/>
          <p:cNvSpPr txBox="1"/>
          <p:nvPr/>
        </p:nvSpPr>
        <p:spPr>
          <a:xfrm>
            <a:off x="552450" y="3714750"/>
            <a:ext cx="3524250" cy="476250"/>
          </a:xfrm>
          <a:prstGeom prst="rect">
            <a:avLst/>
          </a:prstGeom>
          <a:noFill/>
          <a:ln>
            <a:noFill/>
          </a:ln>
        </p:spPr>
        <p:txBody>
          <a:bodyPr wrap="none" lIns="0" tIns="0" rIns="0" bIns="0" anchor="t"/>
          <a:lstStyle/>
          <a:p>
            <a:pPr algn="l">
              <a:lnSpc>
                <a:spcPts val="2719"/>
              </a:lnSpc>
              <a:spcBef>
                <a:spcPts val="0"/>
              </a:spcBef>
              <a:spcAft>
                <a:spcPts val="0"/>
              </a:spcAft>
            </a:pPr>
            <a:r>
              <a:rPr lang="fr-FR" sz="2175" b="1">
                <a:solidFill>
                  <a:srgbClr val="285D4B"/>
                </a:solidFill>
                <a:latin typeface="Segoe UI"/>
                <a:ea typeface="Segoe UI"/>
                <a:cs typeface="Tahoma"/>
              </a:rPr>
              <a:t xml:space="preserve">04 Évaluation F–G</a:t>
            </a:r>
            <a:endParaRPr lang="fr-FR" sz="2175"/>
          </a:p>
        </p:txBody>
      </p:sp>
      <p:sp>
        <p:nvSpPr>
          <p:cNvPr id="12" name="text-12"/>
          <p:cNvSpPr txBox="1"/>
          <p:nvPr/>
        </p:nvSpPr>
        <p:spPr>
          <a:xfrm>
            <a:off x="552450" y="4286250"/>
            <a:ext cx="3333750" cy="933450"/>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64736B"/>
                </a:solidFill>
                <a:latin typeface="Segoe UI"/>
                <a:ea typeface="Segoe UI"/>
                <a:cs typeface="Tahoma"/>
              </a:rPr>
              <a:t xml:space="preserve">Test, robustesse, coût et</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incertitude</a:t>
            </a:r>
            <a:endParaRPr lang="fr-FR" sz="1725"/>
          </a:p>
        </p:txBody>
      </p:sp>
      <p:sp>
        <p:nvSpPr>
          <p:cNvPr id="13" name="text-13"/>
          <p:cNvSpPr txBox="1"/>
          <p:nvPr/>
        </p:nvSpPr>
        <p:spPr>
          <a:xfrm>
            <a:off x="4324350" y="3714750"/>
            <a:ext cx="3524250" cy="476250"/>
          </a:xfrm>
          <a:prstGeom prst="rect">
            <a:avLst/>
          </a:prstGeom>
          <a:noFill/>
          <a:ln>
            <a:noFill/>
          </a:ln>
        </p:spPr>
        <p:txBody>
          <a:bodyPr wrap="none" lIns="0" tIns="0" rIns="0" bIns="0" anchor="t"/>
          <a:lstStyle/>
          <a:p>
            <a:pPr algn="l">
              <a:lnSpc>
                <a:spcPts val="2719"/>
              </a:lnSpc>
              <a:spcBef>
                <a:spcPts val="0"/>
              </a:spcBef>
              <a:spcAft>
                <a:spcPts val="0"/>
              </a:spcAft>
            </a:pPr>
            <a:r>
              <a:rPr lang="fr-FR" sz="2175" b="1">
                <a:solidFill>
                  <a:srgbClr val="285D4B"/>
                </a:solidFill>
                <a:latin typeface="Segoe UI"/>
                <a:ea typeface="Segoe UI"/>
                <a:cs typeface="Tahoma"/>
              </a:rPr>
              <a:t xml:space="preserve">05 Application</a:t>
            </a:r>
            <a:endParaRPr lang="fr-FR" sz="2175"/>
          </a:p>
        </p:txBody>
      </p:sp>
      <p:sp>
        <p:nvSpPr>
          <p:cNvPr id="14" name="text-14"/>
          <p:cNvSpPr txBox="1"/>
          <p:nvPr/>
        </p:nvSpPr>
        <p:spPr>
          <a:xfrm>
            <a:off x="4324350" y="4286250"/>
            <a:ext cx="3333750" cy="933450"/>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64736B"/>
                </a:solidFill>
                <a:latin typeface="Segoe UI"/>
                <a:ea typeface="Segoe UI"/>
                <a:cs typeface="Tahoma"/>
              </a:rPr>
              <a:t xml:space="preserve">Comparaison interactive dans</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LMA3NA</a:t>
            </a:r>
            <a:endParaRPr lang="fr-FR" sz="1725"/>
          </a:p>
        </p:txBody>
      </p:sp>
      <p:sp>
        <p:nvSpPr>
          <p:cNvPr id="15" name="text-15"/>
          <p:cNvSpPr txBox="1"/>
          <p:nvPr/>
        </p:nvSpPr>
        <p:spPr>
          <a:xfrm>
            <a:off x="8096250" y="3714750"/>
            <a:ext cx="3524250" cy="476250"/>
          </a:xfrm>
          <a:prstGeom prst="rect">
            <a:avLst/>
          </a:prstGeom>
          <a:noFill/>
          <a:ln>
            <a:noFill/>
          </a:ln>
        </p:spPr>
        <p:txBody>
          <a:bodyPr wrap="none" lIns="0" tIns="0" rIns="0" bIns="0" anchor="t"/>
          <a:lstStyle/>
          <a:p>
            <a:pPr algn="l">
              <a:lnSpc>
                <a:spcPts val="2719"/>
              </a:lnSpc>
              <a:spcBef>
                <a:spcPts val="0"/>
              </a:spcBef>
              <a:spcAft>
                <a:spcPts val="0"/>
              </a:spcAft>
            </a:pPr>
            <a:r>
              <a:rPr lang="fr-FR" sz="2175" b="1">
                <a:solidFill>
                  <a:srgbClr val="285D4B"/>
                </a:solidFill>
                <a:latin typeface="Segoe UI"/>
                <a:ea typeface="Segoe UI"/>
                <a:cs typeface="Tahoma"/>
              </a:rPr>
              <a:t xml:space="preserve">06 Extension</a:t>
            </a:r>
            <a:endParaRPr lang="fr-FR" sz="2175"/>
          </a:p>
        </p:txBody>
      </p:sp>
      <p:sp>
        <p:nvSpPr>
          <p:cNvPr id="16" name="text-16"/>
          <p:cNvSpPr txBox="1"/>
          <p:nvPr/>
        </p:nvSpPr>
        <p:spPr>
          <a:xfrm>
            <a:off x="8096250" y="4286250"/>
            <a:ext cx="3333750" cy="933450"/>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64736B"/>
                </a:solidFill>
                <a:latin typeface="Segoe UI"/>
                <a:ea typeface="Segoe UI"/>
                <a:cs typeface="Tahoma"/>
              </a:rPr>
              <a:t xml:space="preserve">R-Drop ajouté, gain encore à</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mesurer</a:t>
            </a:r>
            <a:endParaRPr lang="fr-FR" sz="1725"/>
          </a:p>
        </p:txBody>
      </p:sp>
      <p:cxnSp>
        <p:nvCxnSpPr>
          <p:cNvPr id="17" name="line-17"/>
          <p:cNvCxnSpPr/>
          <p:nvPr/>
        </p:nvCxnSpPr>
        <p:spPr>
          <a:xfrm>
            <a:off x="552450" y="6505575"/>
            <a:ext cx="11087100" cy="0"/>
          </a:xfrm>
          <a:prstGeom prst="line">
            <a:avLst/>
          </a:prstGeom>
          <a:ln w="9525">
            <a:solidFill>
              <a:srgbClr val="D4DBCE"/>
            </a:solidFill>
          </a:ln>
        </p:spPr>
      </p:cxnSp>
      <p:sp>
        <p:nvSpPr>
          <p:cNvPr id="18" name="text-18"/>
          <p:cNvSpPr txBox="1"/>
          <p:nvPr/>
        </p:nvSpPr>
        <p:spPr>
          <a:xfrm>
            <a:off x="552450" y="6572250"/>
            <a:ext cx="8572500" cy="219075"/>
          </a:xfrm>
          <a:prstGeom prst="rect">
            <a:avLst/>
          </a:prstGeom>
          <a:noFill/>
          <a:ln>
            <a:noFill/>
          </a:ln>
        </p:spPr>
        <p:txBody>
          <a:bodyPr wrap="none" lIns="0" tIns="0" rIns="0" bIns="0" anchor="t"/>
          <a:lstStyle/>
          <a:p>
            <a:pPr algn="l">
              <a:lnSpc>
                <a:spcPts val="1125"/>
              </a:lnSpc>
              <a:spcBef>
                <a:spcPts val="0"/>
              </a:spcBef>
              <a:spcAft>
                <a:spcPts val="0"/>
              </a:spcAft>
            </a:pPr>
            <a:r>
              <a:rPr lang="fr-FR" sz="900" b="0">
                <a:solidFill>
                  <a:srgbClr val="64736B"/>
                </a:solidFill>
                <a:latin typeface="Segoe UI"/>
                <a:ea typeface="Segoe UI"/>
                <a:cs typeface="Tahoma"/>
              </a:rPr>
              <a:t xml:space="preserve">LMA3NA · Omar Elkhali · BDIOT</a:t>
            </a:r>
            <a:endParaRPr lang="fr-FR" sz="900"/>
          </a:p>
        </p:txBody>
      </p:sp>
      <p:sp>
        <p:nvSpPr>
          <p:cNvPr id="19" name="text-19"/>
          <p:cNvSpPr txBox="1"/>
          <p:nvPr/>
        </p:nvSpPr>
        <p:spPr>
          <a:xfrm>
            <a:off x="10763250" y="6572250"/>
            <a:ext cx="876300" cy="219075"/>
          </a:xfrm>
          <a:prstGeom prst="rect">
            <a:avLst/>
          </a:prstGeom>
          <a:noFill/>
          <a:ln>
            <a:noFill/>
          </a:ln>
        </p:spPr>
        <p:txBody>
          <a:bodyPr wrap="none" lIns="0" tIns="0" rIns="0" bIns="0" anchor="t"/>
          <a:lstStyle/>
          <a:p>
            <a:pPr algn="r">
              <a:lnSpc>
                <a:spcPts val="1125"/>
              </a:lnSpc>
              <a:spcBef>
                <a:spcPts val="0"/>
              </a:spcBef>
              <a:spcAft>
                <a:spcPts val="0"/>
              </a:spcAft>
            </a:pPr>
            <a:r>
              <a:rPr lang="fr-FR" sz="900" b="0">
                <a:solidFill>
                  <a:srgbClr val="64736B"/>
                </a:solidFill>
                <a:latin typeface="Segoe UI"/>
                <a:ea typeface="Segoe UI"/>
                <a:cs typeface="Tahoma"/>
              </a:rPr>
              <a:t xml:space="preserve">03 / 38</a:t>
            </a:r>
            <a:endParaRPr lang="fr-FR" sz="9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F4EE"/>
        </a:solidFill>
        <a:effectLst/>
      </p:bgPr>
    </p:bg>
    <p:spTree>
      <p:nvGrpSpPr>
        <p:cNvPr id="1" name=""/>
        <p:cNvGrpSpPr/>
        <p:nvPr/>
      </p:nvGrpSpPr>
      <p:grpSpPr>
        <a:xfrm>
          <a:off x="0" y="0"/>
          <a:ext cx="0" cy="0"/>
          <a:chOff x="0" y="0"/>
          <a:chExt cx="0" cy="0"/>
        </a:xfrm>
      </p:grpSpPr>
      <p:sp>
        <p:nvSpPr>
          <p:cNvPr id="2" name="rect-2"/>
          <p:cNvSpPr txBox="1"/>
          <p:nvPr/>
        </p:nvSpPr>
        <p:spPr>
          <a:xfrm>
            <a:off x="552450" y="361950"/>
            <a:ext cx="400050" cy="38100"/>
          </a:xfrm>
          <a:prstGeom prst="rect">
            <a:avLst/>
          </a:prstGeom>
          <a:solidFill>
            <a:srgbClr val="E6A477"/>
          </a:solidFill>
          <a:ln>
            <a:noFill/>
          </a:ln>
        </p:spPr>
      </p:sp>
      <p:sp>
        <p:nvSpPr>
          <p:cNvPr id="3" name="text-3"/>
          <p:cNvSpPr txBox="1"/>
          <p:nvPr/>
        </p:nvSpPr>
        <p:spPr>
          <a:xfrm>
            <a:off x="1066800" y="276225"/>
            <a:ext cx="10287000" cy="266700"/>
          </a:xfrm>
          <a:prstGeom prst="rect">
            <a:avLst/>
          </a:prstGeom>
          <a:noFill/>
          <a:ln>
            <a:noFill/>
          </a:ln>
        </p:spPr>
        <p:txBody>
          <a:bodyPr wrap="none" lIns="0" tIns="0" rIns="0" bIns="0" anchor="t"/>
          <a:lstStyle/>
          <a:p>
            <a:pPr algn="l">
              <a:lnSpc>
                <a:spcPts val="1406"/>
              </a:lnSpc>
              <a:spcBef>
                <a:spcPts val="0"/>
              </a:spcBef>
              <a:spcAft>
                <a:spcPts val="0"/>
              </a:spcAft>
            </a:pPr>
            <a:r>
              <a:rPr lang="fr-FR" sz="1125" b="1">
                <a:solidFill>
                  <a:srgbClr val="285D4B"/>
                </a:solidFill>
                <a:latin typeface="Segoe UI"/>
                <a:ea typeface="Segoe UI"/>
                <a:cs typeface="Tahoma"/>
              </a:rPr>
              <a:t xml:space="preserve">02 · DONNÉES</a:t>
            </a:r>
            <a:endParaRPr lang="fr-FR" sz="1125"/>
          </a:p>
        </p:txBody>
      </p:sp>
      <p:sp>
        <p:nvSpPr>
          <p:cNvPr id="4" name="text-4"/>
          <p:cNvSpPr txBox="1"/>
          <p:nvPr/>
        </p:nvSpPr>
        <p:spPr>
          <a:xfrm>
            <a:off x="552450" y="790575"/>
            <a:ext cx="11087100" cy="1066800"/>
          </a:xfrm>
          <a:prstGeom prst="rect">
            <a:avLst/>
          </a:prstGeom>
          <a:noFill/>
          <a:ln>
            <a:noFill/>
          </a:ln>
        </p:spPr>
        <p:txBody>
          <a:bodyPr wrap="none" lIns="0" tIns="0" rIns="0" bIns="0" anchor="t"/>
          <a:lstStyle/>
          <a:p>
            <a:pPr algn="l">
              <a:lnSpc>
                <a:spcPts val="4031"/>
              </a:lnSpc>
              <a:spcBef>
                <a:spcPts val="0"/>
              </a:spcBef>
              <a:spcAft>
                <a:spcPts val="0"/>
              </a:spcAft>
            </a:pPr>
            <a:r>
              <a:rPr lang="fr-FR" sz="3225" b="1">
                <a:solidFill>
                  <a:srgbClr val="203A32"/>
                </a:solidFill>
                <a:latin typeface="Segoe UI"/>
                <a:ea typeface="Segoe UI"/>
                <a:cs typeface="Tahoma"/>
              </a:rPr>
              <a:t xml:space="preserve">Les partitions restent distinctes pendant le protocole</a:t>
            </a:r>
            <a:endParaRPr lang="fr-FR" sz="3225"/>
          </a:p>
        </p:txBody>
      </p:sp>
      <p:sp>
        <p:nvSpPr>
          <p:cNvPr id="5" name="text-5"/>
          <p:cNvSpPr txBox="1"/>
          <p:nvPr/>
        </p:nvSpPr>
        <p:spPr>
          <a:xfrm>
            <a:off x="552450" y="2047875"/>
            <a:ext cx="3238500" cy="857250"/>
          </a:xfrm>
          <a:prstGeom prst="rect">
            <a:avLst/>
          </a:prstGeom>
          <a:noFill/>
          <a:ln>
            <a:noFill/>
          </a:ln>
        </p:spPr>
        <p:txBody>
          <a:bodyPr wrap="none" lIns="0" tIns="0" rIns="0" bIns="0" anchor="t"/>
          <a:lstStyle/>
          <a:p>
            <a:pPr algn="l">
              <a:lnSpc>
                <a:spcPts val="6094"/>
              </a:lnSpc>
              <a:spcBef>
                <a:spcPts val="0"/>
              </a:spcBef>
              <a:spcAft>
                <a:spcPts val="0"/>
              </a:spcAft>
            </a:pPr>
            <a:r>
              <a:rPr lang="fr-FR" sz="4875" b="1">
                <a:solidFill>
                  <a:srgbClr val="285D4B"/>
                </a:solidFill>
                <a:latin typeface="Segoe UI"/>
                <a:ea typeface="Segoe UI"/>
                <a:cs typeface="Tahoma"/>
              </a:rPr>
              <a:t xml:space="preserve">12 548</a:t>
            </a:r>
            <a:endParaRPr lang="fr-FR" sz="4875"/>
          </a:p>
        </p:txBody>
      </p:sp>
      <p:sp>
        <p:nvSpPr>
          <p:cNvPr id="6" name="text-6"/>
          <p:cNvSpPr txBox="1"/>
          <p:nvPr/>
        </p:nvSpPr>
        <p:spPr>
          <a:xfrm>
            <a:off x="552450" y="3000375"/>
            <a:ext cx="3238500" cy="685800"/>
          </a:xfrm>
          <a:prstGeom prst="rect">
            <a:avLst/>
          </a:prstGeom>
          <a:noFill/>
          <a:ln>
            <a:noFill/>
          </a:ln>
        </p:spPr>
        <p:txBody>
          <a:bodyPr wrap="none" lIns="0" tIns="0" rIns="0" bIns="0" anchor="t"/>
          <a:lstStyle/>
          <a:p>
            <a:pPr algn="l">
              <a:lnSpc>
                <a:spcPts val="2250"/>
              </a:lnSpc>
              <a:spcBef>
                <a:spcPts val="0"/>
              </a:spcBef>
              <a:spcAft>
                <a:spcPts val="0"/>
              </a:spcAft>
            </a:pPr>
            <a:r>
              <a:rPr lang="fr-FR" sz="1800" b="1">
                <a:solidFill>
                  <a:srgbClr val="203A32"/>
                </a:solidFill>
                <a:latin typeface="Segoe UI"/>
                <a:ea typeface="Segoe UI"/>
                <a:cs typeface="Tahoma"/>
              </a:rPr>
              <a:t xml:space="preserve">Tweets du train officiel</a:t>
            </a:r>
            <a:endParaRPr lang="fr-FR" sz="1800"/>
          </a:p>
        </p:txBody>
      </p:sp>
      <p:sp>
        <p:nvSpPr>
          <p:cNvPr id="7" name="text-7"/>
          <p:cNvSpPr txBox="1"/>
          <p:nvPr/>
        </p:nvSpPr>
        <p:spPr>
          <a:xfrm>
            <a:off x="552450" y="3686175"/>
            <a:ext cx="3238500" cy="1619250"/>
          </a:xfrm>
          <a:prstGeom prst="rect">
            <a:avLst/>
          </a:prstGeom>
          <a:noFill/>
          <a:ln>
            <a:noFill/>
          </a:ln>
        </p:spPr>
        <p:txBody>
          <a:bodyPr wrap="none" lIns="0" tIns="0" rIns="0" bIns="0" anchor="t"/>
          <a:lstStyle/>
          <a:p>
            <a:pPr algn="l">
              <a:lnSpc>
                <a:spcPts val="2062"/>
              </a:lnSpc>
              <a:spcBef>
                <a:spcPts val="0"/>
              </a:spcBef>
              <a:spcAft>
                <a:spcPts val="0"/>
              </a:spcAft>
            </a:pPr>
            <a:r>
              <a:rPr lang="fr-FR" sz="1650" b="0">
                <a:solidFill>
                  <a:srgbClr val="64736B"/>
                </a:solidFill>
                <a:latin typeface="Segoe UI"/>
                <a:ea typeface="Segoe UI"/>
                <a:cs typeface="Tahoma"/>
              </a:rPr>
              <a:t xml:space="preserve">Split stratifié à 90/10, graine 42</a:t>
            </a:r>
            <a:endParaRPr lang="fr-FR" sz="1650"/>
          </a:p>
        </p:txBody>
      </p:sp>
      <p:sp>
        <p:nvSpPr>
          <p:cNvPr id="8" name="text-8"/>
          <p:cNvSpPr txBox="1"/>
          <p:nvPr/>
        </p:nvSpPr>
        <p:spPr>
          <a:xfrm>
            <a:off x="4333875" y="2047875"/>
            <a:ext cx="3238500" cy="857250"/>
          </a:xfrm>
          <a:prstGeom prst="rect">
            <a:avLst/>
          </a:prstGeom>
          <a:noFill/>
          <a:ln>
            <a:noFill/>
          </a:ln>
        </p:spPr>
        <p:txBody>
          <a:bodyPr wrap="none" lIns="0" tIns="0" rIns="0" bIns="0" anchor="t"/>
          <a:lstStyle/>
          <a:p>
            <a:pPr algn="l">
              <a:lnSpc>
                <a:spcPts val="6094"/>
              </a:lnSpc>
              <a:spcBef>
                <a:spcPts val="0"/>
              </a:spcBef>
              <a:spcAft>
                <a:spcPts val="0"/>
              </a:spcAft>
            </a:pPr>
            <a:r>
              <a:rPr lang="fr-FR" sz="4875" b="1">
                <a:solidFill>
                  <a:srgbClr val="285D4B"/>
                </a:solidFill>
                <a:latin typeface="Segoe UI"/>
                <a:ea typeface="Segoe UI"/>
                <a:cs typeface="Tahoma"/>
              </a:rPr>
              <a:t xml:space="preserve">10 842</a:t>
            </a:r>
            <a:endParaRPr lang="fr-FR" sz="4875"/>
          </a:p>
        </p:txBody>
      </p:sp>
      <p:sp>
        <p:nvSpPr>
          <p:cNvPr id="9" name="text-9"/>
          <p:cNvSpPr txBox="1"/>
          <p:nvPr/>
        </p:nvSpPr>
        <p:spPr>
          <a:xfrm>
            <a:off x="4333875" y="3000375"/>
            <a:ext cx="3238500" cy="685800"/>
          </a:xfrm>
          <a:prstGeom prst="rect">
            <a:avLst/>
          </a:prstGeom>
          <a:noFill/>
          <a:ln>
            <a:noFill/>
          </a:ln>
        </p:spPr>
        <p:txBody>
          <a:bodyPr wrap="none" lIns="0" tIns="0" rIns="0" bIns="0" anchor="t"/>
          <a:lstStyle/>
          <a:p>
            <a:pPr algn="l">
              <a:lnSpc>
                <a:spcPts val="2250"/>
              </a:lnSpc>
              <a:spcBef>
                <a:spcPts val="0"/>
              </a:spcBef>
              <a:spcAft>
                <a:spcPts val="0"/>
              </a:spcAft>
            </a:pPr>
            <a:r>
              <a:rPr lang="fr-FR" sz="1800" b="1">
                <a:solidFill>
                  <a:srgbClr val="203A32"/>
                </a:solidFill>
                <a:latin typeface="Segoe UI"/>
                <a:ea typeface="Segoe UI"/>
                <a:cs typeface="Tahoma"/>
              </a:rPr>
              <a:t xml:space="preserve">Tweets du train nettoyé</a:t>
            </a:r>
            <a:endParaRPr lang="fr-FR" sz="1800"/>
          </a:p>
        </p:txBody>
      </p:sp>
      <p:sp>
        <p:nvSpPr>
          <p:cNvPr id="10" name="text-10"/>
          <p:cNvSpPr txBox="1"/>
          <p:nvPr/>
        </p:nvSpPr>
        <p:spPr>
          <a:xfrm>
            <a:off x="4333875" y="3686175"/>
            <a:ext cx="3238500" cy="1619250"/>
          </a:xfrm>
          <a:prstGeom prst="rect">
            <a:avLst/>
          </a:prstGeom>
          <a:noFill/>
          <a:ln>
            <a:noFill/>
          </a:ln>
        </p:spPr>
        <p:txBody>
          <a:bodyPr wrap="none" lIns="0" tIns="0" rIns="0" bIns="0" anchor="t"/>
          <a:lstStyle/>
          <a:p>
            <a:pPr algn="l">
              <a:lnSpc>
                <a:spcPts val="2062"/>
              </a:lnSpc>
              <a:spcBef>
                <a:spcPts val="0"/>
              </a:spcBef>
              <a:spcAft>
                <a:spcPts val="0"/>
              </a:spcAft>
            </a:pPr>
            <a:r>
              <a:rPr lang="fr-FR" sz="1650" b="0">
                <a:solidFill>
                  <a:srgbClr val="64736B"/>
                </a:solidFill>
                <a:latin typeface="Segoe UI"/>
                <a:ea typeface="Segoe UI"/>
                <a:cs typeface="Tahoma"/>
              </a:rPr>
              <a:t xml:space="preserve">Exclusions après split,</a:t>
            </a:r>
            <a:endParaRPr lang="fr-FR" sz="1650"/>
          </a:p>
          <a:p>
            <a:pPr algn="l">
              <a:lnSpc>
                <a:spcPts val="2062"/>
              </a:lnSpc>
              <a:spcBef>
                <a:spcPts val="0"/>
              </a:spcBef>
              <a:spcAft>
                <a:spcPts val="0"/>
              </a:spcAft>
            </a:pPr>
            <a:r>
              <a:rPr lang="fr-FR" sz="1650" b="0">
                <a:solidFill>
                  <a:srgbClr val="64736B"/>
                </a:solidFill>
                <a:latin typeface="Segoe UI"/>
                <a:ea typeface="Segoe UI"/>
                <a:cs typeface="Tahoma"/>
              </a:rPr>
              <a:t xml:space="preserve">apprentissage sur ce train</a:t>
            </a:r>
            <a:endParaRPr lang="fr-FR" sz="1650"/>
          </a:p>
          <a:p>
            <a:pPr algn="l">
              <a:lnSpc>
                <a:spcPts val="2062"/>
              </a:lnSpc>
              <a:spcBef>
                <a:spcPts val="0"/>
              </a:spcBef>
              <a:spcAft>
                <a:spcPts val="0"/>
              </a:spcAft>
            </a:pPr>
            <a:r>
              <a:rPr lang="fr-FR" sz="1650" b="0">
                <a:solidFill>
                  <a:srgbClr val="64736B"/>
                </a:solidFill>
                <a:latin typeface="Segoe UI"/>
                <a:ea typeface="Segoe UI"/>
                <a:cs typeface="Tahoma"/>
              </a:rPr>
              <a:t xml:space="preserve">uniquement</a:t>
            </a:r>
            <a:endParaRPr lang="fr-FR" sz="1650"/>
          </a:p>
        </p:txBody>
      </p:sp>
      <p:sp>
        <p:nvSpPr>
          <p:cNvPr id="11" name="text-11"/>
          <p:cNvSpPr txBox="1"/>
          <p:nvPr/>
        </p:nvSpPr>
        <p:spPr>
          <a:xfrm>
            <a:off x="8115300" y="2047875"/>
            <a:ext cx="3238500" cy="857250"/>
          </a:xfrm>
          <a:prstGeom prst="rect">
            <a:avLst/>
          </a:prstGeom>
          <a:noFill/>
          <a:ln>
            <a:noFill/>
          </a:ln>
        </p:spPr>
        <p:txBody>
          <a:bodyPr wrap="none" lIns="0" tIns="0" rIns="0" bIns="0" anchor="t"/>
          <a:lstStyle/>
          <a:p>
            <a:pPr algn="l">
              <a:lnSpc>
                <a:spcPts val="6094"/>
              </a:lnSpc>
              <a:spcBef>
                <a:spcPts val="0"/>
              </a:spcBef>
              <a:spcAft>
                <a:spcPts val="0"/>
              </a:spcAft>
            </a:pPr>
            <a:r>
              <a:rPr lang="fr-FR" sz="4875" b="1">
                <a:solidFill>
                  <a:srgbClr val="285D4B"/>
                </a:solidFill>
                <a:latin typeface="Segoe UI"/>
                <a:ea typeface="Segoe UI"/>
                <a:cs typeface="Tahoma"/>
              </a:rPr>
              <a:t xml:space="preserve">1 255</a:t>
            </a:r>
            <a:endParaRPr lang="fr-FR" sz="4875"/>
          </a:p>
        </p:txBody>
      </p:sp>
      <p:sp>
        <p:nvSpPr>
          <p:cNvPr id="12" name="text-12"/>
          <p:cNvSpPr txBox="1"/>
          <p:nvPr/>
        </p:nvSpPr>
        <p:spPr>
          <a:xfrm>
            <a:off x="8115300" y="3000375"/>
            <a:ext cx="3238500" cy="685800"/>
          </a:xfrm>
          <a:prstGeom prst="rect">
            <a:avLst/>
          </a:prstGeom>
          <a:noFill/>
          <a:ln>
            <a:noFill/>
          </a:ln>
        </p:spPr>
        <p:txBody>
          <a:bodyPr wrap="none" lIns="0" tIns="0" rIns="0" bIns="0" anchor="t"/>
          <a:lstStyle/>
          <a:p>
            <a:pPr algn="l">
              <a:lnSpc>
                <a:spcPts val="2250"/>
              </a:lnSpc>
              <a:spcBef>
                <a:spcPts val="0"/>
              </a:spcBef>
              <a:spcAft>
                <a:spcPts val="0"/>
              </a:spcAft>
            </a:pPr>
            <a:r>
              <a:rPr lang="fr-FR" sz="1800" b="1">
                <a:solidFill>
                  <a:srgbClr val="203A32"/>
                </a:solidFill>
                <a:latin typeface="Segoe UI"/>
                <a:ea typeface="Segoe UI"/>
                <a:cs typeface="Tahoma"/>
              </a:rPr>
              <a:t xml:space="preserve">Tweets de validation</a:t>
            </a:r>
            <a:endParaRPr lang="fr-FR" sz="1800"/>
          </a:p>
        </p:txBody>
      </p:sp>
      <p:sp>
        <p:nvSpPr>
          <p:cNvPr id="13" name="text-13"/>
          <p:cNvSpPr txBox="1"/>
          <p:nvPr/>
        </p:nvSpPr>
        <p:spPr>
          <a:xfrm>
            <a:off x="8115300" y="3686175"/>
            <a:ext cx="3238500" cy="1619250"/>
          </a:xfrm>
          <a:prstGeom prst="rect">
            <a:avLst/>
          </a:prstGeom>
          <a:noFill/>
          <a:ln>
            <a:noFill/>
          </a:ln>
        </p:spPr>
        <p:txBody>
          <a:bodyPr wrap="none" lIns="0" tIns="0" rIns="0" bIns="0" anchor="t"/>
          <a:lstStyle/>
          <a:p>
            <a:pPr algn="l">
              <a:lnSpc>
                <a:spcPts val="2062"/>
              </a:lnSpc>
              <a:spcBef>
                <a:spcPts val="0"/>
              </a:spcBef>
              <a:spcAft>
                <a:spcPts val="0"/>
              </a:spcAft>
            </a:pPr>
            <a:r>
              <a:rPr lang="fr-FR" sz="1650" b="0">
                <a:solidFill>
                  <a:srgbClr val="64736B"/>
                </a:solidFill>
                <a:latin typeface="Segoe UI"/>
                <a:ea typeface="Segoe UI"/>
                <a:cs typeface="Tahoma"/>
              </a:rPr>
              <a:t xml:space="preserve">Choix des modèles, checkpoints et</a:t>
            </a:r>
            <a:endParaRPr lang="fr-FR" sz="1650"/>
          </a:p>
          <a:p>
            <a:pPr algn="l">
              <a:lnSpc>
                <a:spcPts val="2062"/>
              </a:lnSpc>
              <a:spcBef>
                <a:spcPts val="0"/>
              </a:spcBef>
              <a:spcAft>
                <a:spcPts val="0"/>
              </a:spcAft>
            </a:pPr>
            <a:r>
              <a:rPr lang="fr-FR" sz="1650" b="0">
                <a:solidFill>
                  <a:srgbClr val="64736B"/>
                </a:solidFill>
                <a:latin typeface="Segoe UI"/>
                <a:ea typeface="Segoe UI"/>
                <a:cs typeface="Tahoma"/>
              </a:rPr>
              <a:t xml:space="preserve">seuils</a:t>
            </a:r>
            <a:endParaRPr lang="fr-FR" sz="1650"/>
          </a:p>
        </p:txBody>
      </p:sp>
      <p:sp>
        <p:nvSpPr>
          <p:cNvPr id="14" name="rect-14"/>
          <p:cNvSpPr txBox="1"/>
          <p:nvPr/>
        </p:nvSpPr>
        <p:spPr>
          <a:xfrm>
            <a:off x="552450" y="5810250"/>
            <a:ext cx="11087100" cy="542925"/>
          </a:xfrm>
          <a:prstGeom prst="rect">
            <a:avLst/>
          </a:prstGeom>
          <a:solidFill>
            <a:srgbClr val="DDE7D6"/>
          </a:solidFill>
          <a:ln>
            <a:noFill/>
          </a:ln>
        </p:spPr>
      </p:sp>
      <p:sp>
        <p:nvSpPr>
          <p:cNvPr id="15" name="text-15"/>
          <p:cNvSpPr txBox="1"/>
          <p:nvPr/>
        </p:nvSpPr>
        <p:spPr>
          <a:xfrm>
            <a:off x="723900" y="5857875"/>
            <a:ext cx="10715625" cy="476250"/>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285D4B"/>
                </a:solidFill>
                <a:latin typeface="Segoe UI"/>
                <a:ea typeface="Segoe UI"/>
                <a:cs typeface="Tahoma"/>
              </a:rPr>
              <a:t xml:space="preserve">Le test officiel conserve 3 000 tweets. Les labels test servent à l’évaluation finale, pas au réglage.</a:t>
            </a:r>
            <a:endParaRPr lang="fr-FR" sz="1350"/>
          </a:p>
        </p:txBody>
      </p:sp>
      <p:cxnSp>
        <p:nvCxnSpPr>
          <p:cNvPr id="16" name="line-16"/>
          <p:cNvCxnSpPr/>
          <p:nvPr/>
        </p:nvCxnSpPr>
        <p:spPr>
          <a:xfrm>
            <a:off x="552450" y="6505575"/>
            <a:ext cx="11087100" cy="0"/>
          </a:xfrm>
          <a:prstGeom prst="line">
            <a:avLst/>
          </a:prstGeom>
          <a:ln w="9525">
            <a:solidFill>
              <a:srgbClr val="D4DBCE"/>
            </a:solidFill>
          </a:ln>
        </p:spPr>
      </p:cxnSp>
      <p:sp>
        <p:nvSpPr>
          <p:cNvPr id="17" name="text-17"/>
          <p:cNvSpPr txBox="1"/>
          <p:nvPr/>
        </p:nvSpPr>
        <p:spPr>
          <a:xfrm>
            <a:off x="552450" y="6572250"/>
            <a:ext cx="8572500" cy="219075"/>
          </a:xfrm>
          <a:prstGeom prst="rect">
            <a:avLst/>
          </a:prstGeom>
          <a:noFill/>
          <a:ln>
            <a:noFill/>
          </a:ln>
        </p:spPr>
        <p:txBody>
          <a:bodyPr wrap="none" lIns="0" tIns="0" rIns="0" bIns="0" anchor="t"/>
          <a:lstStyle/>
          <a:p>
            <a:pPr algn="l">
              <a:lnSpc>
                <a:spcPts val="1125"/>
              </a:lnSpc>
              <a:spcBef>
                <a:spcPts val="0"/>
              </a:spcBef>
              <a:spcAft>
                <a:spcPts val="0"/>
              </a:spcAft>
            </a:pPr>
            <a:r>
              <a:rPr lang="fr-FR" sz="900" b="0">
                <a:solidFill>
                  <a:srgbClr val="64736B"/>
                </a:solidFill>
                <a:latin typeface="Segoe UI"/>
                <a:ea typeface="Segoe UI"/>
                <a:cs typeface="Tahoma"/>
              </a:rPr>
              <a:t xml:space="preserve">LMA3NA · Omar Elkhali · BDIOT</a:t>
            </a:r>
            <a:endParaRPr lang="fr-FR" sz="900"/>
          </a:p>
        </p:txBody>
      </p:sp>
      <p:sp>
        <p:nvSpPr>
          <p:cNvPr id="18" name="text-18"/>
          <p:cNvSpPr txBox="1"/>
          <p:nvPr/>
        </p:nvSpPr>
        <p:spPr>
          <a:xfrm>
            <a:off x="10763250" y="6572250"/>
            <a:ext cx="876300" cy="219075"/>
          </a:xfrm>
          <a:prstGeom prst="rect">
            <a:avLst/>
          </a:prstGeom>
          <a:noFill/>
          <a:ln>
            <a:noFill/>
          </a:ln>
        </p:spPr>
        <p:txBody>
          <a:bodyPr wrap="none" lIns="0" tIns="0" rIns="0" bIns="0" anchor="t"/>
          <a:lstStyle/>
          <a:p>
            <a:pPr algn="r">
              <a:lnSpc>
                <a:spcPts val="1125"/>
              </a:lnSpc>
              <a:spcBef>
                <a:spcPts val="0"/>
              </a:spcBef>
              <a:spcAft>
                <a:spcPts val="0"/>
              </a:spcAft>
            </a:pPr>
            <a:r>
              <a:rPr lang="fr-FR" sz="900" b="0">
                <a:solidFill>
                  <a:srgbClr val="64736B"/>
                </a:solidFill>
                <a:latin typeface="Segoe UI"/>
                <a:ea typeface="Segoe UI"/>
                <a:cs typeface="Tahoma"/>
              </a:rPr>
              <a:t xml:space="preserve">04 / 38</a:t>
            </a:r>
            <a:endParaRPr lang="fr-FR" sz="9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5F4EE"/>
        </a:solidFill>
        <a:effectLst/>
      </p:bgPr>
    </p:bg>
    <p:spTree>
      <p:nvGrpSpPr>
        <p:cNvPr id="1" name=""/>
        <p:cNvGrpSpPr/>
        <p:nvPr/>
      </p:nvGrpSpPr>
      <p:grpSpPr>
        <a:xfrm>
          <a:off x="0" y="0"/>
          <a:ext cx="0" cy="0"/>
          <a:chOff x="0" y="0"/>
          <a:chExt cx="0" cy="0"/>
        </a:xfrm>
      </p:grpSpPr>
      <p:sp>
        <p:nvSpPr>
          <p:cNvPr id="2" name="rect-2"/>
          <p:cNvSpPr txBox="1"/>
          <p:nvPr/>
        </p:nvSpPr>
        <p:spPr>
          <a:xfrm>
            <a:off x="552450" y="361950"/>
            <a:ext cx="400050" cy="38100"/>
          </a:xfrm>
          <a:prstGeom prst="rect">
            <a:avLst/>
          </a:prstGeom>
          <a:solidFill>
            <a:srgbClr val="E6A477"/>
          </a:solidFill>
          <a:ln>
            <a:noFill/>
          </a:ln>
        </p:spPr>
      </p:sp>
      <p:sp>
        <p:nvSpPr>
          <p:cNvPr id="3" name="text-3"/>
          <p:cNvSpPr txBox="1"/>
          <p:nvPr/>
        </p:nvSpPr>
        <p:spPr>
          <a:xfrm>
            <a:off x="1066800" y="276225"/>
            <a:ext cx="10287000" cy="266700"/>
          </a:xfrm>
          <a:prstGeom prst="rect">
            <a:avLst/>
          </a:prstGeom>
          <a:noFill/>
          <a:ln>
            <a:noFill/>
          </a:ln>
        </p:spPr>
        <p:txBody>
          <a:bodyPr wrap="none" lIns="0" tIns="0" rIns="0" bIns="0" anchor="t"/>
          <a:lstStyle/>
          <a:p>
            <a:pPr algn="l">
              <a:lnSpc>
                <a:spcPts val="1406"/>
              </a:lnSpc>
              <a:spcBef>
                <a:spcPts val="0"/>
              </a:spcBef>
              <a:spcAft>
                <a:spcPts val="0"/>
              </a:spcAft>
            </a:pPr>
            <a:r>
              <a:rPr lang="fr-FR" sz="1125" b="1">
                <a:solidFill>
                  <a:srgbClr val="285D4B"/>
                </a:solidFill>
                <a:latin typeface="Segoe UI"/>
                <a:ea typeface="Segoe UI"/>
                <a:cs typeface="Tahoma"/>
              </a:rPr>
              <a:t xml:space="preserve">02 · DÉSÉQUILIBRE</a:t>
            </a:r>
            <a:endParaRPr lang="fr-FR" sz="1125"/>
          </a:p>
        </p:txBody>
      </p:sp>
      <p:sp>
        <p:nvSpPr>
          <p:cNvPr id="4" name="text-4"/>
          <p:cNvSpPr txBox="1"/>
          <p:nvPr/>
        </p:nvSpPr>
        <p:spPr>
          <a:xfrm>
            <a:off x="552450" y="790575"/>
            <a:ext cx="11087100" cy="1066800"/>
          </a:xfrm>
          <a:prstGeom prst="rect">
            <a:avLst/>
          </a:prstGeom>
          <a:noFill/>
          <a:ln>
            <a:noFill/>
          </a:ln>
        </p:spPr>
        <p:txBody>
          <a:bodyPr wrap="none" lIns="0" tIns="0" rIns="0" bIns="0" anchor="t"/>
          <a:lstStyle/>
          <a:p>
            <a:pPr algn="l">
              <a:lnSpc>
                <a:spcPts val="4031"/>
              </a:lnSpc>
              <a:spcBef>
                <a:spcPts val="0"/>
              </a:spcBef>
              <a:spcAft>
                <a:spcPts val="0"/>
              </a:spcAft>
            </a:pPr>
            <a:r>
              <a:rPr lang="fr-FR" sz="3225" b="1">
                <a:solidFill>
                  <a:srgbClr val="203A32"/>
                </a:solidFill>
                <a:latin typeface="Segoe UI"/>
                <a:ea typeface="Segoe UI"/>
                <a:cs typeface="Tahoma"/>
              </a:rPr>
              <a:t xml:space="preserve">L’accuracy masque facilement la classe rare</a:t>
            </a:r>
            <a:endParaRPr lang="fr-FR" sz="3225"/>
          </a:p>
        </p:txBody>
      </p:sp>
      <p:sp>
        <p:nvSpPr>
          <p:cNvPr id="5" name="text-5"/>
          <p:cNvSpPr txBox="1"/>
          <p:nvPr/>
        </p:nvSpPr>
        <p:spPr>
          <a:xfrm>
            <a:off x="552450" y="2047875"/>
            <a:ext cx="3238500" cy="857250"/>
          </a:xfrm>
          <a:prstGeom prst="rect">
            <a:avLst/>
          </a:prstGeom>
          <a:noFill/>
          <a:ln>
            <a:noFill/>
          </a:ln>
        </p:spPr>
        <p:txBody>
          <a:bodyPr wrap="none" lIns="0" tIns="0" rIns="0" bIns="0" anchor="t"/>
          <a:lstStyle/>
          <a:p>
            <a:pPr algn="l">
              <a:lnSpc>
                <a:spcPts val="6094"/>
              </a:lnSpc>
              <a:spcBef>
                <a:spcPts val="0"/>
              </a:spcBef>
              <a:spcAft>
                <a:spcPts val="0"/>
              </a:spcAft>
            </a:pPr>
            <a:r>
              <a:rPr lang="fr-FR" sz="4875" b="1">
                <a:solidFill>
                  <a:srgbClr val="285D4B"/>
                </a:solidFill>
                <a:latin typeface="Segoe UI"/>
                <a:ea typeface="Segoe UI"/>
                <a:cs typeface="Tahoma"/>
              </a:rPr>
              <a:t xml:space="preserve">17,29 %</a:t>
            </a:r>
            <a:endParaRPr lang="fr-FR" sz="4875"/>
          </a:p>
        </p:txBody>
      </p:sp>
      <p:sp>
        <p:nvSpPr>
          <p:cNvPr id="6" name="text-6"/>
          <p:cNvSpPr txBox="1"/>
          <p:nvPr/>
        </p:nvSpPr>
        <p:spPr>
          <a:xfrm>
            <a:off x="552450" y="3000375"/>
            <a:ext cx="3238500" cy="685800"/>
          </a:xfrm>
          <a:prstGeom prst="rect">
            <a:avLst/>
          </a:prstGeom>
          <a:noFill/>
          <a:ln>
            <a:noFill/>
          </a:ln>
        </p:spPr>
        <p:txBody>
          <a:bodyPr wrap="none" lIns="0" tIns="0" rIns="0" bIns="0" anchor="t"/>
          <a:lstStyle/>
          <a:p>
            <a:pPr algn="l">
              <a:lnSpc>
                <a:spcPts val="2250"/>
              </a:lnSpc>
              <a:spcBef>
                <a:spcPts val="0"/>
              </a:spcBef>
              <a:spcAft>
                <a:spcPts val="0"/>
              </a:spcAft>
            </a:pPr>
            <a:r>
              <a:rPr lang="fr-FR" sz="1800" b="1">
                <a:solidFill>
                  <a:srgbClr val="203A32"/>
                </a:solidFill>
                <a:latin typeface="Segoe UI"/>
                <a:ea typeface="Segoe UI"/>
                <a:cs typeface="Tahoma"/>
              </a:rPr>
              <a:t xml:space="preserve">Sarcasme sur validation</a:t>
            </a:r>
            <a:endParaRPr lang="fr-FR" sz="1800"/>
          </a:p>
        </p:txBody>
      </p:sp>
      <p:sp>
        <p:nvSpPr>
          <p:cNvPr id="7" name="text-7"/>
          <p:cNvSpPr txBox="1"/>
          <p:nvPr/>
        </p:nvSpPr>
        <p:spPr>
          <a:xfrm>
            <a:off x="552450" y="3686175"/>
            <a:ext cx="3238500" cy="1619250"/>
          </a:xfrm>
          <a:prstGeom prst="rect">
            <a:avLst/>
          </a:prstGeom>
          <a:noFill/>
          <a:ln>
            <a:noFill/>
          </a:ln>
        </p:spPr>
        <p:txBody>
          <a:bodyPr wrap="none" lIns="0" tIns="0" rIns="0" bIns="0" anchor="t"/>
          <a:lstStyle/>
          <a:p>
            <a:pPr algn="l">
              <a:lnSpc>
                <a:spcPts val="2062"/>
              </a:lnSpc>
              <a:spcBef>
                <a:spcPts val="0"/>
              </a:spcBef>
              <a:spcAft>
                <a:spcPts val="0"/>
              </a:spcAft>
            </a:pPr>
            <a:r>
              <a:rPr lang="fr-FR" sz="1650" b="0">
                <a:solidFill>
                  <a:srgbClr val="64736B"/>
                </a:solidFill>
                <a:latin typeface="Segoe UI"/>
                <a:ea typeface="Segoe UI"/>
                <a:cs typeface="Tahoma"/>
              </a:rPr>
              <a:t xml:space="preserve">217 exemples positifs parmi 1 255</a:t>
            </a:r>
            <a:endParaRPr lang="fr-FR" sz="1650"/>
          </a:p>
        </p:txBody>
      </p:sp>
      <p:sp>
        <p:nvSpPr>
          <p:cNvPr id="8" name="text-8"/>
          <p:cNvSpPr txBox="1"/>
          <p:nvPr/>
        </p:nvSpPr>
        <p:spPr>
          <a:xfrm>
            <a:off x="4333875" y="2047875"/>
            <a:ext cx="3238500" cy="857250"/>
          </a:xfrm>
          <a:prstGeom prst="rect">
            <a:avLst/>
          </a:prstGeom>
          <a:noFill/>
          <a:ln>
            <a:noFill/>
          </a:ln>
        </p:spPr>
        <p:txBody>
          <a:bodyPr wrap="none" lIns="0" tIns="0" rIns="0" bIns="0" anchor="t"/>
          <a:lstStyle/>
          <a:p>
            <a:pPr algn="l">
              <a:lnSpc>
                <a:spcPts val="6094"/>
              </a:lnSpc>
              <a:spcBef>
                <a:spcPts val="0"/>
              </a:spcBef>
              <a:spcAft>
                <a:spcPts val="0"/>
              </a:spcAft>
            </a:pPr>
            <a:r>
              <a:rPr lang="fr-FR" sz="4875" b="1">
                <a:solidFill>
                  <a:srgbClr val="285D4B"/>
                </a:solidFill>
                <a:latin typeface="Segoe UI"/>
                <a:ea typeface="Segoe UI"/>
                <a:cs typeface="Tahoma"/>
              </a:rPr>
              <a:t xml:space="preserve">82,71 %</a:t>
            </a:r>
            <a:endParaRPr lang="fr-FR" sz="4875"/>
          </a:p>
        </p:txBody>
      </p:sp>
      <p:sp>
        <p:nvSpPr>
          <p:cNvPr id="9" name="text-9"/>
          <p:cNvSpPr txBox="1"/>
          <p:nvPr/>
        </p:nvSpPr>
        <p:spPr>
          <a:xfrm>
            <a:off x="4333875" y="3000375"/>
            <a:ext cx="3238500" cy="685800"/>
          </a:xfrm>
          <a:prstGeom prst="rect">
            <a:avLst/>
          </a:prstGeom>
          <a:noFill/>
          <a:ln>
            <a:noFill/>
          </a:ln>
        </p:spPr>
        <p:txBody>
          <a:bodyPr wrap="none" lIns="0" tIns="0" rIns="0" bIns="0" anchor="t"/>
          <a:lstStyle/>
          <a:p>
            <a:pPr algn="l">
              <a:lnSpc>
                <a:spcPts val="2250"/>
              </a:lnSpc>
              <a:spcBef>
                <a:spcPts val="0"/>
              </a:spcBef>
              <a:spcAft>
                <a:spcPts val="0"/>
              </a:spcAft>
            </a:pPr>
            <a:r>
              <a:rPr lang="fr-FR" sz="1800" b="1">
                <a:solidFill>
                  <a:srgbClr val="203A32"/>
                </a:solidFill>
                <a:latin typeface="Segoe UI"/>
                <a:ea typeface="Segoe UI"/>
                <a:cs typeface="Tahoma"/>
              </a:rPr>
              <a:t xml:space="preserve">Accuracy sans détecter</a:t>
            </a:r>
            <a:endParaRPr lang="fr-FR" sz="1800"/>
          </a:p>
          <a:p>
            <a:pPr algn="l">
              <a:lnSpc>
                <a:spcPts val="2250"/>
              </a:lnSpc>
              <a:spcBef>
                <a:spcPts val="0"/>
              </a:spcBef>
              <a:spcAft>
                <a:spcPts val="0"/>
              </a:spcAft>
            </a:pPr>
            <a:r>
              <a:rPr lang="fr-FR" sz="1800" b="1">
                <a:solidFill>
                  <a:srgbClr val="203A32"/>
                </a:solidFill>
                <a:latin typeface="Segoe UI"/>
                <a:ea typeface="Segoe UI"/>
                <a:cs typeface="Tahoma"/>
              </a:rPr>
              <a:t xml:space="preserve">un seul sarcasme</a:t>
            </a:r>
            <a:endParaRPr lang="fr-FR" sz="1800"/>
          </a:p>
        </p:txBody>
      </p:sp>
      <p:sp>
        <p:nvSpPr>
          <p:cNvPr id="10" name="text-10"/>
          <p:cNvSpPr txBox="1"/>
          <p:nvPr/>
        </p:nvSpPr>
        <p:spPr>
          <a:xfrm>
            <a:off x="4333875" y="3686175"/>
            <a:ext cx="3238500" cy="1619250"/>
          </a:xfrm>
          <a:prstGeom prst="rect">
            <a:avLst/>
          </a:prstGeom>
          <a:noFill/>
          <a:ln>
            <a:noFill/>
          </a:ln>
        </p:spPr>
        <p:txBody>
          <a:bodyPr wrap="none" lIns="0" tIns="0" rIns="0" bIns="0" anchor="t"/>
          <a:lstStyle/>
          <a:p>
            <a:pPr algn="l">
              <a:lnSpc>
                <a:spcPts val="2062"/>
              </a:lnSpc>
              <a:spcBef>
                <a:spcPts val="0"/>
              </a:spcBef>
              <a:spcAft>
                <a:spcPts val="0"/>
              </a:spcAft>
            </a:pPr>
            <a:r>
              <a:rPr lang="fr-FR" sz="1650" b="0">
                <a:solidFill>
                  <a:srgbClr val="64736B"/>
                </a:solidFill>
                <a:latin typeface="Segoe UI"/>
                <a:ea typeface="Segoe UI"/>
                <a:cs typeface="Tahoma"/>
              </a:rPr>
              <a:t xml:space="preserve">Un classifieur toujours négatif</a:t>
            </a:r>
            <a:endParaRPr lang="fr-FR" sz="1650"/>
          </a:p>
          <a:p>
            <a:pPr algn="l">
              <a:lnSpc>
                <a:spcPts val="2062"/>
              </a:lnSpc>
              <a:spcBef>
                <a:spcPts val="0"/>
              </a:spcBef>
              <a:spcAft>
                <a:spcPts val="0"/>
              </a:spcAft>
            </a:pPr>
            <a:r>
              <a:rPr lang="fr-FR" sz="1650" b="0">
                <a:solidFill>
                  <a:srgbClr val="64736B"/>
                </a:solidFill>
                <a:latin typeface="Segoe UI"/>
                <a:ea typeface="Segoe UI"/>
                <a:cs typeface="Tahoma"/>
              </a:rPr>
              <a:t xml:space="preserve">obtient pourtant un F1 sarcastique</a:t>
            </a:r>
            <a:endParaRPr lang="fr-FR" sz="1650"/>
          </a:p>
          <a:p>
            <a:pPr algn="l">
              <a:lnSpc>
                <a:spcPts val="2062"/>
              </a:lnSpc>
              <a:spcBef>
                <a:spcPts val="0"/>
              </a:spcBef>
              <a:spcAft>
                <a:spcPts val="0"/>
              </a:spcAft>
            </a:pPr>
            <a:r>
              <a:rPr lang="fr-FR" sz="1650" b="0">
                <a:solidFill>
                  <a:srgbClr val="64736B"/>
                </a:solidFill>
                <a:latin typeface="Segoe UI"/>
                <a:ea typeface="Segoe UI"/>
                <a:cs typeface="Tahoma"/>
              </a:rPr>
              <a:t xml:space="preserve">nul</a:t>
            </a:r>
            <a:endParaRPr lang="fr-FR" sz="1650"/>
          </a:p>
        </p:txBody>
      </p:sp>
      <p:sp>
        <p:nvSpPr>
          <p:cNvPr id="11" name="text-11"/>
          <p:cNvSpPr txBox="1"/>
          <p:nvPr/>
        </p:nvSpPr>
        <p:spPr>
          <a:xfrm>
            <a:off x="8115300" y="2047875"/>
            <a:ext cx="3238500" cy="857250"/>
          </a:xfrm>
          <a:prstGeom prst="rect">
            <a:avLst/>
          </a:prstGeom>
          <a:noFill/>
          <a:ln>
            <a:noFill/>
          </a:ln>
        </p:spPr>
        <p:txBody>
          <a:bodyPr wrap="none" lIns="0" tIns="0" rIns="0" bIns="0" anchor="t"/>
          <a:lstStyle/>
          <a:p>
            <a:pPr algn="l">
              <a:lnSpc>
                <a:spcPts val="6094"/>
              </a:lnSpc>
              <a:spcBef>
                <a:spcPts val="0"/>
              </a:spcBef>
              <a:spcAft>
                <a:spcPts val="0"/>
              </a:spcAft>
            </a:pPr>
            <a:r>
              <a:rPr lang="fr-FR" sz="4875" b="1">
                <a:solidFill>
                  <a:srgbClr val="285D4B"/>
                </a:solidFill>
                <a:latin typeface="Segoe UI"/>
                <a:ea typeface="Segoe UI"/>
                <a:cs typeface="Tahoma"/>
              </a:rPr>
              <a:t xml:space="preserve">F1 + AP</a:t>
            </a:r>
            <a:endParaRPr lang="fr-FR" sz="4875"/>
          </a:p>
        </p:txBody>
      </p:sp>
      <p:sp>
        <p:nvSpPr>
          <p:cNvPr id="12" name="text-12"/>
          <p:cNvSpPr txBox="1"/>
          <p:nvPr/>
        </p:nvSpPr>
        <p:spPr>
          <a:xfrm>
            <a:off x="8115300" y="3000375"/>
            <a:ext cx="3238500" cy="685800"/>
          </a:xfrm>
          <a:prstGeom prst="rect">
            <a:avLst/>
          </a:prstGeom>
          <a:noFill/>
          <a:ln>
            <a:noFill/>
          </a:ln>
        </p:spPr>
        <p:txBody>
          <a:bodyPr wrap="none" lIns="0" tIns="0" rIns="0" bIns="0" anchor="t"/>
          <a:lstStyle/>
          <a:p>
            <a:pPr algn="l">
              <a:lnSpc>
                <a:spcPts val="2250"/>
              </a:lnSpc>
              <a:spcBef>
                <a:spcPts val="0"/>
              </a:spcBef>
              <a:spcAft>
                <a:spcPts val="0"/>
              </a:spcAft>
            </a:pPr>
            <a:r>
              <a:rPr lang="fr-FR" sz="1800" b="1">
                <a:solidFill>
                  <a:srgbClr val="203A32"/>
                </a:solidFill>
                <a:latin typeface="Segoe UI"/>
                <a:ea typeface="Segoe UI"/>
                <a:cs typeface="Tahoma"/>
              </a:rPr>
              <a:t xml:space="preserve">Métriques retenues</a:t>
            </a:r>
            <a:endParaRPr lang="fr-FR" sz="1800"/>
          </a:p>
        </p:txBody>
      </p:sp>
      <p:sp>
        <p:nvSpPr>
          <p:cNvPr id="13" name="text-13"/>
          <p:cNvSpPr txBox="1"/>
          <p:nvPr/>
        </p:nvSpPr>
        <p:spPr>
          <a:xfrm>
            <a:off x="8115300" y="3686175"/>
            <a:ext cx="3238500" cy="1619250"/>
          </a:xfrm>
          <a:prstGeom prst="rect">
            <a:avLst/>
          </a:prstGeom>
          <a:noFill/>
          <a:ln>
            <a:noFill/>
          </a:ln>
        </p:spPr>
        <p:txBody>
          <a:bodyPr wrap="none" lIns="0" tIns="0" rIns="0" bIns="0" anchor="t"/>
          <a:lstStyle/>
          <a:p>
            <a:pPr algn="l">
              <a:lnSpc>
                <a:spcPts val="2062"/>
              </a:lnSpc>
              <a:spcBef>
                <a:spcPts val="0"/>
              </a:spcBef>
              <a:spcAft>
                <a:spcPts val="0"/>
              </a:spcAft>
            </a:pPr>
            <a:r>
              <a:rPr lang="fr-FR" sz="1650" b="0">
                <a:solidFill>
                  <a:srgbClr val="64736B"/>
                </a:solidFill>
                <a:latin typeface="Segoe UI"/>
                <a:ea typeface="Segoe UI"/>
                <a:cs typeface="Tahoma"/>
              </a:rPr>
              <a:t xml:space="preserve">F1 de la classe sarcastique,</a:t>
            </a:r>
            <a:endParaRPr lang="fr-FR" sz="1650"/>
          </a:p>
          <a:p>
            <a:pPr algn="l">
              <a:lnSpc>
                <a:spcPts val="2062"/>
              </a:lnSpc>
              <a:spcBef>
                <a:spcPts val="0"/>
              </a:spcBef>
              <a:spcAft>
                <a:spcPts val="0"/>
              </a:spcAft>
            </a:pPr>
            <a:r>
              <a:rPr lang="fr-FR" sz="1650" b="0">
                <a:solidFill>
                  <a:srgbClr val="64736B"/>
                </a:solidFill>
                <a:latin typeface="Segoe UI"/>
                <a:ea typeface="Segoe UI"/>
                <a:cs typeface="Tahoma"/>
              </a:rPr>
              <a:t xml:space="preserve">macro-F1 et Average Precision</a:t>
            </a:r>
            <a:endParaRPr lang="fr-FR" sz="1650"/>
          </a:p>
        </p:txBody>
      </p:sp>
      <p:sp>
        <p:nvSpPr>
          <p:cNvPr id="14" name="rect-14"/>
          <p:cNvSpPr txBox="1"/>
          <p:nvPr/>
        </p:nvSpPr>
        <p:spPr>
          <a:xfrm>
            <a:off x="552450" y="5810250"/>
            <a:ext cx="11087100" cy="542925"/>
          </a:xfrm>
          <a:prstGeom prst="rect">
            <a:avLst/>
          </a:prstGeom>
          <a:solidFill>
            <a:srgbClr val="DDE7D6"/>
          </a:solidFill>
          <a:ln>
            <a:noFill/>
          </a:ln>
        </p:spPr>
      </p:sp>
      <p:sp>
        <p:nvSpPr>
          <p:cNvPr id="15" name="text-15"/>
          <p:cNvSpPr txBox="1"/>
          <p:nvPr/>
        </p:nvSpPr>
        <p:spPr>
          <a:xfrm>
            <a:off x="723900" y="5857875"/>
            <a:ext cx="10715625" cy="476250"/>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285D4B"/>
                </a:solidFill>
                <a:latin typeface="Segoe UI"/>
                <a:ea typeface="Segoe UI"/>
                <a:cs typeface="Tahoma"/>
              </a:rPr>
              <a:t xml:space="preserve">Le F1 combine précision et rappel. L’AP résume la courbe précision–rappel sur plusieurs seuils.</a:t>
            </a:r>
            <a:endParaRPr lang="fr-FR" sz="1350"/>
          </a:p>
        </p:txBody>
      </p:sp>
      <p:cxnSp>
        <p:nvCxnSpPr>
          <p:cNvPr id="16" name="line-16"/>
          <p:cNvCxnSpPr/>
          <p:nvPr/>
        </p:nvCxnSpPr>
        <p:spPr>
          <a:xfrm>
            <a:off x="552450" y="6505575"/>
            <a:ext cx="11087100" cy="0"/>
          </a:xfrm>
          <a:prstGeom prst="line">
            <a:avLst/>
          </a:prstGeom>
          <a:ln w="9525">
            <a:solidFill>
              <a:srgbClr val="D4DBCE"/>
            </a:solidFill>
          </a:ln>
        </p:spPr>
      </p:cxnSp>
      <p:sp>
        <p:nvSpPr>
          <p:cNvPr id="17" name="text-17"/>
          <p:cNvSpPr txBox="1"/>
          <p:nvPr/>
        </p:nvSpPr>
        <p:spPr>
          <a:xfrm>
            <a:off x="552450" y="6572250"/>
            <a:ext cx="8572500" cy="219075"/>
          </a:xfrm>
          <a:prstGeom prst="rect">
            <a:avLst/>
          </a:prstGeom>
          <a:noFill/>
          <a:ln>
            <a:noFill/>
          </a:ln>
        </p:spPr>
        <p:txBody>
          <a:bodyPr wrap="none" lIns="0" tIns="0" rIns="0" bIns="0" anchor="t"/>
          <a:lstStyle/>
          <a:p>
            <a:pPr algn="l">
              <a:lnSpc>
                <a:spcPts val="1125"/>
              </a:lnSpc>
              <a:spcBef>
                <a:spcPts val="0"/>
              </a:spcBef>
              <a:spcAft>
                <a:spcPts val="0"/>
              </a:spcAft>
            </a:pPr>
            <a:r>
              <a:rPr lang="fr-FR" sz="900" b="0">
                <a:solidFill>
                  <a:srgbClr val="64736B"/>
                </a:solidFill>
                <a:latin typeface="Segoe UI"/>
                <a:ea typeface="Segoe UI"/>
                <a:cs typeface="Tahoma"/>
              </a:rPr>
              <a:t xml:space="preserve">LMA3NA · Omar Elkhali · BDIOT</a:t>
            </a:r>
            <a:endParaRPr lang="fr-FR" sz="900"/>
          </a:p>
        </p:txBody>
      </p:sp>
      <p:sp>
        <p:nvSpPr>
          <p:cNvPr id="18" name="text-18"/>
          <p:cNvSpPr txBox="1"/>
          <p:nvPr/>
        </p:nvSpPr>
        <p:spPr>
          <a:xfrm>
            <a:off x="10763250" y="6572250"/>
            <a:ext cx="876300" cy="219075"/>
          </a:xfrm>
          <a:prstGeom prst="rect">
            <a:avLst/>
          </a:prstGeom>
          <a:noFill/>
          <a:ln>
            <a:noFill/>
          </a:ln>
        </p:spPr>
        <p:txBody>
          <a:bodyPr wrap="none" lIns="0" tIns="0" rIns="0" bIns="0" anchor="t"/>
          <a:lstStyle/>
          <a:p>
            <a:pPr algn="r">
              <a:lnSpc>
                <a:spcPts val="1125"/>
              </a:lnSpc>
              <a:spcBef>
                <a:spcPts val="0"/>
              </a:spcBef>
              <a:spcAft>
                <a:spcPts val="0"/>
              </a:spcAft>
            </a:pPr>
            <a:r>
              <a:rPr lang="fr-FR" sz="900" b="0">
                <a:solidFill>
                  <a:srgbClr val="64736B"/>
                </a:solidFill>
                <a:latin typeface="Segoe UI"/>
                <a:ea typeface="Segoe UI"/>
                <a:cs typeface="Tahoma"/>
              </a:rPr>
              <a:t xml:space="preserve">05 / 38</a:t>
            </a:r>
            <a:endParaRPr lang="fr-FR" sz="9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5F4EE"/>
        </a:solidFill>
        <a:effectLst/>
      </p:bgPr>
    </p:bg>
    <p:spTree>
      <p:nvGrpSpPr>
        <p:cNvPr id="1" name=""/>
        <p:cNvGrpSpPr/>
        <p:nvPr/>
      </p:nvGrpSpPr>
      <p:grpSpPr>
        <a:xfrm>
          <a:off x="0" y="0"/>
          <a:ext cx="0" cy="0"/>
          <a:chOff x="0" y="0"/>
          <a:chExt cx="0" cy="0"/>
        </a:xfrm>
      </p:grpSpPr>
      <p:sp>
        <p:nvSpPr>
          <p:cNvPr id="2" name="rect-2"/>
          <p:cNvSpPr txBox="1"/>
          <p:nvPr/>
        </p:nvSpPr>
        <p:spPr>
          <a:xfrm>
            <a:off x="552450" y="361950"/>
            <a:ext cx="400050" cy="38100"/>
          </a:xfrm>
          <a:prstGeom prst="rect">
            <a:avLst/>
          </a:prstGeom>
          <a:solidFill>
            <a:srgbClr val="E6A477"/>
          </a:solidFill>
          <a:ln>
            <a:noFill/>
          </a:ln>
        </p:spPr>
      </p:sp>
      <p:sp>
        <p:nvSpPr>
          <p:cNvPr id="3" name="text-3"/>
          <p:cNvSpPr txBox="1"/>
          <p:nvPr/>
        </p:nvSpPr>
        <p:spPr>
          <a:xfrm>
            <a:off x="1066800" y="276225"/>
            <a:ext cx="10287000" cy="266700"/>
          </a:xfrm>
          <a:prstGeom prst="rect">
            <a:avLst/>
          </a:prstGeom>
          <a:noFill/>
          <a:ln>
            <a:noFill/>
          </a:ln>
        </p:spPr>
        <p:txBody>
          <a:bodyPr wrap="none" lIns="0" tIns="0" rIns="0" bIns="0" anchor="t"/>
          <a:lstStyle/>
          <a:p>
            <a:pPr algn="l">
              <a:lnSpc>
                <a:spcPts val="1406"/>
              </a:lnSpc>
              <a:spcBef>
                <a:spcPts val="0"/>
              </a:spcBef>
              <a:spcAft>
                <a:spcPts val="0"/>
              </a:spcAft>
            </a:pPr>
            <a:r>
              <a:rPr lang="fr-FR" sz="1125" b="1">
                <a:solidFill>
                  <a:srgbClr val="285D4B"/>
                </a:solidFill>
                <a:latin typeface="Segoe UI"/>
                <a:ea typeface="Segoe UI"/>
                <a:cs typeface="Tahoma"/>
              </a:rPr>
              <a:t xml:space="preserve">02 · AUDIT</a:t>
            </a:r>
            <a:endParaRPr lang="fr-FR" sz="1125"/>
          </a:p>
        </p:txBody>
      </p:sp>
      <p:sp>
        <p:nvSpPr>
          <p:cNvPr id="4" name="text-4"/>
          <p:cNvSpPr txBox="1"/>
          <p:nvPr/>
        </p:nvSpPr>
        <p:spPr>
          <a:xfrm>
            <a:off x="552450" y="790575"/>
            <a:ext cx="11087100" cy="1066800"/>
          </a:xfrm>
          <a:prstGeom prst="rect">
            <a:avLst/>
          </a:prstGeom>
          <a:noFill/>
          <a:ln>
            <a:noFill/>
          </a:ln>
        </p:spPr>
        <p:txBody>
          <a:bodyPr wrap="none" lIns="0" tIns="0" rIns="0" bIns="0" anchor="t"/>
          <a:lstStyle/>
          <a:p>
            <a:pPr algn="l">
              <a:lnSpc>
                <a:spcPts val="4031"/>
              </a:lnSpc>
              <a:spcBef>
                <a:spcPts val="0"/>
              </a:spcBef>
              <a:spcAft>
                <a:spcPts val="0"/>
              </a:spcAft>
            </a:pPr>
            <a:r>
              <a:rPr lang="fr-FR" sz="3225" b="1">
                <a:solidFill>
                  <a:srgbClr val="203A32"/>
                </a:solidFill>
                <a:latin typeface="Segoe UI"/>
                <a:ea typeface="Segoe UI"/>
                <a:cs typeface="Tahoma"/>
              </a:rPr>
              <a:t xml:space="preserve">Les collisions et contradictions sont traitées avant</a:t>
            </a:r>
            <a:endParaRPr lang="fr-FR" sz="3225"/>
          </a:p>
          <a:p>
            <a:pPr algn="l">
              <a:lnSpc>
                <a:spcPts val="4031"/>
              </a:lnSpc>
              <a:spcBef>
                <a:spcPts val="0"/>
              </a:spcBef>
              <a:spcAft>
                <a:spcPts val="0"/>
              </a:spcAft>
            </a:pPr>
            <a:r>
              <a:rPr lang="fr-FR" sz="3225" b="1">
                <a:solidFill>
                  <a:srgbClr val="203A32"/>
                </a:solidFill>
                <a:latin typeface="Segoe UI"/>
                <a:ea typeface="Segoe UI"/>
                <a:cs typeface="Tahoma"/>
              </a:rPr>
              <a:t xml:space="preserve">l’apprentissage</a:t>
            </a:r>
            <a:endParaRPr lang="fr-FR" sz="3225"/>
          </a:p>
        </p:txBody>
      </p:sp>
      <p:sp>
        <p:nvSpPr>
          <p:cNvPr id="5" name="text-5"/>
          <p:cNvSpPr txBox="1"/>
          <p:nvPr/>
        </p:nvSpPr>
        <p:spPr>
          <a:xfrm>
            <a:off x="552450" y="2047875"/>
            <a:ext cx="2381250" cy="857250"/>
          </a:xfrm>
          <a:prstGeom prst="rect">
            <a:avLst/>
          </a:prstGeom>
          <a:noFill/>
          <a:ln>
            <a:noFill/>
          </a:ln>
        </p:spPr>
        <p:txBody>
          <a:bodyPr wrap="none" lIns="0" tIns="0" rIns="0" bIns="0" anchor="t"/>
          <a:lstStyle/>
          <a:p>
            <a:pPr algn="l">
              <a:lnSpc>
                <a:spcPts val="6188"/>
              </a:lnSpc>
              <a:spcBef>
                <a:spcPts val="0"/>
              </a:spcBef>
              <a:spcAft>
                <a:spcPts val="0"/>
              </a:spcAft>
            </a:pPr>
            <a:r>
              <a:rPr lang="fr-FR" sz="4950" b="1">
                <a:solidFill>
                  <a:srgbClr val="285D4B"/>
                </a:solidFill>
                <a:latin typeface="Segoe UI"/>
                <a:ea typeface="Segoe UI"/>
                <a:cs typeface="Tahoma"/>
              </a:rPr>
              <a:t xml:space="preserve">2</a:t>
            </a:r>
            <a:endParaRPr lang="fr-FR" sz="4950"/>
          </a:p>
        </p:txBody>
      </p:sp>
      <p:sp>
        <p:nvSpPr>
          <p:cNvPr id="6" name="text-6"/>
          <p:cNvSpPr txBox="1"/>
          <p:nvPr/>
        </p:nvSpPr>
        <p:spPr>
          <a:xfrm>
            <a:off x="552450" y="3019425"/>
            <a:ext cx="2400300" cy="952500"/>
          </a:xfrm>
          <a:prstGeom prst="rect">
            <a:avLst/>
          </a:prstGeom>
          <a:noFill/>
          <a:ln>
            <a:noFill/>
          </a:ln>
        </p:spPr>
        <p:txBody>
          <a:bodyPr wrap="none" lIns="0" tIns="0" rIns="0" bIns="0" anchor="t"/>
          <a:lstStyle/>
          <a:p>
            <a:pPr algn="l">
              <a:lnSpc>
                <a:spcPts val="2250"/>
              </a:lnSpc>
              <a:spcBef>
                <a:spcPts val="0"/>
              </a:spcBef>
              <a:spcAft>
                <a:spcPts val="0"/>
              </a:spcAft>
            </a:pPr>
            <a:r>
              <a:rPr lang="fr-FR" sz="1800" b="1">
                <a:solidFill>
                  <a:srgbClr val="203A32"/>
                </a:solidFill>
                <a:latin typeface="Segoe UI"/>
                <a:ea typeface="Segoe UI"/>
                <a:cs typeface="Tahoma"/>
              </a:rPr>
              <a:t xml:space="preserve">Collisions train/test</a:t>
            </a:r>
            <a:endParaRPr lang="fr-FR" sz="1800"/>
          </a:p>
        </p:txBody>
      </p:sp>
      <p:sp>
        <p:nvSpPr>
          <p:cNvPr id="7" name="text-7"/>
          <p:cNvSpPr txBox="1"/>
          <p:nvPr/>
        </p:nvSpPr>
        <p:spPr>
          <a:xfrm>
            <a:off x="3381375" y="2047875"/>
            <a:ext cx="2381250" cy="857250"/>
          </a:xfrm>
          <a:prstGeom prst="rect">
            <a:avLst/>
          </a:prstGeom>
          <a:noFill/>
          <a:ln>
            <a:noFill/>
          </a:ln>
        </p:spPr>
        <p:txBody>
          <a:bodyPr wrap="none" lIns="0" tIns="0" rIns="0" bIns="0" anchor="t"/>
          <a:lstStyle/>
          <a:p>
            <a:pPr algn="l">
              <a:lnSpc>
                <a:spcPts val="6188"/>
              </a:lnSpc>
              <a:spcBef>
                <a:spcPts val="0"/>
              </a:spcBef>
              <a:spcAft>
                <a:spcPts val="0"/>
              </a:spcAft>
            </a:pPr>
            <a:r>
              <a:rPr lang="fr-FR" sz="4950" b="1">
                <a:solidFill>
                  <a:srgbClr val="285D4B"/>
                </a:solidFill>
                <a:latin typeface="Segoe UI"/>
                <a:ea typeface="Segoe UI"/>
                <a:cs typeface="Tahoma"/>
              </a:rPr>
              <a:t xml:space="preserve">72</a:t>
            </a:r>
            <a:endParaRPr lang="fr-FR" sz="4950"/>
          </a:p>
        </p:txBody>
      </p:sp>
      <p:sp>
        <p:nvSpPr>
          <p:cNvPr id="8" name="text-8"/>
          <p:cNvSpPr txBox="1"/>
          <p:nvPr/>
        </p:nvSpPr>
        <p:spPr>
          <a:xfrm>
            <a:off x="3381375" y="3019425"/>
            <a:ext cx="2400300" cy="952500"/>
          </a:xfrm>
          <a:prstGeom prst="rect">
            <a:avLst/>
          </a:prstGeom>
          <a:noFill/>
          <a:ln>
            <a:noFill/>
          </a:ln>
        </p:spPr>
        <p:txBody>
          <a:bodyPr wrap="none" lIns="0" tIns="0" rIns="0" bIns="0" anchor="t"/>
          <a:lstStyle/>
          <a:p>
            <a:pPr algn="l">
              <a:lnSpc>
                <a:spcPts val="2250"/>
              </a:lnSpc>
              <a:spcBef>
                <a:spcPts val="0"/>
              </a:spcBef>
              <a:spcAft>
                <a:spcPts val="0"/>
              </a:spcAft>
            </a:pPr>
            <a:r>
              <a:rPr lang="fr-FR" sz="1800" b="1">
                <a:solidFill>
                  <a:srgbClr val="203A32"/>
                </a:solidFill>
                <a:latin typeface="Segoe UI"/>
                <a:ea typeface="Segoe UI"/>
                <a:cs typeface="Tahoma"/>
              </a:rPr>
              <a:t xml:space="preserve">Collisions train/val</a:t>
            </a:r>
            <a:endParaRPr lang="fr-FR" sz="1800"/>
          </a:p>
        </p:txBody>
      </p:sp>
      <p:sp>
        <p:nvSpPr>
          <p:cNvPr id="9" name="text-9"/>
          <p:cNvSpPr txBox="1"/>
          <p:nvPr/>
        </p:nvSpPr>
        <p:spPr>
          <a:xfrm>
            <a:off x="6210300" y="2047875"/>
            <a:ext cx="2381250" cy="857250"/>
          </a:xfrm>
          <a:prstGeom prst="rect">
            <a:avLst/>
          </a:prstGeom>
          <a:noFill/>
          <a:ln>
            <a:noFill/>
          </a:ln>
        </p:spPr>
        <p:txBody>
          <a:bodyPr wrap="none" lIns="0" tIns="0" rIns="0" bIns="0" anchor="t"/>
          <a:lstStyle/>
          <a:p>
            <a:pPr algn="l">
              <a:lnSpc>
                <a:spcPts val="6188"/>
              </a:lnSpc>
              <a:spcBef>
                <a:spcPts val="0"/>
              </a:spcBef>
              <a:spcAft>
                <a:spcPts val="0"/>
              </a:spcAft>
            </a:pPr>
            <a:r>
              <a:rPr lang="fr-FR" sz="4950" b="1">
                <a:solidFill>
                  <a:srgbClr val="285D4B"/>
                </a:solidFill>
                <a:latin typeface="Segoe UI"/>
                <a:ea typeface="Segoe UI"/>
                <a:cs typeface="Tahoma"/>
              </a:rPr>
              <a:t xml:space="preserve">331</a:t>
            </a:r>
            <a:endParaRPr lang="fr-FR" sz="4950"/>
          </a:p>
        </p:txBody>
      </p:sp>
      <p:sp>
        <p:nvSpPr>
          <p:cNvPr id="10" name="text-10"/>
          <p:cNvSpPr txBox="1"/>
          <p:nvPr/>
        </p:nvSpPr>
        <p:spPr>
          <a:xfrm>
            <a:off x="6210300" y="3019425"/>
            <a:ext cx="2400300" cy="952500"/>
          </a:xfrm>
          <a:prstGeom prst="rect">
            <a:avLst/>
          </a:prstGeom>
          <a:noFill/>
          <a:ln>
            <a:noFill/>
          </a:ln>
        </p:spPr>
        <p:txBody>
          <a:bodyPr wrap="none" lIns="0" tIns="0" rIns="0" bIns="0" anchor="t"/>
          <a:lstStyle/>
          <a:p>
            <a:pPr algn="l">
              <a:lnSpc>
                <a:spcPts val="2250"/>
              </a:lnSpc>
              <a:spcBef>
                <a:spcPts val="0"/>
              </a:spcBef>
              <a:spcAft>
                <a:spcPts val="0"/>
              </a:spcAft>
            </a:pPr>
            <a:r>
              <a:rPr lang="fr-FR" sz="1800" b="1">
                <a:solidFill>
                  <a:srgbClr val="203A32"/>
                </a:solidFill>
                <a:latin typeface="Segoe UI"/>
                <a:ea typeface="Segoe UI"/>
                <a:cs typeface="Tahoma"/>
              </a:rPr>
              <a:t xml:space="preserve">Lignes dupliquées</a:t>
            </a:r>
            <a:endParaRPr lang="fr-FR" sz="1800"/>
          </a:p>
        </p:txBody>
      </p:sp>
      <p:sp>
        <p:nvSpPr>
          <p:cNvPr id="11" name="text-11"/>
          <p:cNvSpPr txBox="1"/>
          <p:nvPr/>
        </p:nvSpPr>
        <p:spPr>
          <a:xfrm>
            <a:off x="9039225" y="2047875"/>
            <a:ext cx="2381250" cy="857250"/>
          </a:xfrm>
          <a:prstGeom prst="rect">
            <a:avLst/>
          </a:prstGeom>
          <a:noFill/>
          <a:ln>
            <a:noFill/>
          </a:ln>
        </p:spPr>
        <p:txBody>
          <a:bodyPr wrap="none" lIns="0" tIns="0" rIns="0" bIns="0" anchor="t"/>
          <a:lstStyle/>
          <a:p>
            <a:pPr algn="l">
              <a:lnSpc>
                <a:spcPts val="6188"/>
              </a:lnSpc>
              <a:spcBef>
                <a:spcPts val="0"/>
              </a:spcBef>
              <a:spcAft>
                <a:spcPts val="0"/>
              </a:spcAft>
            </a:pPr>
            <a:r>
              <a:rPr lang="fr-FR" sz="4950" b="1">
                <a:solidFill>
                  <a:srgbClr val="285D4B"/>
                </a:solidFill>
                <a:latin typeface="Segoe UI"/>
                <a:ea typeface="Segoe UI"/>
                <a:cs typeface="Tahoma"/>
              </a:rPr>
              <a:t xml:space="preserve">47</a:t>
            </a:r>
            <a:endParaRPr lang="fr-FR" sz="4950"/>
          </a:p>
        </p:txBody>
      </p:sp>
      <p:sp>
        <p:nvSpPr>
          <p:cNvPr id="12" name="text-12"/>
          <p:cNvSpPr txBox="1"/>
          <p:nvPr/>
        </p:nvSpPr>
        <p:spPr>
          <a:xfrm>
            <a:off x="9039225" y="3019425"/>
            <a:ext cx="2400300" cy="952500"/>
          </a:xfrm>
          <a:prstGeom prst="rect">
            <a:avLst/>
          </a:prstGeom>
          <a:noFill/>
          <a:ln>
            <a:noFill/>
          </a:ln>
        </p:spPr>
        <p:txBody>
          <a:bodyPr wrap="none" lIns="0" tIns="0" rIns="0" bIns="0" anchor="t"/>
          <a:lstStyle/>
          <a:p>
            <a:pPr algn="l">
              <a:lnSpc>
                <a:spcPts val="2250"/>
              </a:lnSpc>
              <a:spcBef>
                <a:spcPts val="0"/>
              </a:spcBef>
              <a:spcAft>
                <a:spcPts val="0"/>
              </a:spcAft>
            </a:pPr>
            <a:r>
              <a:rPr lang="fr-FR" sz="1800" b="1">
                <a:solidFill>
                  <a:srgbClr val="203A32"/>
                </a:solidFill>
                <a:latin typeface="Segoe UI"/>
                <a:ea typeface="Segoe UI"/>
                <a:cs typeface="Tahoma"/>
              </a:rPr>
              <a:t xml:space="preserve">Groupes</a:t>
            </a:r>
            <a:endParaRPr lang="fr-FR" sz="1800"/>
          </a:p>
          <a:p>
            <a:pPr algn="l">
              <a:lnSpc>
                <a:spcPts val="2250"/>
              </a:lnSpc>
              <a:spcBef>
                <a:spcPts val="0"/>
              </a:spcBef>
              <a:spcAft>
                <a:spcPts val="0"/>
              </a:spcAft>
            </a:pPr>
            <a:r>
              <a:rPr lang="fr-FR" sz="1800" b="1">
                <a:solidFill>
                  <a:srgbClr val="203A32"/>
                </a:solidFill>
                <a:latin typeface="Segoe UI"/>
                <a:ea typeface="Segoe UI"/>
                <a:cs typeface="Tahoma"/>
              </a:rPr>
              <a:t xml:space="preserve">contradictoires</a:t>
            </a:r>
            <a:endParaRPr lang="fr-FR" sz="1800"/>
          </a:p>
        </p:txBody>
      </p:sp>
      <p:sp>
        <p:nvSpPr>
          <p:cNvPr id="13" name="text-13"/>
          <p:cNvSpPr txBox="1"/>
          <p:nvPr/>
        </p:nvSpPr>
        <p:spPr>
          <a:xfrm>
            <a:off x="552450" y="4333875"/>
            <a:ext cx="10953750" cy="933450"/>
          </a:xfrm>
          <a:prstGeom prst="rect">
            <a:avLst/>
          </a:prstGeom>
          <a:noFill/>
          <a:ln>
            <a:noFill/>
          </a:ln>
        </p:spPr>
        <p:txBody>
          <a:bodyPr wrap="none" lIns="0" tIns="0" rIns="0" bIns="0" anchor="t"/>
          <a:lstStyle/>
          <a:p>
            <a:pPr algn="l">
              <a:lnSpc>
                <a:spcPts val="2719"/>
              </a:lnSpc>
              <a:spcBef>
                <a:spcPts val="0"/>
              </a:spcBef>
              <a:spcAft>
                <a:spcPts val="0"/>
              </a:spcAft>
            </a:pPr>
            <a:r>
              <a:rPr lang="fr-FR" sz="2175" b="0">
                <a:solidFill>
                  <a:srgbClr val="64736B"/>
                </a:solidFill>
                <a:latin typeface="Segoe UI"/>
                <a:ea typeface="Segoe UI"/>
                <a:cs typeface="Tahoma"/>
              </a:rPr>
              <a:t xml:space="preserve">Normaliser les clés de comparaison, exclure du train les collisions et les groupes</a:t>
            </a:r>
            <a:endParaRPr lang="fr-FR" sz="2175"/>
          </a:p>
          <a:p>
            <a:pPr algn="l">
              <a:lnSpc>
                <a:spcPts val="2719"/>
              </a:lnSpc>
              <a:spcBef>
                <a:spcPts val="0"/>
              </a:spcBef>
              <a:spcAft>
                <a:spcPts val="0"/>
              </a:spcAft>
            </a:pPr>
            <a:r>
              <a:rPr lang="fr-FR" sz="2175" b="0">
                <a:solidFill>
                  <a:srgbClr val="64736B"/>
                </a:solidFill>
                <a:latin typeface="Segoe UI"/>
                <a:ea typeface="Segoe UI"/>
                <a:cs typeface="Tahoma"/>
              </a:rPr>
              <a:t xml:space="preserve">contradictoires, puis dédupliquer le train.</a:t>
            </a:r>
            <a:endParaRPr lang="fr-FR" sz="2175"/>
          </a:p>
        </p:txBody>
      </p:sp>
      <p:sp>
        <p:nvSpPr>
          <p:cNvPr id="14" name="rect-14"/>
          <p:cNvSpPr txBox="1"/>
          <p:nvPr/>
        </p:nvSpPr>
        <p:spPr>
          <a:xfrm>
            <a:off x="552450" y="5810250"/>
            <a:ext cx="11087100" cy="542925"/>
          </a:xfrm>
          <a:prstGeom prst="rect">
            <a:avLst/>
          </a:prstGeom>
          <a:solidFill>
            <a:srgbClr val="DDE7D6"/>
          </a:solidFill>
          <a:ln>
            <a:noFill/>
          </a:ln>
        </p:spPr>
      </p:sp>
      <p:sp>
        <p:nvSpPr>
          <p:cNvPr id="15" name="text-15"/>
          <p:cNvSpPr txBox="1"/>
          <p:nvPr/>
        </p:nvSpPr>
        <p:spPr>
          <a:xfrm>
            <a:off x="723900" y="5857875"/>
            <a:ext cx="10715625" cy="476250"/>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285D4B"/>
                </a:solidFill>
                <a:latin typeface="Segoe UI"/>
                <a:ea typeface="Segoe UI"/>
                <a:cs typeface="Tahoma"/>
              </a:rPr>
              <a:t xml:space="preserve">Ces catégories se recouvrent. Leur somme ne correspond pas au nombre de lignes retirées. Val et test restent conservés.</a:t>
            </a:r>
            <a:endParaRPr lang="fr-FR" sz="1350"/>
          </a:p>
        </p:txBody>
      </p:sp>
      <p:cxnSp>
        <p:nvCxnSpPr>
          <p:cNvPr id="16" name="line-16"/>
          <p:cNvCxnSpPr/>
          <p:nvPr/>
        </p:nvCxnSpPr>
        <p:spPr>
          <a:xfrm>
            <a:off x="552450" y="6505575"/>
            <a:ext cx="11087100" cy="0"/>
          </a:xfrm>
          <a:prstGeom prst="line">
            <a:avLst/>
          </a:prstGeom>
          <a:ln w="9525">
            <a:solidFill>
              <a:srgbClr val="D4DBCE"/>
            </a:solidFill>
          </a:ln>
        </p:spPr>
      </p:cxnSp>
      <p:sp>
        <p:nvSpPr>
          <p:cNvPr id="17" name="text-17"/>
          <p:cNvSpPr txBox="1"/>
          <p:nvPr/>
        </p:nvSpPr>
        <p:spPr>
          <a:xfrm>
            <a:off x="552450" y="6572250"/>
            <a:ext cx="8572500" cy="219075"/>
          </a:xfrm>
          <a:prstGeom prst="rect">
            <a:avLst/>
          </a:prstGeom>
          <a:noFill/>
          <a:ln>
            <a:noFill/>
          </a:ln>
        </p:spPr>
        <p:txBody>
          <a:bodyPr wrap="none" lIns="0" tIns="0" rIns="0" bIns="0" anchor="t"/>
          <a:lstStyle/>
          <a:p>
            <a:pPr algn="l">
              <a:lnSpc>
                <a:spcPts val="1125"/>
              </a:lnSpc>
              <a:spcBef>
                <a:spcPts val="0"/>
              </a:spcBef>
              <a:spcAft>
                <a:spcPts val="0"/>
              </a:spcAft>
            </a:pPr>
            <a:r>
              <a:rPr lang="fr-FR" sz="900" b="0">
                <a:solidFill>
                  <a:srgbClr val="64736B"/>
                </a:solidFill>
                <a:latin typeface="Segoe UI"/>
                <a:ea typeface="Segoe UI"/>
                <a:cs typeface="Tahoma"/>
              </a:rPr>
              <a:t xml:space="preserve">LMA3NA · Omar Elkhali · BDIOT</a:t>
            </a:r>
            <a:endParaRPr lang="fr-FR" sz="900"/>
          </a:p>
        </p:txBody>
      </p:sp>
      <p:sp>
        <p:nvSpPr>
          <p:cNvPr id="18" name="text-18"/>
          <p:cNvSpPr txBox="1"/>
          <p:nvPr/>
        </p:nvSpPr>
        <p:spPr>
          <a:xfrm>
            <a:off x="10763250" y="6572250"/>
            <a:ext cx="876300" cy="219075"/>
          </a:xfrm>
          <a:prstGeom prst="rect">
            <a:avLst/>
          </a:prstGeom>
          <a:noFill/>
          <a:ln>
            <a:noFill/>
          </a:ln>
        </p:spPr>
        <p:txBody>
          <a:bodyPr wrap="none" lIns="0" tIns="0" rIns="0" bIns="0" anchor="t"/>
          <a:lstStyle/>
          <a:p>
            <a:pPr algn="r">
              <a:lnSpc>
                <a:spcPts val="1125"/>
              </a:lnSpc>
              <a:spcBef>
                <a:spcPts val="0"/>
              </a:spcBef>
              <a:spcAft>
                <a:spcPts val="0"/>
              </a:spcAft>
            </a:pPr>
            <a:r>
              <a:rPr lang="fr-FR" sz="900" b="0">
                <a:solidFill>
                  <a:srgbClr val="64736B"/>
                </a:solidFill>
                <a:latin typeface="Segoe UI"/>
                <a:ea typeface="Segoe UI"/>
                <a:cs typeface="Tahoma"/>
              </a:rPr>
              <a:t xml:space="preserve">06 / 38</a:t>
            </a:r>
            <a:endParaRPr lang="fr-FR" sz="9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5F4EE"/>
        </a:solidFill>
        <a:effectLst/>
      </p:bgPr>
    </p:bg>
    <p:spTree>
      <p:nvGrpSpPr>
        <p:cNvPr id="1" name=""/>
        <p:cNvGrpSpPr/>
        <p:nvPr/>
      </p:nvGrpSpPr>
      <p:grpSpPr>
        <a:xfrm>
          <a:off x="0" y="0"/>
          <a:ext cx="0" cy="0"/>
          <a:chOff x="0" y="0"/>
          <a:chExt cx="0" cy="0"/>
        </a:xfrm>
      </p:grpSpPr>
      <p:sp>
        <p:nvSpPr>
          <p:cNvPr id="2" name="rect-2"/>
          <p:cNvSpPr txBox="1"/>
          <p:nvPr/>
        </p:nvSpPr>
        <p:spPr>
          <a:xfrm>
            <a:off x="552450" y="361950"/>
            <a:ext cx="400050" cy="38100"/>
          </a:xfrm>
          <a:prstGeom prst="rect">
            <a:avLst/>
          </a:prstGeom>
          <a:solidFill>
            <a:srgbClr val="E6A477"/>
          </a:solidFill>
          <a:ln>
            <a:noFill/>
          </a:ln>
        </p:spPr>
      </p:sp>
      <p:sp>
        <p:nvSpPr>
          <p:cNvPr id="3" name="text-3"/>
          <p:cNvSpPr txBox="1"/>
          <p:nvPr/>
        </p:nvSpPr>
        <p:spPr>
          <a:xfrm>
            <a:off x="1066800" y="276225"/>
            <a:ext cx="10287000" cy="266700"/>
          </a:xfrm>
          <a:prstGeom prst="rect">
            <a:avLst/>
          </a:prstGeom>
          <a:noFill/>
          <a:ln>
            <a:noFill/>
          </a:ln>
        </p:spPr>
        <p:txBody>
          <a:bodyPr wrap="none" lIns="0" tIns="0" rIns="0" bIns="0" anchor="t"/>
          <a:lstStyle/>
          <a:p>
            <a:pPr algn="l">
              <a:lnSpc>
                <a:spcPts val="1406"/>
              </a:lnSpc>
              <a:spcBef>
                <a:spcPts val="0"/>
              </a:spcBef>
              <a:spcAft>
                <a:spcPts val="0"/>
              </a:spcAft>
            </a:pPr>
            <a:r>
              <a:rPr lang="fr-FR" sz="1125" b="1">
                <a:solidFill>
                  <a:srgbClr val="285D4B"/>
                </a:solidFill>
                <a:latin typeface="Segoe UI"/>
                <a:ea typeface="Segoe UI"/>
                <a:cs typeface="Tahoma"/>
              </a:rPr>
              <a:t xml:space="preserve">03 · PRÉTRAITEMENT</a:t>
            </a:r>
            <a:endParaRPr lang="fr-FR" sz="1125"/>
          </a:p>
        </p:txBody>
      </p:sp>
      <p:sp>
        <p:nvSpPr>
          <p:cNvPr id="4" name="text-4"/>
          <p:cNvSpPr txBox="1"/>
          <p:nvPr/>
        </p:nvSpPr>
        <p:spPr>
          <a:xfrm>
            <a:off x="552450" y="790575"/>
            <a:ext cx="11087100" cy="1066800"/>
          </a:xfrm>
          <a:prstGeom prst="rect">
            <a:avLst/>
          </a:prstGeom>
          <a:noFill/>
          <a:ln>
            <a:noFill/>
          </a:ln>
        </p:spPr>
        <p:txBody>
          <a:bodyPr wrap="none" lIns="0" tIns="0" rIns="0" bIns="0" anchor="t"/>
          <a:lstStyle/>
          <a:p>
            <a:pPr algn="l">
              <a:lnSpc>
                <a:spcPts val="4031"/>
              </a:lnSpc>
              <a:spcBef>
                <a:spcPts val="0"/>
              </a:spcBef>
              <a:spcAft>
                <a:spcPts val="0"/>
              </a:spcAft>
            </a:pPr>
            <a:r>
              <a:rPr lang="fr-FR" sz="3225" b="1">
                <a:solidFill>
                  <a:srgbClr val="203A32"/>
                </a:solidFill>
                <a:latin typeface="Segoe UI"/>
                <a:ea typeface="Segoe UI"/>
                <a:cs typeface="Tahoma"/>
              </a:rPr>
              <a:t xml:space="preserve">Le nettoyage préserve les marqueurs utiles à l’ironie</a:t>
            </a:r>
            <a:endParaRPr lang="fr-FR" sz="3225"/>
          </a:p>
        </p:txBody>
      </p:sp>
      <p:sp>
        <p:nvSpPr>
          <p:cNvPr id="5" name="text-5"/>
          <p:cNvSpPr txBox="1"/>
          <p:nvPr/>
        </p:nvSpPr>
        <p:spPr>
          <a:xfrm>
            <a:off x="552450" y="2095500"/>
            <a:ext cx="3238500" cy="685800"/>
          </a:xfrm>
          <a:prstGeom prst="rect">
            <a:avLst/>
          </a:prstGeom>
          <a:noFill/>
          <a:ln>
            <a:noFill/>
          </a:ln>
        </p:spPr>
        <p:txBody>
          <a:bodyPr wrap="none" lIns="0" tIns="0" rIns="0" bIns="0" anchor="t"/>
          <a:lstStyle/>
          <a:p>
            <a:pPr algn="l">
              <a:lnSpc>
                <a:spcPts val="2719"/>
              </a:lnSpc>
              <a:spcBef>
                <a:spcPts val="0"/>
              </a:spcBef>
              <a:spcAft>
                <a:spcPts val="0"/>
              </a:spcAft>
            </a:pPr>
            <a:r>
              <a:rPr lang="fr-FR" sz="2175" b="1">
                <a:solidFill>
                  <a:srgbClr val="285D4B"/>
                </a:solidFill>
                <a:latin typeface="Segoe UI"/>
                <a:ea typeface="Segoe UI"/>
                <a:cs typeface="Tahoma"/>
              </a:rPr>
              <a:t xml:space="preserve">Normaliser</a:t>
            </a:r>
            <a:endParaRPr lang="fr-FR" sz="2175"/>
          </a:p>
        </p:txBody>
      </p:sp>
      <p:sp>
        <p:nvSpPr>
          <p:cNvPr id="6" name="text-6"/>
          <p:cNvSpPr txBox="1"/>
          <p:nvPr/>
        </p:nvSpPr>
        <p:spPr>
          <a:xfrm>
            <a:off x="552450" y="2886075"/>
            <a:ext cx="3238500" cy="2286000"/>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64736B"/>
                </a:solidFill>
                <a:latin typeface="Segoe UI"/>
                <a:ea typeface="Segoe UI"/>
                <a:cs typeface="Tahoma"/>
              </a:rPr>
              <a:t xml:space="preserve">Unicode et HTML</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Guillemets d’export</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Diacritiques et tatweel</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Variantes alif et ya</a:t>
            </a:r>
            <a:endParaRPr lang="fr-FR" sz="1725"/>
          </a:p>
        </p:txBody>
      </p:sp>
      <p:sp>
        <p:nvSpPr>
          <p:cNvPr id="7" name="text-7"/>
          <p:cNvSpPr txBox="1"/>
          <p:nvPr/>
        </p:nvSpPr>
        <p:spPr>
          <a:xfrm>
            <a:off x="4333875" y="2095500"/>
            <a:ext cx="3238500" cy="685800"/>
          </a:xfrm>
          <a:prstGeom prst="rect">
            <a:avLst/>
          </a:prstGeom>
          <a:noFill/>
          <a:ln>
            <a:noFill/>
          </a:ln>
        </p:spPr>
        <p:txBody>
          <a:bodyPr wrap="none" lIns="0" tIns="0" rIns="0" bIns="0" anchor="t"/>
          <a:lstStyle/>
          <a:p>
            <a:pPr algn="l">
              <a:lnSpc>
                <a:spcPts val="2719"/>
              </a:lnSpc>
              <a:spcBef>
                <a:spcPts val="0"/>
              </a:spcBef>
              <a:spcAft>
                <a:spcPts val="0"/>
              </a:spcAft>
            </a:pPr>
            <a:r>
              <a:rPr lang="fr-FR" sz="2175" b="1">
                <a:solidFill>
                  <a:srgbClr val="285D4B"/>
                </a:solidFill>
                <a:latin typeface="Segoe UI"/>
                <a:ea typeface="Segoe UI"/>
                <a:cs typeface="Tahoma"/>
              </a:rPr>
              <a:t xml:space="preserve">Préserver</a:t>
            </a:r>
            <a:endParaRPr lang="fr-FR" sz="2175"/>
          </a:p>
        </p:txBody>
      </p:sp>
      <p:sp>
        <p:nvSpPr>
          <p:cNvPr id="8" name="text-8"/>
          <p:cNvSpPr txBox="1"/>
          <p:nvPr/>
        </p:nvSpPr>
        <p:spPr>
          <a:xfrm>
            <a:off x="4333875" y="2886075"/>
            <a:ext cx="3238500" cy="2286000"/>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64736B"/>
                </a:solidFill>
                <a:latin typeface="Segoe UI"/>
                <a:ea typeface="Segoe UI"/>
                <a:cs typeface="Tahoma"/>
              </a:rPr>
              <a:t xml:space="preserve">Négations</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Emojis et hashtags</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Rires et répétitions</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Ponctuation expressive</a:t>
            </a:r>
            <a:endParaRPr lang="fr-FR" sz="1725"/>
          </a:p>
        </p:txBody>
      </p:sp>
      <p:sp>
        <p:nvSpPr>
          <p:cNvPr id="9" name="text-9"/>
          <p:cNvSpPr txBox="1"/>
          <p:nvPr/>
        </p:nvSpPr>
        <p:spPr>
          <a:xfrm>
            <a:off x="8115300" y="2095500"/>
            <a:ext cx="3238500" cy="685800"/>
          </a:xfrm>
          <a:prstGeom prst="rect">
            <a:avLst/>
          </a:prstGeom>
          <a:noFill/>
          <a:ln>
            <a:noFill/>
          </a:ln>
        </p:spPr>
        <p:txBody>
          <a:bodyPr wrap="none" lIns="0" tIns="0" rIns="0" bIns="0" anchor="t"/>
          <a:lstStyle/>
          <a:p>
            <a:pPr algn="l">
              <a:lnSpc>
                <a:spcPts val="2719"/>
              </a:lnSpc>
              <a:spcBef>
                <a:spcPts val="0"/>
              </a:spcBef>
              <a:spcAft>
                <a:spcPts val="0"/>
              </a:spcAft>
            </a:pPr>
            <a:r>
              <a:rPr lang="fr-FR" sz="2175" b="1">
                <a:solidFill>
                  <a:srgbClr val="285D4B"/>
                </a:solidFill>
                <a:latin typeface="Segoe UI"/>
                <a:ea typeface="Segoe UI"/>
                <a:cs typeface="Tahoma"/>
              </a:rPr>
              <a:t xml:space="preserve">Adapter au modèle</a:t>
            </a:r>
            <a:endParaRPr lang="fr-FR" sz="2175"/>
          </a:p>
        </p:txBody>
      </p:sp>
      <p:sp>
        <p:nvSpPr>
          <p:cNvPr id="10" name="text-10"/>
          <p:cNvSpPr txBox="1"/>
          <p:nvPr/>
        </p:nvSpPr>
        <p:spPr>
          <a:xfrm>
            <a:off x="8115300" y="2886075"/>
            <a:ext cx="3238500" cy="2286000"/>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64736B"/>
                </a:solidFill>
                <a:latin typeface="Segoe UI"/>
                <a:ea typeface="Segoe UI"/>
                <a:cs typeface="Tahoma"/>
              </a:rPr>
              <a:t xml:space="preserve">TF-IDF / C : nettoyage</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conservateur</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AraBERT : préprocesseur officiel</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MARBERT : nettoyage minimal</a:t>
            </a:r>
            <a:endParaRPr lang="fr-FR" sz="1725"/>
          </a:p>
        </p:txBody>
      </p:sp>
      <p:sp>
        <p:nvSpPr>
          <p:cNvPr id="11" name="rect-11"/>
          <p:cNvSpPr txBox="1"/>
          <p:nvPr/>
        </p:nvSpPr>
        <p:spPr>
          <a:xfrm>
            <a:off x="552450" y="5810250"/>
            <a:ext cx="11087100" cy="542925"/>
          </a:xfrm>
          <a:prstGeom prst="rect">
            <a:avLst/>
          </a:prstGeom>
          <a:solidFill>
            <a:srgbClr val="DDE7D6"/>
          </a:solidFill>
          <a:ln>
            <a:noFill/>
          </a:ln>
        </p:spPr>
      </p:sp>
      <p:sp>
        <p:nvSpPr>
          <p:cNvPr id="12" name="text-12"/>
          <p:cNvSpPr txBox="1"/>
          <p:nvPr/>
        </p:nvSpPr>
        <p:spPr>
          <a:xfrm>
            <a:off x="723900" y="5857875"/>
            <a:ext cx="10715625" cy="476250"/>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285D4B"/>
                </a:solidFill>
                <a:latin typeface="Segoe UI"/>
                <a:ea typeface="Segoe UI"/>
                <a:cs typeface="Tahoma"/>
              </a:rPr>
              <a:t xml:space="preserve">Les vocabulaires et statistiques TF-IDF s’ajustent uniquement sur train, après la séparation.</a:t>
            </a:r>
            <a:endParaRPr lang="fr-FR" sz="1350"/>
          </a:p>
        </p:txBody>
      </p:sp>
      <p:cxnSp>
        <p:nvCxnSpPr>
          <p:cNvPr id="13" name="line-13"/>
          <p:cNvCxnSpPr/>
          <p:nvPr/>
        </p:nvCxnSpPr>
        <p:spPr>
          <a:xfrm>
            <a:off x="552450" y="6505575"/>
            <a:ext cx="11087100" cy="0"/>
          </a:xfrm>
          <a:prstGeom prst="line">
            <a:avLst/>
          </a:prstGeom>
          <a:ln w="9525">
            <a:solidFill>
              <a:srgbClr val="D4DBCE"/>
            </a:solidFill>
          </a:ln>
        </p:spPr>
      </p:cxnSp>
      <p:sp>
        <p:nvSpPr>
          <p:cNvPr id="14" name="text-14"/>
          <p:cNvSpPr txBox="1"/>
          <p:nvPr/>
        </p:nvSpPr>
        <p:spPr>
          <a:xfrm>
            <a:off x="552450" y="6572250"/>
            <a:ext cx="8572500" cy="219075"/>
          </a:xfrm>
          <a:prstGeom prst="rect">
            <a:avLst/>
          </a:prstGeom>
          <a:noFill/>
          <a:ln>
            <a:noFill/>
          </a:ln>
        </p:spPr>
        <p:txBody>
          <a:bodyPr wrap="none" lIns="0" tIns="0" rIns="0" bIns="0" anchor="t"/>
          <a:lstStyle/>
          <a:p>
            <a:pPr algn="l">
              <a:lnSpc>
                <a:spcPts val="1125"/>
              </a:lnSpc>
              <a:spcBef>
                <a:spcPts val="0"/>
              </a:spcBef>
              <a:spcAft>
                <a:spcPts val="0"/>
              </a:spcAft>
            </a:pPr>
            <a:r>
              <a:rPr lang="fr-FR" sz="900" b="0">
                <a:solidFill>
                  <a:srgbClr val="64736B"/>
                </a:solidFill>
                <a:latin typeface="Segoe UI"/>
                <a:ea typeface="Segoe UI"/>
                <a:cs typeface="Tahoma"/>
              </a:rPr>
              <a:t xml:space="preserve">LMA3NA · Omar Elkhali · BDIOT</a:t>
            </a:r>
            <a:endParaRPr lang="fr-FR" sz="900"/>
          </a:p>
        </p:txBody>
      </p:sp>
      <p:sp>
        <p:nvSpPr>
          <p:cNvPr id="15" name="text-15"/>
          <p:cNvSpPr txBox="1"/>
          <p:nvPr/>
        </p:nvSpPr>
        <p:spPr>
          <a:xfrm>
            <a:off x="10763250" y="6572250"/>
            <a:ext cx="876300" cy="219075"/>
          </a:xfrm>
          <a:prstGeom prst="rect">
            <a:avLst/>
          </a:prstGeom>
          <a:noFill/>
          <a:ln>
            <a:noFill/>
          </a:ln>
        </p:spPr>
        <p:txBody>
          <a:bodyPr wrap="none" lIns="0" tIns="0" rIns="0" bIns="0" anchor="t"/>
          <a:lstStyle/>
          <a:p>
            <a:pPr algn="r">
              <a:lnSpc>
                <a:spcPts val="1125"/>
              </a:lnSpc>
              <a:spcBef>
                <a:spcPts val="0"/>
              </a:spcBef>
              <a:spcAft>
                <a:spcPts val="0"/>
              </a:spcAft>
            </a:pPr>
            <a:r>
              <a:rPr lang="fr-FR" sz="900" b="0">
                <a:solidFill>
                  <a:srgbClr val="64736B"/>
                </a:solidFill>
                <a:latin typeface="Segoe UI"/>
                <a:ea typeface="Segoe UI"/>
                <a:cs typeface="Tahoma"/>
              </a:rPr>
              <a:t xml:space="preserve">07 / 38</a:t>
            </a:r>
            <a:endParaRPr lang="fr-FR" sz="9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5F4EE"/>
        </a:solidFill>
        <a:effectLst/>
      </p:bgPr>
    </p:bg>
    <p:spTree>
      <p:nvGrpSpPr>
        <p:cNvPr id="1" name=""/>
        <p:cNvGrpSpPr/>
        <p:nvPr/>
      </p:nvGrpSpPr>
      <p:grpSpPr>
        <a:xfrm>
          <a:off x="0" y="0"/>
          <a:ext cx="0" cy="0"/>
          <a:chOff x="0" y="0"/>
          <a:chExt cx="0" cy="0"/>
        </a:xfrm>
      </p:grpSpPr>
      <p:sp>
        <p:nvSpPr>
          <p:cNvPr id="2" name="rect-2"/>
          <p:cNvSpPr txBox="1"/>
          <p:nvPr/>
        </p:nvSpPr>
        <p:spPr>
          <a:xfrm>
            <a:off x="552450" y="361950"/>
            <a:ext cx="400050" cy="38100"/>
          </a:xfrm>
          <a:prstGeom prst="rect">
            <a:avLst/>
          </a:prstGeom>
          <a:solidFill>
            <a:srgbClr val="E6A477"/>
          </a:solidFill>
          <a:ln>
            <a:noFill/>
          </a:ln>
        </p:spPr>
      </p:sp>
      <p:sp>
        <p:nvSpPr>
          <p:cNvPr id="3" name="text-3"/>
          <p:cNvSpPr txBox="1"/>
          <p:nvPr/>
        </p:nvSpPr>
        <p:spPr>
          <a:xfrm>
            <a:off x="1066800" y="276225"/>
            <a:ext cx="10287000" cy="266700"/>
          </a:xfrm>
          <a:prstGeom prst="rect">
            <a:avLst/>
          </a:prstGeom>
          <a:noFill/>
          <a:ln>
            <a:noFill/>
          </a:ln>
        </p:spPr>
        <p:txBody>
          <a:bodyPr wrap="none" lIns="0" tIns="0" rIns="0" bIns="0" anchor="t"/>
          <a:lstStyle/>
          <a:p>
            <a:pPr algn="l">
              <a:lnSpc>
                <a:spcPts val="1406"/>
              </a:lnSpc>
              <a:spcBef>
                <a:spcPts val="0"/>
              </a:spcBef>
              <a:spcAft>
                <a:spcPts val="0"/>
              </a:spcAft>
            </a:pPr>
            <a:r>
              <a:rPr lang="fr-FR" sz="1125" b="1">
                <a:solidFill>
                  <a:srgbClr val="285D4B"/>
                </a:solidFill>
                <a:latin typeface="Segoe UI"/>
                <a:ea typeface="Segoe UI"/>
                <a:cs typeface="Tahoma"/>
              </a:rPr>
              <a:t xml:space="preserve">03 · RISQUES</a:t>
            </a:r>
            <a:endParaRPr lang="fr-FR" sz="1125"/>
          </a:p>
        </p:txBody>
      </p:sp>
      <p:sp>
        <p:nvSpPr>
          <p:cNvPr id="4" name="text-4"/>
          <p:cNvSpPr txBox="1"/>
          <p:nvPr/>
        </p:nvSpPr>
        <p:spPr>
          <a:xfrm>
            <a:off x="552450" y="790575"/>
            <a:ext cx="11087100" cy="1066800"/>
          </a:xfrm>
          <a:prstGeom prst="rect">
            <a:avLst/>
          </a:prstGeom>
          <a:noFill/>
          <a:ln>
            <a:noFill/>
          </a:ln>
        </p:spPr>
        <p:txBody>
          <a:bodyPr wrap="none" lIns="0" tIns="0" rIns="0" bIns="0" anchor="t"/>
          <a:lstStyle/>
          <a:p>
            <a:pPr algn="l">
              <a:lnSpc>
                <a:spcPts val="4031"/>
              </a:lnSpc>
              <a:spcBef>
                <a:spcPts val="0"/>
              </a:spcBef>
              <a:spcAft>
                <a:spcPts val="0"/>
              </a:spcAft>
            </a:pPr>
            <a:r>
              <a:rPr lang="fr-FR" sz="3225" b="1">
                <a:solidFill>
                  <a:srgbClr val="203A32"/>
                </a:solidFill>
                <a:latin typeface="Segoe UI"/>
                <a:ea typeface="Segoe UI"/>
                <a:cs typeface="Tahoma"/>
              </a:rPr>
              <a:t xml:space="preserve">Les indices d’export créent des raccourcis de prédiction</a:t>
            </a:r>
            <a:endParaRPr lang="fr-FR" sz="3225"/>
          </a:p>
        </p:txBody>
      </p:sp>
      <p:pic>
        <p:nvPicPr>
          <p:cNvPr id="5" name="image-5"/>
          <p:cNvPicPr>
            <a:picLocks noChangeAspect="1"/>
          </p:cNvPicPr>
          <p:nvPr/>
        </p:nvPicPr>
        <p:blipFill>
          <a:blip r:embed="rId3"/>
          <a:stretch>
            <a:fillRect/>
          </a:stretch>
        </p:blipFill>
        <p:spPr>
          <a:xfrm>
            <a:off x="784002" y="1933575"/>
            <a:ext cx="7061646" cy="3505200"/>
          </a:xfrm>
          <a:prstGeom prst="rect">
            <a:avLst/>
          </a:prstGeom>
        </p:spPr>
      </p:pic>
      <p:sp>
        <p:nvSpPr>
          <p:cNvPr id="6" name="text-6"/>
          <p:cNvSpPr txBox="1"/>
          <p:nvPr/>
        </p:nvSpPr>
        <p:spPr>
          <a:xfrm>
            <a:off x="8420100" y="2038350"/>
            <a:ext cx="3219450" cy="933450"/>
          </a:xfrm>
          <a:prstGeom prst="rect">
            <a:avLst/>
          </a:prstGeom>
          <a:noFill/>
          <a:ln>
            <a:noFill/>
          </a:ln>
        </p:spPr>
        <p:txBody>
          <a:bodyPr wrap="none" lIns="0" tIns="0" rIns="0" bIns="0" anchor="t"/>
          <a:lstStyle/>
          <a:p>
            <a:pPr algn="l">
              <a:lnSpc>
                <a:spcPts val="2812"/>
              </a:lnSpc>
              <a:spcBef>
                <a:spcPts val="0"/>
              </a:spcBef>
              <a:spcAft>
                <a:spcPts val="0"/>
              </a:spcAft>
            </a:pPr>
            <a:r>
              <a:rPr lang="fr-FR" sz="2250" b="1">
                <a:solidFill>
                  <a:srgbClr val="285D4B"/>
                </a:solidFill>
                <a:latin typeface="Segoe UI"/>
                <a:ea typeface="Segoe UI"/>
                <a:cs typeface="Tahoma"/>
              </a:rPr>
              <a:t xml:space="preserve">38,09 % contre 14,67 %</a:t>
            </a:r>
            <a:endParaRPr lang="fr-FR" sz="2250"/>
          </a:p>
        </p:txBody>
      </p:sp>
      <p:sp>
        <p:nvSpPr>
          <p:cNvPr id="7" name="text-7"/>
          <p:cNvSpPr txBox="1"/>
          <p:nvPr/>
        </p:nvSpPr>
        <p:spPr>
          <a:xfrm>
            <a:off x="8420100" y="3143250"/>
            <a:ext cx="3219450" cy="2333625"/>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64736B"/>
                </a:solidFill>
                <a:latin typeface="Segoe UI"/>
                <a:ea typeface="Segoe UI"/>
                <a:cs typeface="Tahoma"/>
              </a:rPr>
              <a:t xml:space="preserve">Présence d’URL dans le train</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brut et le test. Les guillemets</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d’export changent aussi</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fortement entre les partitions.</a:t>
            </a:r>
            <a:endParaRPr lang="fr-FR" sz="1725"/>
          </a:p>
        </p:txBody>
      </p:sp>
      <p:sp>
        <p:nvSpPr>
          <p:cNvPr id="8" name="rect-8"/>
          <p:cNvSpPr txBox="1"/>
          <p:nvPr/>
        </p:nvSpPr>
        <p:spPr>
          <a:xfrm>
            <a:off x="552450" y="5810250"/>
            <a:ext cx="11087100" cy="542925"/>
          </a:xfrm>
          <a:prstGeom prst="rect">
            <a:avLst/>
          </a:prstGeom>
          <a:solidFill>
            <a:srgbClr val="DDE7D6"/>
          </a:solidFill>
          <a:ln>
            <a:noFill/>
          </a:ln>
        </p:spPr>
      </p:sp>
      <p:sp>
        <p:nvSpPr>
          <p:cNvPr id="9" name="text-9"/>
          <p:cNvSpPr txBox="1"/>
          <p:nvPr/>
        </p:nvSpPr>
        <p:spPr>
          <a:xfrm>
            <a:off x="723900" y="5857875"/>
            <a:ext cx="10715625" cy="476250"/>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285D4B"/>
                </a:solidFill>
                <a:latin typeface="Segoe UI"/>
                <a:ea typeface="Segoe UI"/>
                <a:cs typeface="Tahoma"/>
              </a:rPr>
              <a:t xml:space="preserve">Une règle « absence d’URL » atteint un F1 validation de 0,3618 sans résoudre le sens du tweet.</a:t>
            </a:r>
            <a:endParaRPr lang="fr-FR" sz="1350"/>
          </a:p>
        </p:txBody>
      </p:sp>
      <p:cxnSp>
        <p:nvCxnSpPr>
          <p:cNvPr id="10" name="line-10"/>
          <p:cNvCxnSpPr/>
          <p:nvPr/>
        </p:nvCxnSpPr>
        <p:spPr>
          <a:xfrm>
            <a:off x="552450" y="6505575"/>
            <a:ext cx="11087100" cy="0"/>
          </a:xfrm>
          <a:prstGeom prst="line">
            <a:avLst/>
          </a:prstGeom>
          <a:ln w="9525">
            <a:solidFill>
              <a:srgbClr val="D4DBCE"/>
            </a:solidFill>
          </a:ln>
        </p:spPr>
      </p:cxnSp>
      <p:sp>
        <p:nvSpPr>
          <p:cNvPr id="11" name="text-11"/>
          <p:cNvSpPr txBox="1"/>
          <p:nvPr/>
        </p:nvSpPr>
        <p:spPr>
          <a:xfrm>
            <a:off x="552450" y="6572250"/>
            <a:ext cx="8572500" cy="219075"/>
          </a:xfrm>
          <a:prstGeom prst="rect">
            <a:avLst/>
          </a:prstGeom>
          <a:noFill/>
          <a:ln>
            <a:noFill/>
          </a:ln>
        </p:spPr>
        <p:txBody>
          <a:bodyPr wrap="none" lIns="0" tIns="0" rIns="0" bIns="0" anchor="t"/>
          <a:lstStyle/>
          <a:p>
            <a:pPr algn="l">
              <a:lnSpc>
                <a:spcPts val="1125"/>
              </a:lnSpc>
              <a:spcBef>
                <a:spcPts val="0"/>
              </a:spcBef>
              <a:spcAft>
                <a:spcPts val="0"/>
              </a:spcAft>
            </a:pPr>
            <a:r>
              <a:rPr lang="fr-FR" sz="900" b="0">
                <a:solidFill>
                  <a:srgbClr val="64736B"/>
                </a:solidFill>
                <a:latin typeface="Segoe UI"/>
                <a:ea typeface="Segoe UI"/>
                <a:cs typeface="Tahoma"/>
              </a:rPr>
              <a:t xml:space="preserve">LMA3NA · Omar Elkhali · BDIOT</a:t>
            </a:r>
            <a:endParaRPr lang="fr-FR" sz="900"/>
          </a:p>
        </p:txBody>
      </p:sp>
      <p:sp>
        <p:nvSpPr>
          <p:cNvPr id="12" name="text-12"/>
          <p:cNvSpPr txBox="1"/>
          <p:nvPr/>
        </p:nvSpPr>
        <p:spPr>
          <a:xfrm>
            <a:off x="10763250" y="6572250"/>
            <a:ext cx="876300" cy="219075"/>
          </a:xfrm>
          <a:prstGeom prst="rect">
            <a:avLst/>
          </a:prstGeom>
          <a:noFill/>
          <a:ln>
            <a:noFill/>
          </a:ln>
        </p:spPr>
        <p:txBody>
          <a:bodyPr wrap="none" lIns="0" tIns="0" rIns="0" bIns="0" anchor="t"/>
          <a:lstStyle/>
          <a:p>
            <a:pPr algn="r">
              <a:lnSpc>
                <a:spcPts val="1125"/>
              </a:lnSpc>
              <a:spcBef>
                <a:spcPts val="0"/>
              </a:spcBef>
              <a:spcAft>
                <a:spcPts val="0"/>
              </a:spcAft>
            </a:pPr>
            <a:r>
              <a:rPr lang="fr-FR" sz="900" b="0">
                <a:solidFill>
                  <a:srgbClr val="64736B"/>
                </a:solidFill>
                <a:latin typeface="Segoe UI"/>
                <a:ea typeface="Segoe UI"/>
                <a:cs typeface="Tahoma"/>
              </a:rPr>
              <a:t xml:space="preserve">08 / 38</a:t>
            </a:r>
            <a:endParaRPr lang="fr-FR" sz="9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5F4EE"/>
        </a:solidFill>
        <a:effectLst/>
      </p:bgPr>
    </p:bg>
    <p:spTree>
      <p:nvGrpSpPr>
        <p:cNvPr id="1" name=""/>
        <p:cNvGrpSpPr/>
        <p:nvPr/>
      </p:nvGrpSpPr>
      <p:grpSpPr>
        <a:xfrm>
          <a:off x="0" y="0"/>
          <a:ext cx="0" cy="0"/>
          <a:chOff x="0" y="0"/>
          <a:chExt cx="0" cy="0"/>
        </a:xfrm>
      </p:grpSpPr>
      <p:sp>
        <p:nvSpPr>
          <p:cNvPr id="2" name="rect-2"/>
          <p:cNvSpPr txBox="1"/>
          <p:nvPr/>
        </p:nvSpPr>
        <p:spPr>
          <a:xfrm>
            <a:off x="552450" y="361950"/>
            <a:ext cx="400050" cy="38100"/>
          </a:xfrm>
          <a:prstGeom prst="rect">
            <a:avLst/>
          </a:prstGeom>
          <a:solidFill>
            <a:srgbClr val="E6A477"/>
          </a:solidFill>
          <a:ln>
            <a:noFill/>
          </a:ln>
        </p:spPr>
      </p:sp>
      <p:sp>
        <p:nvSpPr>
          <p:cNvPr id="3" name="text-3"/>
          <p:cNvSpPr txBox="1"/>
          <p:nvPr/>
        </p:nvSpPr>
        <p:spPr>
          <a:xfrm>
            <a:off x="1066800" y="276225"/>
            <a:ext cx="10287000" cy="266700"/>
          </a:xfrm>
          <a:prstGeom prst="rect">
            <a:avLst/>
          </a:prstGeom>
          <a:noFill/>
          <a:ln>
            <a:noFill/>
          </a:ln>
        </p:spPr>
        <p:txBody>
          <a:bodyPr wrap="none" lIns="0" tIns="0" rIns="0" bIns="0" anchor="t"/>
          <a:lstStyle/>
          <a:p>
            <a:pPr algn="l">
              <a:lnSpc>
                <a:spcPts val="1406"/>
              </a:lnSpc>
              <a:spcBef>
                <a:spcPts val="0"/>
              </a:spcBef>
              <a:spcAft>
                <a:spcPts val="0"/>
              </a:spcAft>
            </a:pPr>
            <a:r>
              <a:rPr lang="fr-FR" sz="1125" b="1">
                <a:solidFill>
                  <a:srgbClr val="285D4B"/>
                </a:solidFill>
                <a:latin typeface="Segoe UI"/>
                <a:ea typeface="Segoe UI"/>
                <a:cs typeface="Tahoma"/>
              </a:rPr>
              <a:t xml:space="preserve">04 · A · BASELINE</a:t>
            </a:r>
            <a:endParaRPr lang="fr-FR" sz="1125"/>
          </a:p>
        </p:txBody>
      </p:sp>
      <p:sp>
        <p:nvSpPr>
          <p:cNvPr id="4" name="text-4"/>
          <p:cNvSpPr txBox="1"/>
          <p:nvPr/>
        </p:nvSpPr>
        <p:spPr>
          <a:xfrm>
            <a:off x="552450" y="790575"/>
            <a:ext cx="11087100" cy="1066800"/>
          </a:xfrm>
          <a:prstGeom prst="rect">
            <a:avLst/>
          </a:prstGeom>
          <a:noFill/>
          <a:ln>
            <a:noFill/>
          </a:ln>
        </p:spPr>
        <p:txBody>
          <a:bodyPr wrap="none" lIns="0" tIns="0" rIns="0" bIns="0" anchor="t"/>
          <a:lstStyle/>
          <a:p>
            <a:pPr algn="l">
              <a:lnSpc>
                <a:spcPts val="4031"/>
              </a:lnSpc>
              <a:spcBef>
                <a:spcPts val="0"/>
              </a:spcBef>
              <a:spcAft>
                <a:spcPts val="0"/>
              </a:spcAft>
            </a:pPr>
            <a:r>
              <a:rPr lang="fr-FR" sz="3225" b="1">
                <a:solidFill>
                  <a:srgbClr val="203A32"/>
                </a:solidFill>
                <a:latin typeface="Segoe UI"/>
                <a:ea typeface="Segoe UI"/>
                <a:cs typeface="Tahoma"/>
              </a:rPr>
              <a:t xml:space="preserve">Le nettoyage conservateur gagne la comparaison TF-IDF</a:t>
            </a:r>
            <a:endParaRPr lang="fr-FR" sz="3225"/>
          </a:p>
        </p:txBody>
      </p:sp>
      <p:pic>
        <p:nvPicPr>
          <p:cNvPr id="5" name="image-5"/>
          <p:cNvPicPr>
            <a:picLocks noChangeAspect="1"/>
          </p:cNvPicPr>
          <p:nvPr/>
        </p:nvPicPr>
        <p:blipFill>
          <a:blip r:embed="rId3"/>
          <a:stretch>
            <a:fillRect/>
          </a:stretch>
        </p:blipFill>
        <p:spPr>
          <a:xfrm>
            <a:off x="766066" y="1933575"/>
            <a:ext cx="7097518" cy="3505200"/>
          </a:xfrm>
          <a:prstGeom prst="rect">
            <a:avLst/>
          </a:prstGeom>
        </p:spPr>
      </p:pic>
      <p:sp>
        <p:nvSpPr>
          <p:cNvPr id="6" name="text-6"/>
          <p:cNvSpPr txBox="1"/>
          <p:nvPr/>
        </p:nvSpPr>
        <p:spPr>
          <a:xfrm>
            <a:off x="8420100" y="2038350"/>
            <a:ext cx="3219450" cy="933450"/>
          </a:xfrm>
          <a:prstGeom prst="rect">
            <a:avLst/>
          </a:prstGeom>
          <a:noFill/>
          <a:ln>
            <a:noFill/>
          </a:ln>
        </p:spPr>
        <p:txBody>
          <a:bodyPr wrap="none" lIns="0" tIns="0" rIns="0" bIns="0" anchor="t"/>
          <a:lstStyle/>
          <a:p>
            <a:pPr algn="l">
              <a:lnSpc>
                <a:spcPts val="2812"/>
              </a:lnSpc>
              <a:spcBef>
                <a:spcPts val="0"/>
              </a:spcBef>
              <a:spcAft>
                <a:spcPts val="0"/>
              </a:spcAft>
            </a:pPr>
            <a:r>
              <a:rPr lang="fr-FR" sz="2250" b="1">
                <a:solidFill>
                  <a:srgbClr val="285D4B"/>
                </a:solidFill>
                <a:latin typeface="Segoe UI"/>
                <a:ea typeface="Segoe UI"/>
                <a:cs typeface="Tahoma"/>
              </a:rPr>
              <a:t xml:space="preserve">F1 val : 0,5206</a:t>
            </a:r>
            <a:endParaRPr lang="fr-FR" sz="2250"/>
          </a:p>
        </p:txBody>
      </p:sp>
      <p:sp>
        <p:nvSpPr>
          <p:cNvPr id="7" name="text-7"/>
          <p:cNvSpPr txBox="1"/>
          <p:nvPr/>
        </p:nvSpPr>
        <p:spPr>
          <a:xfrm>
            <a:off x="8420100" y="3143250"/>
            <a:ext cx="3219450" cy="2333625"/>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64736B"/>
                </a:solidFill>
                <a:latin typeface="Segoe UI"/>
                <a:ea typeface="Segoe UI"/>
                <a:cs typeface="Tahoma"/>
              </a:rPr>
              <a:t xml:space="preserve">Mots 1–2 et caractères 2–5,</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régression logistique et</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pondération des classes. Le</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nettoyage agressif descend à</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0,4959.</a:t>
            </a:r>
            <a:endParaRPr lang="fr-FR" sz="1725"/>
          </a:p>
        </p:txBody>
      </p:sp>
      <p:sp>
        <p:nvSpPr>
          <p:cNvPr id="8" name="rect-8"/>
          <p:cNvSpPr txBox="1"/>
          <p:nvPr/>
        </p:nvSpPr>
        <p:spPr>
          <a:xfrm>
            <a:off x="552450" y="5810250"/>
            <a:ext cx="11087100" cy="542925"/>
          </a:xfrm>
          <a:prstGeom prst="rect">
            <a:avLst/>
          </a:prstGeom>
          <a:solidFill>
            <a:srgbClr val="DDE7D6"/>
          </a:solidFill>
          <a:ln>
            <a:noFill/>
          </a:ln>
        </p:spPr>
      </p:sp>
      <p:sp>
        <p:nvSpPr>
          <p:cNvPr id="9" name="text-9"/>
          <p:cNvSpPr txBox="1"/>
          <p:nvPr/>
        </p:nvSpPr>
        <p:spPr>
          <a:xfrm>
            <a:off x="723900" y="5857875"/>
            <a:ext cx="10715625" cy="476250"/>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285D4B"/>
                </a:solidFill>
                <a:latin typeface="Segoe UI"/>
                <a:ea typeface="Segoe UI"/>
                <a:cs typeface="Tahoma"/>
              </a:rPr>
              <a:t xml:space="preserve">Écart conservateur / agressif : 2,47 points de F1 sur validation, graine 42. Résultat propre à cette comparaison.</a:t>
            </a:r>
            <a:endParaRPr lang="fr-FR" sz="1350"/>
          </a:p>
        </p:txBody>
      </p:sp>
      <p:cxnSp>
        <p:nvCxnSpPr>
          <p:cNvPr id="10" name="line-10"/>
          <p:cNvCxnSpPr/>
          <p:nvPr/>
        </p:nvCxnSpPr>
        <p:spPr>
          <a:xfrm>
            <a:off x="552450" y="6505575"/>
            <a:ext cx="11087100" cy="0"/>
          </a:xfrm>
          <a:prstGeom prst="line">
            <a:avLst/>
          </a:prstGeom>
          <a:ln w="9525">
            <a:solidFill>
              <a:srgbClr val="D4DBCE"/>
            </a:solidFill>
          </a:ln>
        </p:spPr>
      </p:cxnSp>
      <p:sp>
        <p:nvSpPr>
          <p:cNvPr id="11" name="text-11"/>
          <p:cNvSpPr txBox="1"/>
          <p:nvPr/>
        </p:nvSpPr>
        <p:spPr>
          <a:xfrm>
            <a:off x="552450" y="6572250"/>
            <a:ext cx="8572500" cy="219075"/>
          </a:xfrm>
          <a:prstGeom prst="rect">
            <a:avLst/>
          </a:prstGeom>
          <a:noFill/>
          <a:ln>
            <a:noFill/>
          </a:ln>
        </p:spPr>
        <p:txBody>
          <a:bodyPr wrap="none" lIns="0" tIns="0" rIns="0" bIns="0" anchor="t"/>
          <a:lstStyle/>
          <a:p>
            <a:pPr algn="l">
              <a:lnSpc>
                <a:spcPts val="1125"/>
              </a:lnSpc>
              <a:spcBef>
                <a:spcPts val="0"/>
              </a:spcBef>
              <a:spcAft>
                <a:spcPts val="0"/>
              </a:spcAft>
            </a:pPr>
            <a:r>
              <a:rPr lang="fr-FR" sz="900" b="0">
                <a:solidFill>
                  <a:srgbClr val="64736B"/>
                </a:solidFill>
                <a:latin typeface="Segoe UI"/>
                <a:ea typeface="Segoe UI"/>
                <a:cs typeface="Tahoma"/>
              </a:rPr>
              <a:t xml:space="preserve">LMA3NA · Omar Elkhali · BDIOT</a:t>
            </a:r>
            <a:endParaRPr lang="fr-FR" sz="900"/>
          </a:p>
        </p:txBody>
      </p:sp>
      <p:sp>
        <p:nvSpPr>
          <p:cNvPr id="12" name="text-12"/>
          <p:cNvSpPr txBox="1"/>
          <p:nvPr/>
        </p:nvSpPr>
        <p:spPr>
          <a:xfrm>
            <a:off x="10763250" y="6572250"/>
            <a:ext cx="876300" cy="219075"/>
          </a:xfrm>
          <a:prstGeom prst="rect">
            <a:avLst/>
          </a:prstGeom>
          <a:noFill/>
          <a:ln>
            <a:noFill/>
          </a:ln>
        </p:spPr>
        <p:txBody>
          <a:bodyPr wrap="none" lIns="0" tIns="0" rIns="0" bIns="0" anchor="t"/>
          <a:lstStyle/>
          <a:p>
            <a:pPr algn="r">
              <a:lnSpc>
                <a:spcPts val="1125"/>
              </a:lnSpc>
              <a:spcBef>
                <a:spcPts val="0"/>
              </a:spcBef>
              <a:spcAft>
                <a:spcPts val="0"/>
              </a:spcAft>
            </a:pPr>
            <a:r>
              <a:rPr lang="fr-FR" sz="900" b="0">
                <a:solidFill>
                  <a:srgbClr val="64736B"/>
                </a:solidFill>
                <a:latin typeface="Segoe UI"/>
                <a:ea typeface="Segoe UI"/>
                <a:cs typeface="Tahoma"/>
              </a:rPr>
              <a:t xml:space="preserve">09 / 38</a:t>
            </a:r>
            <a:endParaRPr lang="fr-FR" sz="9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5F4EE"/>
        </a:solidFill>
        <a:effectLst/>
      </p:bgPr>
    </p:bg>
    <p:spTree>
      <p:nvGrpSpPr>
        <p:cNvPr id="1" name=""/>
        <p:cNvGrpSpPr/>
        <p:nvPr/>
      </p:nvGrpSpPr>
      <p:grpSpPr>
        <a:xfrm>
          <a:off x="0" y="0"/>
          <a:ext cx="0" cy="0"/>
          <a:chOff x="0" y="0"/>
          <a:chExt cx="0" cy="0"/>
        </a:xfrm>
      </p:grpSpPr>
      <p:sp>
        <p:nvSpPr>
          <p:cNvPr id="2" name="rect-2"/>
          <p:cNvSpPr txBox="1"/>
          <p:nvPr/>
        </p:nvSpPr>
        <p:spPr>
          <a:xfrm>
            <a:off x="552450" y="361950"/>
            <a:ext cx="400050" cy="38100"/>
          </a:xfrm>
          <a:prstGeom prst="rect">
            <a:avLst/>
          </a:prstGeom>
          <a:solidFill>
            <a:srgbClr val="E6A477"/>
          </a:solidFill>
          <a:ln>
            <a:noFill/>
          </a:ln>
        </p:spPr>
      </p:sp>
      <p:sp>
        <p:nvSpPr>
          <p:cNvPr id="3" name="text-3"/>
          <p:cNvSpPr txBox="1"/>
          <p:nvPr/>
        </p:nvSpPr>
        <p:spPr>
          <a:xfrm>
            <a:off x="1066800" y="276225"/>
            <a:ext cx="10287000" cy="266700"/>
          </a:xfrm>
          <a:prstGeom prst="rect">
            <a:avLst/>
          </a:prstGeom>
          <a:noFill/>
          <a:ln>
            <a:noFill/>
          </a:ln>
        </p:spPr>
        <p:txBody>
          <a:bodyPr wrap="none" lIns="0" tIns="0" rIns="0" bIns="0" anchor="t"/>
          <a:lstStyle/>
          <a:p>
            <a:pPr algn="l">
              <a:lnSpc>
                <a:spcPts val="1406"/>
              </a:lnSpc>
              <a:spcBef>
                <a:spcPts val="0"/>
              </a:spcBef>
              <a:spcAft>
                <a:spcPts val="0"/>
              </a:spcAft>
            </a:pPr>
            <a:r>
              <a:rPr lang="fr-FR" sz="1125" b="1">
                <a:solidFill>
                  <a:srgbClr val="285D4B"/>
                </a:solidFill>
                <a:latin typeface="Segoe UI"/>
                <a:ea typeface="Segoe UI"/>
                <a:cs typeface="Tahoma"/>
              </a:rPr>
              <a:t xml:space="preserve">04 · B · TRANSFERT</a:t>
            </a:r>
            <a:endParaRPr lang="fr-FR" sz="1125"/>
          </a:p>
        </p:txBody>
      </p:sp>
      <p:sp>
        <p:nvSpPr>
          <p:cNvPr id="4" name="text-4"/>
          <p:cNvSpPr txBox="1"/>
          <p:nvPr/>
        </p:nvSpPr>
        <p:spPr>
          <a:xfrm>
            <a:off x="552450" y="790575"/>
            <a:ext cx="11087100" cy="1066800"/>
          </a:xfrm>
          <a:prstGeom prst="rect">
            <a:avLst/>
          </a:prstGeom>
          <a:noFill/>
          <a:ln>
            <a:noFill/>
          </a:ln>
        </p:spPr>
        <p:txBody>
          <a:bodyPr wrap="none" lIns="0" tIns="0" rIns="0" bIns="0" anchor="t"/>
          <a:lstStyle/>
          <a:p>
            <a:pPr algn="l">
              <a:lnSpc>
                <a:spcPts val="4031"/>
              </a:lnSpc>
              <a:spcBef>
                <a:spcPts val="0"/>
              </a:spcBef>
              <a:spcAft>
                <a:spcPts val="0"/>
              </a:spcAft>
            </a:pPr>
            <a:r>
              <a:rPr lang="fr-FR" sz="3225" b="1">
                <a:solidFill>
                  <a:srgbClr val="203A32"/>
                </a:solidFill>
                <a:latin typeface="Segoe UI"/>
                <a:ea typeface="Segoe UI"/>
                <a:cs typeface="Tahoma"/>
              </a:rPr>
              <a:t xml:space="preserve">Le zero-shot dépend du prompt et du signal de</a:t>
            </a:r>
            <a:endParaRPr lang="fr-FR" sz="3225"/>
          </a:p>
          <a:p>
            <a:pPr algn="l">
              <a:lnSpc>
                <a:spcPts val="4031"/>
              </a:lnSpc>
              <a:spcBef>
                <a:spcPts val="0"/>
              </a:spcBef>
              <a:spcAft>
                <a:spcPts val="0"/>
              </a:spcAft>
            </a:pPr>
            <a:r>
              <a:rPr lang="fr-FR" sz="3225" b="1">
                <a:solidFill>
                  <a:srgbClr val="203A32"/>
                </a:solidFill>
                <a:latin typeface="Segoe UI"/>
                <a:ea typeface="Segoe UI"/>
                <a:cs typeface="Tahoma"/>
              </a:rPr>
              <a:t xml:space="preserve">sentiment</a:t>
            </a:r>
            <a:endParaRPr lang="fr-FR" sz="3225"/>
          </a:p>
        </p:txBody>
      </p:sp>
      <p:sp>
        <p:nvSpPr>
          <p:cNvPr id="5" name="rect-5"/>
          <p:cNvSpPr txBox="1"/>
          <p:nvPr/>
        </p:nvSpPr>
        <p:spPr>
          <a:xfrm>
            <a:off x="552450" y="2028825"/>
            <a:ext cx="11087100" cy="571500"/>
          </a:xfrm>
          <a:prstGeom prst="rect">
            <a:avLst/>
          </a:prstGeom>
          <a:solidFill>
            <a:srgbClr val="285D4B"/>
          </a:solidFill>
          <a:ln>
            <a:noFill/>
          </a:ln>
        </p:spPr>
      </p:sp>
      <p:sp>
        <p:nvSpPr>
          <p:cNvPr id="6" name="text-6"/>
          <p:cNvSpPr txBox="1"/>
          <p:nvPr/>
        </p:nvSpPr>
        <p:spPr>
          <a:xfrm>
            <a:off x="666750" y="2057400"/>
            <a:ext cx="5112258" cy="542925"/>
          </a:xfrm>
          <a:prstGeom prst="rect">
            <a:avLst/>
          </a:prstGeom>
          <a:noFill/>
          <a:ln>
            <a:noFill/>
          </a:ln>
        </p:spPr>
        <p:txBody>
          <a:bodyPr wrap="none" lIns="0" tIns="0" rIns="0" bIns="0" anchor="t"/>
          <a:lstStyle/>
          <a:p>
            <a:pPr algn="l">
              <a:lnSpc>
                <a:spcPts val="2156"/>
              </a:lnSpc>
              <a:spcBef>
                <a:spcPts val="0"/>
              </a:spcBef>
              <a:spcAft>
                <a:spcPts val="0"/>
              </a:spcAft>
            </a:pPr>
            <a:r>
              <a:rPr lang="fr-FR" sz="1725" b="1">
                <a:solidFill>
                  <a:srgbClr val="FFFFFF"/>
                </a:solidFill>
                <a:latin typeface="Segoe UI"/>
                <a:ea typeface="Segoe UI"/>
                <a:cs typeface="Tahoma"/>
              </a:rPr>
              <a:t xml:space="preserve">Méthode</a:t>
            </a:r>
            <a:endParaRPr lang="fr-FR" sz="1725"/>
          </a:p>
        </p:txBody>
      </p:sp>
      <p:sp>
        <p:nvSpPr>
          <p:cNvPr id="7" name="text-7"/>
          <p:cNvSpPr txBox="1"/>
          <p:nvPr/>
        </p:nvSpPr>
        <p:spPr>
          <a:xfrm>
            <a:off x="5988558" y="2057400"/>
            <a:ext cx="2229612" cy="542925"/>
          </a:xfrm>
          <a:prstGeom prst="rect">
            <a:avLst/>
          </a:prstGeom>
          <a:noFill/>
          <a:ln>
            <a:noFill/>
          </a:ln>
        </p:spPr>
        <p:txBody>
          <a:bodyPr wrap="none" lIns="0" tIns="0" rIns="0" bIns="0" anchor="t"/>
          <a:lstStyle/>
          <a:p>
            <a:pPr algn="l">
              <a:lnSpc>
                <a:spcPts val="2156"/>
              </a:lnSpc>
              <a:spcBef>
                <a:spcPts val="0"/>
              </a:spcBef>
              <a:spcAft>
                <a:spcPts val="0"/>
              </a:spcAft>
            </a:pPr>
            <a:r>
              <a:rPr lang="fr-FR" sz="1725" b="1">
                <a:solidFill>
                  <a:srgbClr val="FFFFFF"/>
                </a:solidFill>
                <a:latin typeface="Segoe UI"/>
                <a:ea typeface="Segoe UI"/>
                <a:cs typeface="Tahoma"/>
              </a:rPr>
              <a:t xml:space="preserve">F1 validation</a:t>
            </a:r>
            <a:endParaRPr lang="fr-FR" sz="1725"/>
          </a:p>
        </p:txBody>
      </p:sp>
      <p:sp>
        <p:nvSpPr>
          <p:cNvPr id="8" name="text-8"/>
          <p:cNvSpPr txBox="1"/>
          <p:nvPr/>
        </p:nvSpPr>
        <p:spPr>
          <a:xfrm>
            <a:off x="8427720" y="2057400"/>
            <a:ext cx="3116580" cy="542925"/>
          </a:xfrm>
          <a:prstGeom prst="rect">
            <a:avLst/>
          </a:prstGeom>
          <a:noFill/>
          <a:ln>
            <a:noFill/>
          </a:ln>
        </p:spPr>
        <p:txBody>
          <a:bodyPr wrap="none" lIns="0" tIns="0" rIns="0" bIns="0" anchor="t"/>
          <a:lstStyle/>
          <a:p>
            <a:pPr algn="l">
              <a:lnSpc>
                <a:spcPts val="2156"/>
              </a:lnSpc>
              <a:spcBef>
                <a:spcPts val="0"/>
              </a:spcBef>
              <a:spcAft>
                <a:spcPts val="0"/>
              </a:spcAft>
            </a:pPr>
            <a:r>
              <a:rPr lang="fr-FR" sz="1725" b="1">
                <a:solidFill>
                  <a:srgbClr val="FFFFFF"/>
                </a:solidFill>
                <a:latin typeface="Segoe UI"/>
                <a:ea typeface="Segoe UI"/>
                <a:cs typeface="Tahoma"/>
              </a:rPr>
              <a:t xml:space="preserve">F1 test</a:t>
            </a:r>
            <a:endParaRPr lang="fr-FR" sz="1725"/>
          </a:p>
        </p:txBody>
      </p:sp>
      <p:sp>
        <p:nvSpPr>
          <p:cNvPr id="9" name="rect-9"/>
          <p:cNvSpPr txBox="1"/>
          <p:nvPr/>
        </p:nvSpPr>
        <p:spPr>
          <a:xfrm>
            <a:off x="552450" y="2600325"/>
            <a:ext cx="11087100" cy="571500"/>
          </a:xfrm>
          <a:prstGeom prst="rect">
            <a:avLst/>
          </a:prstGeom>
          <a:solidFill>
            <a:srgbClr val="FFFFFF"/>
          </a:solidFill>
          <a:ln>
            <a:noFill/>
          </a:ln>
        </p:spPr>
      </p:sp>
      <p:sp>
        <p:nvSpPr>
          <p:cNvPr id="10" name="text-10"/>
          <p:cNvSpPr txBox="1"/>
          <p:nvPr/>
        </p:nvSpPr>
        <p:spPr>
          <a:xfrm>
            <a:off x="666750" y="2628900"/>
            <a:ext cx="5112258" cy="542925"/>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203A32"/>
                </a:solidFill>
                <a:latin typeface="Segoe UI"/>
                <a:ea typeface="Segoe UI"/>
                <a:cs typeface="Tahoma"/>
              </a:rPr>
              <a:t xml:space="preserve">NLI, hypothèses arabes</a:t>
            </a:r>
            <a:endParaRPr lang="fr-FR" sz="1725"/>
          </a:p>
        </p:txBody>
      </p:sp>
      <p:sp>
        <p:nvSpPr>
          <p:cNvPr id="11" name="text-11"/>
          <p:cNvSpPr txBox="1"/>
          <p:nvPr/>
        </p:nvSpPr>
        <p:spPr>
          <a:xfrm>
            <a:off x="5988558" y="2628900"/>
            <a:ext cx="2229612" cy="542925"/>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203A32"/>
                </a:solidFill>
                <a:latin typeface="Segoe UI"/>
                <a:ea typeface="Segoe UI"/>
                <a:cs typeface="Tahoma"/>
              </a:rPr>
              <a:t xml:space="preserve">0,4069</a:t>
            </a:r>
            <a:endParaRPr lang="fr-FR" sz="1725"/>
          </a:p>
        </p:txBody>
      </p:sp>
      <p:sp>
        <p:nvSpPr>
          <p:cNvPr id="12" name="text-12"/>
          <p:cNvSpPr txBox="1"/>
          <p:nvPr/>
        </p:nvSpPr>
        <p:spPr>
          <a:xfrm>
            <a:off x="8427720" y="2628900"/>
            <a:ext cx="3116580" cy="542925"/>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203A32"/>
                </a:solidFill>
                <a:latin typeface="Segoe UI"/>
                <a:ea typeface="Segoe UI"/>
                <a:cs typeface="Tahoma"/>
              </a:rPr>
              <a:t xml:space="preserve">Non retenu en test final</a:t>
            </a:r>
            <a:endParaRPr lang="fr-FR" sz="1725"/>
          </a:p>
        </p:txBody>
      </p:sp>
      <p:sp>
        <p:nvSpPr>
          <p:cNvPr id="13" name="rect-13"/>
          <p:cNvSpPr txBox="1"/>
          <p:nvPr/>
        </p:nvSpPr>
        <p:spPr>
          <a:xfrm>
            <a:off x="552450" y="3171825"/>
            <a:ext cx="11087100" cy="571500"/>
          </a:xfrm>
          <a:prstGeom prst="rect">
            <a:avLst/>
          </a:prstGeom>
          <a:solidFill>
            <a:srgbClr val="EBEEE6"/>
          </a:solidFill>
          <a:ln>
            <a:noFill/>
          </a:ln>
        </p:spPr>
      </p:sp>
      <p:sp>
        <p:nvSpPr>
          <p:cNvPr id="14" name="text-14"/>
          <p:cNvSpPr txBox="1"/>
          <p:nvPr/>
        </p:nvSpPr>
        <p:spPr>
          <a:xfrm>
            <a:off x="666750" y="3200400"/>
            <a:ext cx="5112258" cy="542925"/>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203A32"/>
                </a:solidFill>
                <a:latin typeface="Segoe UI"/>
                <a:ea typeface="Segoe UI"/>
                <a:cs typeface="Tahoma"/>
              </a:rPr>
              <a:t xml:space="preserve">NLI, hypothèses françaises</a:t>
            </a:r>
            <a:endParaRPr lang="fr-FR" sz="1725"/>
          </a:p>
        </p:txBody>
      </p:sp>
      <p:sp>
        <p:nvSpPr>
          <p:cNvPr id="15" name="text-15"/>
          <p:cNvSpPr txBox="1"/>
          <p:nvPr/>
        </p:nvSpPr>
        <p:spPr>
          <a:xfrm>
            <a:off x="5988558" y="3200400"/>
            <a:ext cx="2229612" cy="542925"/>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203A32"/>
                </a:solidFill>
                <a:latin typeface="Segoe UI"/>
                <a:ea typeface="Segoe UI"/>
                <a:cs typeface="Tahoma"/>
              </a:rPr>
              <a:t xml:space="preserve">0,4189</a:t>
            </a:r>
            <a:endParaRPr lang="fr-FR" sz="1725"/>
          </a:p>
        </p:txBody>
      </p:sp>
      <p:sp>
        <p:nvSpPr>
          <p:cNvPr id="16" name="text-16"/>
          <p:cNvSpPr txBox="1"/>
          <p:nvPr/>
        </p:nvSpPr>
        <p:spPr>
          <a:xfrm>
            <a:off x="8427720" y="3200400"/>
            <a:ext cx="3116580" cy="542925"/>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203A32"/>
                </a:solidFill>
                <a:latin typeface="Segoe UI"/>
                <a:ea typeface="Segoe UI"/>
                <a:cs typeface="Tahoma"/>
              </a:rPr>
              <a:t xml:space="preserve">Non retenu en test final</a:t>
            </a:r>
            <a:endParaRPr lang="fr-FR" sz="1725"/>
          </a:p>
        </p:txBody>
      </p:sp>
      <p:sp>
        <p:nvSpPr>
          <p:cNvPr id="17" name="rect-17"/>
          <p:cNvSpPr txBox="1"/>
          <p:nvPr/>
        </p:nvSpPr>
        <p:spPr>
          <a:xfrm>
            <a:off x="552450" y="3743325"/>
            <a:ext cx="11087100" cy="571500"/>
          </a:xfrm>
          <a:prstGeom prst="rect">
            <a:avLst/>
          </a:prstGeom>
          <a:solidFill>
            <a:srgbClr val="FFFFFF"/>
          </a:solidFill>
          <a:ln>
            <a:noFill/>
          </a:ln>
        </p:spPr>
      </p:sp>
      <p:sp>
        <p:nvSpPr>
          <p:cNvPr id="18" name="text-18"/>
          <p:cNvSpPr txBox="1"/>
          <p:nvPr/>
        </p:nvSpPr>
        <p:spPr>
          <a:xfrm>
            <a:off x="666750" y="3771900"/>
            <a:ext cx="5112258" cy="542925"/>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203A32"/>
                </a:solidFill>
                <a:latin typeface="Segoe UI"/>
                <a:ea typeface="Segoe UI"/>
                <a:cs typeface="Tahoma"/>
              </a:rPr>
              <a:t xml:space="preserve">NLI, hypothèses anglaises</a:t>
            </a:r>
            <a:endParaRPr lang="fr-FR" sz="1725"/>
          </a:p>
        </p:txBody>
      </p:sp>
      <p:sp>
        <p:nvSpPr>
          <p:cNvPr id="19" name="text-19"/>
          <p:cNvSpPr txBox="1"/>
          <p:nvPr/>
        </p:nvSpPr>
        <p:spPr>
          <a:xfrm>
            <a:off x="5988558" y="3771900"/>
            <a:ext cx="2229612" cy="542925"/>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203A32"/>
                </a:solidFill>
                <a:latin typeface="Segoe UI"/>
                <a:ea typeface="Segoe UI"/>
                <a:cs typeface="Tahoma"/>
              </a:rPr>
              <a:t xml:space="preserve">0,4224</a:t>
            </a:r>
            <a:endParaRPr lang="fr-FR" sz="1725"/>
          </a:p>
        </p:txBody>
      </p:sp>
      <p:sp>
        <p:nvSpPr>
          <p:cNvPr id="20" name="text-20"/>
          <p:cNvSpPr txBox="1"/>
          <p:nvPr/>
        </p:nvSpPr>
        <p:spPr>
          <a:xfrm>
            <a:off x="8427720" y="3771900"/>
            <a:ext cx="3116580" cy="542925"/>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203A32"/>
                </a:solidFill>
                <a:latin typeface="Segoe UI"/>
                <a:ea typeface="Segoe UI"/>
                <a:cs typeface="Tahoma"/>
              </a:rPr>
              <a:t xml:space="preserve">0,4625</a:t>
            </a:r>
            <a:endParaRPr lang="fr-FR" sz="1725"/>
          </a:p>
        </p:txBody>
      </p:sp>
      <p:sp>
        <p:nvSpPr>
          <p:cNvPr id="21" name="rect-21"/>
          <p:cNvSpPr txBox="1"/>
          <p:nvPr/>
        </p:nvSpPr>
        <p:spPr>
          <a:xfrm>
            <a:off x="552450" y="4314825"/>
            <a:ext cx="11087100" cy="571500"/>
          </a:xfrm>
          <a:prstGeom prst="rect">
            <a:avLst/>
          </a:prstGeom>
          <a:solidFill>
            <a:srgbClr val="EBEEE6"/>
          </a:solidFill>
          <a:ln>
            <a:noFill/>
          </a:ln>
        </p:spPr>
      </p:sp>
      <p:sp>
        <p:nvSpPr>
          <p:cNvPr id="22" name="text-22"/>
          <p:cNvSpPr txBox="1"/>
          <p:nvPr/>
        </p:nvSpPr>
        <p:spPr>
          <a:xfrm>
            <a:off x="666750" y="4343400"/>
            <a:ext cx="5112258" cy="542925"/>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203A32"/>
                </a:solidFill>
                <a:latin typeface="Segoe UI"/>
                <a:ea typeface="Segoe UI"/>
                <a:cs typeface="Tahoma"/>
              </a:rPr>
              <a:t xml:space="preserve">B2, sentiment négatif</a:t>
            </a:r>
            <a:endParaRPr lang="fr-FR" sz="1725"/>
          </a:p>
        </p:txBody>
      </p:sp>
      <p:sp>
        <p:nvSpPr>
          <p:cNvPr id="23" name="text-23"/>
          <p:cNvSpPr txBox="1"/>
          <p:nvPr/>
        </p:nvSpPr>
        <p:spPr>
          <a:xfrm>
            <a:off x="5988558" y="4343400"/>
            <a:ext cx="2229612" cy="542925"/>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203A32"/>
                </a:solidFill>
                <a:latin typeface="Segoe UI"/>
                <a:ea typeface="Segoe UI"/>
                <a:cs typeface="Tahoma"/>
              </a:rPr>
              <a:t xml:space="preserve">0,4695</a:t>
            </a:r>
            <a:endParaRPr lang="fr-FR" sz="1725"/>
          </a:p>
        </p:txBody>
      </p:sp>
      <p:sp>
        <p:nvSpPr>
          <p:cNvPr id="24" name="text-24"/>
          <p:cNvSpPr txBox="1"/>
          <p:nvPr/>
        </p:nvSpPr>
        <p:spPr>
          <a:xfrm>
            <a:off x="8427720" y="4343400"/>
            <a:ext cx="3116580" cy="542925"/>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203A32"/>
                </a:solidFill>
                <a:latin typeface="Segoe UI"/>
                <a:ea typeface="Segoe UI"/>
                <a:cs typeface="Tahoma"/>
              </a:rPr>
              <a:t xml:space="preserve">0,5320</a:t>
            </a:r>
            <a:endParaRPr lang="fr-FR" sz="1725"/>
          </a:p>
        </p:txBody>
      </p:sp>
      <p:sp>
        <p:nvSpPr>
          <p:cNvPr id="25" name="rect-25"/>
          <p:cNvSpPr txBox="1"/>
          <p:nvPr/>
        </p:nvSpPr>
        <p:spPr>
          <a:xfrm>
            <a:off x="552450" y="5810250"/>
            <a:ext cx="11087100" cy="542925"/>
          </a:xfrm>
          <a:prstGeom prst="rect">
            <a:avLst/>
          </a:prstGeom>
          <a:solidFill>
            <a:srgbClr val="DDE7D6"/>
          </a:solidFill>
          <a:ln>
            <a:noFill/>
          </a:ln>
        </p:spPr>
      </p:sp>
      <p:sp>
        <p:nvSpPr>
          <p:cNvPr id="26" name="text-26"/>
          <p:cNvSpPr txBox="1"/>
          <p:nvPr/>
        </p:nvSpPr>
        <p:spPr>
          <a:xfrm>
            <a:off x="723900" y="5857875"/>
            <a:ext cx="10715625" cy="476250"/>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285D4B"/>
                </a:solidFill>
                <a:latin typeface="Segoe UI"/>
                <a:ea typeface="Segoe UI"/>
                <a:cs typeface="Tahoma"/>
              </a:rPr>
              <a:t xml:space="preserve">B2 suit l’argmax des trois sentiments. Son score P(négatif) n’est pas une probabilité de sarcasme.</a:t>
            </a:r>
            <a:endParaRPr lang="fr-FR" sz="1350"/>
          </a:p>
        </p:txBody>
      </p:sp>
      <p:cxnSp>
        <p:nvCxnSpPr>
          <p:cNvPr id="27" name="line-27"/>
          <p:cNvCxnSpPr/>
          <p:nvPr/>
        </p:nvCxnSpPr>
        <p:spPr>
          <a:xfrm>
            <a:off x="552450" y="6505575"/>
            <a:ext cx="11087100" cy="0"/>
          </a:xfrm>
          <a:prstGeom prst="line">
            <a:avLst/>
          </a:prstGeom>
          <a:ln w="9525">
            <a:solidFill>
              <a:srgbClr val="D4DBCE"/>
            </a:solidFill>
          </a:ln>
        </p:spPr>
      </p:cxnSp>
      <p:sp>
        <p:nvSpPr>
          <p:cNvPr id="28" name="text-28"/>
          <p:cNvSpPr txBox="1"/>
          <p:nvPr/>
        </p:nvSpPr>
        <p:spPr>
          <a:xfrm>
            <a:off x="552450" y="6572250"/>
            <a:ext cx="8572500" cy="219075"/>
          </a:xfrm>
          <a:prstGeom prst="rect">
            <a:avLst/>
          </a:prstGeom>
          <a:noFill/>
          <a:ln>
            <a:noFill/>
          </a:ln>
        </p:spPr>
        <p:txBody>
          <a:bodyPr wrap="none" lIns="0" tIns="0" rIns="0" bIns="0" anchor="t"/>
          <a:lstStyle/>
          <a:p>
            <a:pPr algn="l">
              <a:lnSpc>
                <a:spcPts val="1125"/>
              </a:lnSpc>
              <a:spcBef>
                <a:spcPts val="0"/>
              </a:spcBef>
              <a:spcAft>
                <a:spcPts val="0"/>
              </a:spcAft>
            </a:pPr>
            <a:r>
              <a:rPr lang="fr-FR" sz="900" b="0">
                <a:solidFill>
                  <a:srgbClr val="64736B"/>
                </a:solidFill>
                <a:latin typeface="Segoe UI"/>
                <a:ea typeface="Segoe UI"/>
                <a:cs typeface="Tahoma"/>
              </a:rPr>
              <a:t xml:space="preserve">LMA3NA · Omar Elkhali · BDIOT</a:t>
            </a:r>
            <a:endParaRPr lang="fr-FR" sz="900"/>
          </a:p>
        </p:txBody>
      </p:sp>
      <p:sp>
        <p:nvSpPr>
          <p:cNvPr id="29" name="text-29"/>
          <p:cNvSpPr txBox="1"/>
          <p:nvPr/>
        </p:nvSpPr>
        <p:spPr>
          <a:xfrm>
            <a:off x="10763250" y="6572250"/>
            <a:ext cx="876300" cy="219075"/>
          </a:xfrm>
          <a:prstGeom prst="rect">
            <a:avLst/>
          </a:prstGeom>
          <a:noFill/>
          <a:ln>
            <a:noFill/>
          </a:ln>
        </p:spPr>
        <p:txBody>
          <a:bodyPr wrap="none" lIns="0" tIns="0" rIns="0" bIns="0" anchor="t"/>
          <a:lstStyle/>
          <a:p>
            <a:pPr algn="r">
              <a:lnSpc>
                <a:spcPts val="1125"/>
              </a:lnSpc>
              <a:spcBef>
                <a:spcPts val="0"/>
              </a:spcBef>
              <a:spcAft>
                <a:spcPts val="0"/>
              </a:spcAft>
            </a:pPr>
            <a:r>
              <a:rPr lang="fr-FR" sz="900" b="0">
                <a:solidFill>
                  <a:srgbClr val="64736B"/>
                </a:solidFill>
                <a:latin typeface="Segoe UI"/>
                <a:ea typeface="Segoe UI"/>
                <a:cs typeface="Tahoma"/>
              </a:rPr>
              <a:t xml:space="preserve">10 / 38</a:t>
            </a:r>
            <a:endParaRPr lang="fr-FR" sz="9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5F4EE"/>
        </a:solidFill>
        <a:effectLst/>
      </p:bgPr>
    </p:bg>
    <p:spTree>
      <p:nvGrpSpPr>
        <p:cNvPr id="1" name=""/>
        <p:cNvGrpSpPr/>
        <p:nvPr/>
      </p:nvGrpSpPr>
      <p:grpSpPr>
        <a:xfrm>
          <a:off x="0" y="0"/>
          <a:ext cx="0" cy="0"/>
          <a:chOff x="0" y="0"/>
          <a:chExt cx="0" cy="0"/>
        </a:xfrm>
      </p:grpSpPr>
      <p:sp>
        <p:nvSpPr>
          <p:cNvPr id="2" name="rect-2"/>
          <p:cNvSpPr txBox="1"/>
          <p:nvPr/>
        </p:nvSpPr>
        <p:spPr>
          <a:xfrm>
            <a:off x="552450" y="361950"/>
            <a:ext cx="400050" cy="38100"/>
          </a:xfrm>
          <a:prstGeom prst="rect">
            <a:avLst/>
          </a:prstGeom>
          <a:solidFill>
            <a:srgbClr val="E6A477"/>
          </a:solidFill>
          <a:ln>
            <a:noFill/>
          </a:ln>
        </p:spPr>
      </p:sp>
      <p:sp>
        <p:nvSpPr>
          <p:cNvPr id="3" name="text-3"/>
          <p:cNvSpPr txBox="1"/>
          <p:nvPr/>
        </p:nvSpPr>
        <p:spPr>
          <a:xfrm>
            <a:off x="1066800" y="276225"/>
            <a:ext cx="10287000" cy="266700"/>
          </a:xfrm>
          <a:prstGeom prst="rect">
            <a:avLst/>
          </a:prstGeom>
          <a:noFill/>
          <a:ln>
            <a:noFill/>
          </a:ln>
        </p:spPr>
        <p:txBody>
          <a:bodyPr wrap="none" lIns="0" tIns="0" rIns="0" bIns="0" anchor="t"/>
          <a:lstStyle/>
          <a:p>
            <a:pPr algn="l">
              <a:lnSpc>
                <a:spcPts val="1406"/>
              </a:lnSpc>
              <a:spcBef>
                <a:spcPts val="0"/>
              </a:spcBef>
              <a:spcAft>
                <a:spcPts val="0"/>
              </a:spcAft>
            </a:pPr>
            <a:r>
              <a:rPr lang="fr-FR" sz="1125" b="1">
                <a:solidFill>
                  <a:srgbClr val="285D4B"/>
                </a:solidFill>
                <a:latin typeface="Segoe UI"/>
                <a:ea typeface="Segoe UI"/>
                <a:cs typeface="Tahoma"/>
              </a:rPr>
              <a:t xml:space="preserve">04 · C · RÉSEAUX</a:t>
            </a:r>
            <a:endParaRPr lang="fr-FR" sz="1125"/>
          </a:p>
        </p:txBody>
      </p:sp>
      <p:sp>
        <p:nvSpPr>
          <p:cNvPr id="4" name="text-4"/>
          <p:cNvSpPr txBox="1"/>
          <p:nvPr/>
        </p:nvSpPr>
        <p:spPr>
          <a:xfrm>
            <a:off x="552450" y="790575"/>
            <a:ext cx="11087100" cy="1066800"/>
          </a:xfrm>
          <a:prstGeom prst="rect">
            <a:avLst/>
          </a:prstGeom>
          <a:noFill/>
          <a:ln>
            <a:noFill/>
          </a:ln>
        </p:spPr>
        <p:txBody>
          <a:bodyPr wrap="none" lIns="0" tIns="0" rIns="0" bIns="0" anchor="t"/>
          <a:lstStyle/>
          <a:p>
            <a:pPr algn="l">
              <a:lnSpc>
                <a:spcPts val="4031"/>
              </a:lnSpc>
              <a:spcBef>
                <a:spcPts val="0"/>
              </a:spcBef>
              <a:spcAft>
                <a:spcPts val="0"/>
              </a:spcAft>
            </a:pPr>
            <a:r>
              <a:rPr lang="fr-FR" sz="3225" b="1">
                <a:solidFill>
                  <a:srgbClr val="203A32"/>
                </a:solidFill>
                <a:latin typeface="Segoe UI"/>
                <a:ea typeface="Segoe UI"/>
                <a:cs typeface="Tahoma"/>
              </a:rPr>
              <a:t xml:space="preserve">Trois architectures apprennent l’ordre et les relations</a:t>
            </a:r>
            <a:endParaRPr lang="fr-FR" sz="3225"/>
          </a:p>
        </p:txBody>
      </p:sp>
      <p:sp>
        <p:nvSpPr>
          <p:cNvPr id="5" name="text-5"/>
          <p:cNvSpPr txBox="1"/>
          <p:nvPr/>
        </p:nvSpPr>
        <p:spPr>
          <a:xfrm>
            <a:off x="552450" y="2095500"/>
            <a:ext cx="3238500" cy="685800"/>
          </a:xfrm>
          <a:prstGeom prst="rect">
            <a:avLst/>
          </a:prstGeom>
          <a:noFill/>
          <a:ln>
            <a:noFill/>
          </a:ln>
        </p:spPr>
        <p:txBody>
          <a:bodyPr wrap="none" lIns="0" tIns="0" rIns="0" bIns="0" anchor="t"/>
          <a:lstStyle/>
          <a:p>
            <a:pPr algn="l">
              <a:lnSpc>
                <a:spcPts val="2719"/>
              </a:lnSpc>
              <a:spcBef>
                <a:spcPts val="0"/>
              </a:spcBef>
              <a:spcAft>
                <a:spcPts val="0"/>
              </a:spcAft>
            </a:pPr>
            <a:r>
              <a:rPr lang="fr-FR" sz="2175" b="1">
                <a:solidFill>
                  <a:srgbClr val="285D4B"/>
                </a:solidFill>
                <a:latin typeface="Segoe UI"/>
                <a:ea typeface="Segoe UI"/>
                <a:cs typeface="Tahoma"/>
              </a:rPr>
              <a:t xml:space="preserve">C1 · BiLSTM</a:t>
            </a:r>
            <a:endParaRPr lang="fr-FR" sz="2175"/>
          </a:p>
        </p:txBody>
      </p:sp>
      <p:sp>
        <p:nvSpPr>
          <p:cNvPr id="6" name="text-6"/>
          <p:cNvSpPr txBox="1"/>
          <p:nvPr/>
        </p:nvSpPr>
        <p:spPr>
          <a:xfrm>
            <a:off x="552450" y="2886075"/>
            <a:ext cx="3238500" cy="2286000"/>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64736B"/>
                </a:solidFill>
                <a:latin typeface="Segoe UI"/>
                <a:ea typeface="Segoe UI"/>
                <a:cs typeface="Tahoma"/>
              </a:rPr>
              <a:t xml:space="preserve">Embeddings 100D</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64 unités par direction</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Max-pooling masqué</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Classification binaire</a:t>
            </a:r>
            <a:endParaRPr lang="fr-FR" sz="1725"/>
          </a:p>
        </p:txBody>
      </p:sp>
      <p:sp>
        <p:nvSpPr>
          <p:cNvPr id="7" name="text-7"/>
          <p:cNvSpPr txBox="1"/>
          <p:nvPr/>
        </p:nvSpPr>
        <p:spPr>
          <a:xfrm>
            <a:off x="4333875" y="2095500"/>
            <a:ext cx="3238500" cy="685800"/>
          </a:xfrm>
          <a:prstGeom prst="rect">
            <a:avLst/>
          </a:prstGeom>
          <a:noFill/>
          <a:ln>
            <a:noFill/>
          </a:ln>
        </p:spPr>
        <p:txBody>
          <a:bodyPr wrap="none" lIns="0" tIns="0" rIns="0" bIns="0" anchor="t"/>
          <a:lstStyle/>
          <a:p>
            <a:pPr algn="l">
              <a:lnSpc>
                <a:spcPts val="2719"/>
              </a:lnSpc>
              <a:spcBef>
                <a:spcPts val="0"/>
              </a:spcBef>
              <a:spcAft>
                <a:spcPts val="0"/>
              </a:spcAft>
            </a:pPr>
            <a:r>
              <a:rPr lang="fr-FR" sz="2175" b="1">
                <a:solidFill>
                  <a:srgbClr val="285D4B"/>
                </a:solidFill>
                <a:latin typeface="Segoe UI"/>
                <a:ea typeface="Segoe UI"/>
                <a:cs typeface="Tahoma"/>
              </a:rPr>
              <a:t xml:space="preserve">C2 · Attention</a:t>
            </a:r>
            <a:endParaRPr lang="fr-FR" sz="2175"/>
          </a:p>
        </p:txBody>
      </p:sp>
      <p:sp>
        <p:nvSpPr>
          <p:cNvPr id="8" name="text-8"/>
          <p:cNvSpPr txBox="1"/>
          <p:nvPr/>
        </p:nvSpPr>
        <p:spPr>
          <a:xfrm>
            <a:off x="4333875" y="2886075"/>
            <a:ext cx="3238500" cy="2286000"/>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64736B"/>
                </a:solidFill>
                <a:latin typeface="Segoe UI"/>
                <a:ea typeface="Segoe UI"/>
                <a:cs typeface="Tahoma"/>
              </a:rPr>
              <a:t xml:space="preserve">BiLSTM bidirectionnel</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Attention apprise</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Somme pondérée des états</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Classification binaire</a:t>
            </a:r>
            <a:endParaRPr lang="fr-FR" sz="1725"/>
          </a:p>
        </p:txBody>
      </p:sp>
      <p:sp>
        <p:nvSpPr>
          <p:cNvPr id="9" name="text-9"/>
          <p:cNvSpPr txBox="1"/>
          <p:nvPr/>
        </p:nvSpPr>
        <p:spPr>
          <a:xfrm>
            <a:off x="8115300" y="2095500"/>
            <a:ext cx="3238500" cy="685800"/>
          </a:xfrm>
          <a:prstGeom prst="rect">
            <a:avLst/>
          </a:prstGeom>
          <a:noFill/>
          <a:ln>
            <a:noFill/>
          </a:ln>
        </p:spPr>
        <p:txBody>
          <a:bodyPr wrap="none" lIns="0" tIns="0" rIns="0" bIns="0" anchor="t"/>
          <a:lstStyle/>
          <a:p>
            <a:pPr algn="l">
              <a:lnSpc>
                <a:spcPts val="2719"/>
              </a:lnSpc>
              <a:spcBef>
                <a:spcPts val="0"/>
              </a:spcBef>
              <a:spcAft>
                <a:spcPts val="0"/>
              </a:spcAft>
            </a:pPr>
            <a:r>
              <a:rPr lang="fr-FR" sz="2175" b="1">
                <a:solidFill>
                  <a:srgbClr val="285D4B"/>
                </a:solidFill>
                <a:latin typeface="Segoe UI"/>
                <a:ea typeface="Segoe UI"/>
                <a:cs typeface="Tahoma"/>
              </a:rPr>
              <a:t xml:space="preserve">C3 · Transformer</a:t>
            </a:r>
            <a:endParaRPr lang="fr-FR" sz="2175"/>
          </a:p>
        </p:txBody>
      </p:sp>
      <p:sp>
        <p:nvSpPr>
          <p:cNvPr id="10" name="text-10"/>
          <p:cNvSpPr txBox="1"/>
          <p:nvPr/>
        </p:nvSpPr>
        <p:spPr>
          <a:xfrm>
            <a:off x="8115300" y="2886075"/>
            <a:ext cx="3238500" cy="2286000"/>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64736B"/>
                </a:solidFill>
                <a:latin typeface="Segoe UI"/>
                <a:ea typeface="Segoe UI"/>
                <a:cs typeface="Tahoma"/>
              </a:rPr>
              <a:t xml:space="preserve">Projection 128D</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2 couches, 4 têtes</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Positions sinusoïdales</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Masque du padding</a:t>
            </a:r>
            <a:endParaRPr lang="fr-FR" sz="1725"/>
          </a:p>
        </p:txBody>
      </p:sp>
      <p:sp>
        <p:nvSpPr>
          <p:cNvPr id="11" name="rect-11"/>
          <p:cNvSpPr txBox="1"/>
          <p:nvPr/>
        </p:nvSpPr>
        <p:spPr>
          <a:xfrm>
            <a:off x="552450" y="5810250"/>
            <a:ext cx="11087100" cy="542925"/>
          </a:xfrm>
          <a:prstGeom prst="rect">
            <a:avLst/>
          </a:prstGeom>
          <a:solidFill>
            <a:srgbClr val="DDE7D6"/>
          </a:solidFill>
          <a:ln>
            <a:noFill/>
          </a:ln>
        </p:spPr>
      </p:sp>
      <p:sp>
        <p:nvSpPr>
          <p:cNvPr id="12" name="text-12"/>
          <p:cNvSpPr txBox="1"/>
          <p:nvPr/>
        </p:nvSpPr>
        <p:spPr>
          <a:xfrm>
            <a:off x="723900" y="5857875"/>
            <a:ext cx="10715625" cy="476250"/>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285D4B"/>
                </a:solidFill>
                <a:latin typeface="Segoe UI"/>
                <a:ea typeface="Segoe UI"/>
                <a:cs typeface="Tahoma"/>
              </a:rPr>
              <a:t xml:space="preserve">Budget : au plus 8 époques, patience 2. Le dialecte n’est pas fourni comme entrée du classifieur.</a:t>
            </a:r>
            <a:endParaRPr lang="fr-FR" sz="1350"/>
          </a:p>
        </p:txBody>
      </p:sp>
      <p:cxnSp>
        <p:nvCxnSpPr>
          <p:cNvPr id="13" name="line-13"/>
          <p:cNvCxnSpPr/>
          <p:nvPr/>
        </p:nvCxnSpPr>
        <p:spPr>
          <a:xfrm>
            <a:off x="552450" y="6505575"/>
            <a:ext cx="11087100" cy="0"/>
          </a:xfrm>
          <a:prstGeom prst="line">
            <a:avLst/>
          </a:prstGeom>
          <a:ln w="9525">
            <a:solidFill>
              <a:srgbClr val="D4DBCE"/>
            </a:solidFill>
          </a:ln>
        </p:spPr>
      </p:cxnSp>
      <p:sp>
        <p:nvSpPr>
          <p:cNvPr id="14" name="text-14"/>
          <p:cNvSpPr txBox="1"/>
          <p:nvPr/>
        </p:nvSpPr>
        <p:spPr>
          <a:xfrm>
            <a:off x="552450" y="6572250"/>
            <a:ext cx="8572500" cy="219075"/>
          </a:xfrm>
          <a:prstGeom prst="rect">
            <a:avLst/>
          </a:prstGeom>
          <a:noFill/>
          <a:ln>
            <a:noFill/>
          </a:ln>
        </p:spPr>
        <p:txBody>
          <a:bodyPr wrap="none" lIns="0" tIns="0" rIns="0" bIns="0" anchor="t"/>
          <a:lstStyle/>
          <a:p>
            <a:pPr algn="l">
              <a:lnSpc>
                <a:spcPts val="1125"/>
              </a:lnSpc>
              <a:spcBef>
                <a:spcPts val="0"/>
              </a:spcBef>
              <a:spcAft>
                <a:spcPts val="0"/>
              </a:spcAft>
            </a:pPr>
            <a:r>
              <a:rPr lang="fr-FR" sz="900" b="0">
                <a:solidFill>
                  <a:srgbClr val="64736B"/>
                </a:solidFill>
                <a:latin typeface="Segoe UI"/>
                <a:ea typeface="Segoe UI"/>
                <a:cs typeface="Tahoma"/>
              </a:rPr>
              <a:t xml:space="preserve">LMA3NA · Omar Elkhali · BDIOT</a:t>
            </a:r>
            <a:endParaRPr lang="fr-FR" sz="900"/>
          </a:p>
        </p:txBody>
      </p:sp>
      <p:sp>
        <p:nvSpPr>
          <p:cNvPr id="15" name="text-15"/>
          <p:cNvSpPr txBox="1"/>
          <p:nvPr/>
        </p:nvSpPr>
        <p:spPr>
          <a:xfrm>
            <a:off x="10763250" y="6572250"/>
            <a:ext cx="876300" cy="219075"/>
          </a:xfrm>
          <a:prstGeom prst="rect">
            <a:avLst/>
          </a:prstGeom>
          <a:noFill/>
          <a:ln>
            <a:noFill/>
          </a:ln>
        </p:spPr>
        <p:txBody>
          <a:bodyPr wrap="none" lIns="0" tIns="0" rIns="0" bIns="0" anchor="t"/>
          <a:lstStyle/>
          <a:p>
            <a:pPr algn="r">
              <a:lnSpc>
                <a:spcPts val="1125"/>
              </a:lnSpc>
              <a:spcBef>
                <a:spcPts val="0"/>
              </a:spcBef>
              <a:spcAft>
                <a:spcPts val="0"/>
              </a:spcAft>
            </a:pPr>
            <a:r>
              <a:rPr lang="fr-FR" sz="900" b="0">
                <a:solidFill>
                  <a:srgbClr val="64736B"/>
                </a:solidFill>
                <a:latin typeface="Segoe UI"/>
                <a:ea typeface="Segoe UI"/>
                <a:cs typeface="Tahoma"/>
              </a:rPr>
              <a:t xml:space="preserve">11 / 38</a:t>
            </a:r>
            <a:endParaRPr lang="fr-FR" sz="9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5F4EE"/>
        </a:solidFill>
        <a:effectLst/>
      </p:bgPr>
    </p:bg>
    <p:spTree>
      <p:nvGrpSpPr>
        <p:cNvPr id="1" name=""/>
        <p:cNvGrpSpPr/>
        <p:nvPr/>
      </p:nvGrpSpPr>
      <p:grpSpPr>
        <a:xfrm>
          <a:off x="0" y="0"/>
          <a:ext cx="0" cy="0"/>
          <a:chOff x="0" y="0"/>
          <a:chExt cx="0" cy="0"/>
        </a:xfrm>
      </p:grpSpPr>
      <p:sp>
        <p:nvSpPr>
          <p:cNvPr id="2" name="rect-2"/>
          <p:cNvSpPr txBox="1"/>
          <p:nvPr/>
        </p:nvSpPr>
        <p:spPr>
          <a:xfrm>
            <a:off x="552450" y="361950"/>
            <a:ext cx="400050" cy="38100"/>
          </a:xfrm>
          <a:prstGeom prst="rect">
            <a:avLst/>
          </a:prstGeom>
          <a:solidFill>
            <a:srgbClr val="E6A477"/>
          </a:solidFill>
          <a:ln>
            <a:noFill/>
          </a:ln>
        </p:spPr>
      </p:sp>
      <p:sp>
        <p:nvSpPr>
          <p:cNvPr id="3" name="text-3"/>
          <p:cNvSpPr txBox="1"/>
          <p:nvPr/>
        </p:nvSpPr>
        <p:spPr>
          <a:xfrm>
            <a:off x="1066800" y="276225"/>
            <a:ext cx="10287000" cy="266700"/>
          </a:xfrm>
          <a:prstGeom prst="rect">
            <a:avLst/>
          </a:prstGeom>
          <a:noFill/>
          <a:ln>
            <a:noFill/>
          </a:ln>
        </p:spPr>
        <p:txBody>
          <a:bodyPr wrap="none" lIns="0" tIns="0" rIns="0" bIns="0" anchor="t"/>
          <a:lstStyle/>
          <a:p>
            <a:pPr algn="l">
              <a:lnSpc>
                <a:spcPts val="1406"/>
              </a:lnSpc>
              <a:spcBef>
                <a:spcPts val="0"/>
              </a:spcBef>
              <a:spcAft>
                <a:spcPts val="0"/>
              </a:spcAft>
            </a:pPr>
            <a:r>
              <a:rPr lang="fr-FR" sz="1125" b="1">
                <a:solidFill>
                  <a:srgbClr val="285D4B"/>
                </a:solidFill>
                <a:latin typeface="Segoe UI"/>
                <a:ea typeface="Segoe UI"/>
                <a:cs typeface="Tahoma"/>
              </a:rPr>
              <a:t xml:space="preserve">04 · C · REPRÉSENTATIONS</a:t>
            </a:r>
            <a:endParaRPr lang="fr-FR" sz="1125"/>
          </a:p>
        </p:txBody>
      </p:sp>
      <p:sp>
        <p:nvSpPr>
          <p:cNvPr id="4" name="text-4"/>
          <p:cNvSpPr txBox="1"/>
          <p:nvPr/>
        </p:nvSpPr>
        <p:spPr>
          <a:xfrm>
            <a:off x="552450" y="790575"/>
            <a:ext cx="11087100" cy="1066800"/>
          </a:xfrm>
          <a:prstGeom prst="rect">
            <a:avLst/>
          </a:prstGeom>
          <a:noFill/>
          <a:ln>
            <a:noFill/>
          </a:ln>
        </p:spPr>
        <p:txBody>
          <a:bodyPr wrap="none" lIns="0" tIns="0" rIns="0" bIns="0" anchor="t"/>
          <a:lstStyle/>
          <a:p>
            <a:pPr algn="l">
              <a:lnSpc>
                <a:spcPts val="4031"/>
              </a:lnSpc>
              <a:spcBef>
                <a:spcPts val="0"/>
              </a:spcBef>
              <a:spcAft>
                <a:spcPts val="0"/>
              </a:spcAft>
            </a:pPr>
            <a:r>
              <a:rPr lang="fr-FR" sz="3225" b="1">
                <a:solidFill>
                  <a:srgbClr val="203A32"/>
                </a:solidFill>
                <a:latin typeface="Segoe UI"/>
                <a:ea typeface="Segoe UI"/>
                <a:cs typeface="Tahoma"/>
              </a:rPr>
              <a:t xml:space="preserve">AraVec améliore les trois réseaux statiques</a:t>
            </a:r>
            <a:endParaRPr lang="fr-FR" sz="3225"/>
          </a:p>
        </p:txBody>
      </p:sp>
      <p:pic>
        <p:nvPicPr>
          <p:cNvPr id="5" name="image-5"/>
          <p:cNvPicPr>
            <a:picLocks noChangeAspect="1"/>
          </p:cNvPicPr>
          <p:nvPr/>
        </p:nvPicPr>
        <p:blipFill>
          <a:blip r:embed="rId3"/>
          <a:stretch>
            <a:fillRect/>
          </a:stretch>
        </p:blipFill>
        <p:spPr>
          <a:xfrm>
            <a:off x="766066" y="1933575"/>
            <a:ext cx="7097518" cy="3505200"/>
          </a:xfrm>
          <a:prstGeom prst="rect">
            <a:avLst/>
          </a:prstGeom>
        </p:spPr>
      </p:pic>
      <p:sp>
        <p:nvSpPr>
          <p:cNvPr id="6" name="text-6"/>
          <p:cNvSpPr txBox="1"/>
          <p:nvPr/>
        </p:nvSpPr>
        <p:spPr>
          <a:xfrm>
            <a:off x="8420100" y="2038350"/>
            <a:ext cx="3219450" cy="933450"/>
          </a:xfrm>
          <a:prstGeom prst="rect">
            <a:avLst/>
          </a:prstGeom>
          <a:noFill/>
          <a:ln>
            <a:noFill/>
          </a:ln>
        </p:spPr>
        <p:txBody>
          <a:bodyPr wrap="none" lIns="0" tIns="0" rIns="0" bIns="0" anchor="t"/>
          <a:lstStyle/>
          <a:p>
            <a:pPr algn="l">
              <a:lnSpc>
                <a:spcPts val="2812"/>
              </a:lnSpc>
              <a:spcBef>
                <a:spcPts val="0"/>
              </a:spcBef>
              <a:spcAft>
                <a:spcPts val="0"/>
              </a:spcAft>
            </a:pPr>
            <a:r>
              <a:rPr lang="fr-FR" sz="2250" b="1">
                <a:solidFill>
                  <a:srgbClr val="285D4B"/>
                </a:solidFill>
                <a:latin typeface="Segoe UI"/>
                <a:ea typeface="Segoe UI"/>
                <a:cs typeface="Tahoma"/>
              </a:rPr>
              <a:t xml:space="preserve">C3 : 0,4627 à 0,5427</a:t>
            </a:r>
            <a:endParaRPr lang="fr-FR" sz="2250"/>
          </a:p>
        </p:txBody>
      </p:sp>
      <p:sp>
        <p:nvSpPr>
          <p:cNvPr id="7" name="text-7"/>
          <p:cNvSpPr txBox="1"/>
          <p:nvPr/>
        </p:nvSpPr>
        <p:spPr>
          <a:xfrm>
            <a:off x="8420100" y="3143250"/>
            <a:ext cx="3219450" cy="2333625"/>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64736B"/>
                </a:solidFill>
                <a:latin typeface="Segoe UI"/>
                <a:ea typeface="Segoe UI"/>
                <a:cs typeface="Tahoma"/>
              </a:rPr>
              <a:t xml:space="preserve">AraVec Twitter 100D apporte</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une représentation préalable. C3</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AraVec devient le meilleur</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réseau statique sur validation.</a:t>
            </a:r>
            <a:endParaRPr lang="fr-FR" sz="1725"/>
          </a:p>
        </p:txBody>
      </p:sp>
      <p:sp>
        <p:nvSpPr>
          <p:cNvPr id="8" name="rect-8"/>
          <p:cNvSpPr txBox="1"/>
          <p:nvPr/>
        </p:nvSpPr>
        <p:spPr>
          <a:xfrm>
            <a:off x="552450" y="5810250"/>
            <a:ext cx="11087100" cy="542925"/>
          </a:xfrm>
          <a:prstGeom prst="rect">
            <a:avLst/>
          </a:prstGeom>
          <a:solidFill>
            <a:srgbClr val="DDE7D6"/>
          </a:solidFill>
          <a:ln>
            <a:noFill/>
          </a:ln>
        </p:spPr>
      </p:sp>
      <p:sp>
        <p:nvSpPr>
          <p:cNvPr id="9" name="text-9"/>
          <p:cNvSpPr txBox="1"/>
          <p:nvPr/>
        </p:nvSpPr>
        <p:spPr>
          <a:xfrm>
            <a:off x="723900" y="5857875"/>
            <a:ext cx="10715625" cy="476250"/>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285D4B"/>
                </a:solidFill>
                <a:latin typeface="Segoe UI"/>
                <a:ea typeface="Segoe UI"/>
                <a:cs typeface="Tahoma"/>
              </a:rPr>
              <a:t xml:space="preserve">Embeddings figés pendant deux époques puis dégel possible. Le meilleur checkpoint peut précéder le dégel.</a:t>
            </a:r>
            <a:endParaRPr lang="fr-FR" sz="1350"/>
          </a:p>
        </p:txBody>
      </p:sp>
      <p:cxnSp>
        <p:nvCxnSpPr>
          <p:cNvPr id="10" name="line-10"/>
          <p:cNvCxnSpPr/>
          <p:nvPr/>
        </p:nvCxnSpPr>
        <p:spPr>
          <a:xfrm>
            <a:off x="552450" y="6505575"/>
            <a:ext cx="11087100" cy="0"/>
          </a:xfrm>
          <a:prstGeom prst="line">
            <a:avLst/>
          </a:prstGeom>
          <a:ln w="9525">
            <a:solidFill>
              <a:srgbClr val="D4DBCE"/>
            </a:solidFill>
          </a:ln>
        </p:spPr>
      </p:cxnSp>
      <p:sp>
        <p:nvSpPr>
          <p:cNvPr id="11" name="text-11"/>
          <p:cNvSpPr txBox="1"/>
          <p:nvPr/>
        </p:nvSpPr>
        <p:spPr>
          <a:xfrm>
            <a:off x="552450" y="6572250"/>
            <a:ext cx="8572500" cy="219075"/>
          </a:xfrm>
          <a:prstGeom prst="rect">
            <a:avLst/>
          </a:prstGeom>
          <a:noFill/>
          <a:ln>
            <a:noFill/>
          </a:ln>
        </p:spPr>
        <p:txBody>
          <a:bodyPr wrap="none" lIns="0" tIns="0" rIns="0" bIns="0" anchor="t"/>
          <a:lstStyle/>
          <a:p>
            <a:pPr algn="l">
              <a:lnSpc>
                <a:spcPts val="1125"/>
              </a:lnSpc>
              <a:spcBef>
                <a:spcPts val="0"/>
              </a:spcBef>
              <a:spcAft>
                <a:spcPts val="0"/>
              </a:spcAft>
            </a:pPr>
            <a:r>
              <a:rPr lang="fr-FR" sz="900" b="0">
                <a:solidFill>
                  <a:srgbClr val="64736B"/>
                </a:solidFill>
                <a:latin typeface="Segoe UI"/>
                <a:ea typeface="Segoe UI"/>
                <a:cs typeface="Tahoma"/>
              </a:rPr>
              <a:t xml:space="preserve">LMA3NA · Omar Elkhali · BDIOT</a:t>
            </a:r>
            <a:endParaRPr lang="fr-FR" sz="900"/>
          </a:p>
        </p:txBody>
      </p:sp>
      <p:sp>
        <p:nvSpPr>
          <p:cNvPr id="12" name="text-12"/>
          <p:cNvSpPr txBox="1"/>
          <p:nvPr/>
        </p:nvSpPr>
        <p:spPr>
          <a:xfrm>
            <a:off x="10763250" y="6572250"/>
            <a:ext cx="876300" cy="219075"/>
          </a:xfrm>
          <a:prstGeom prst="rect">
            <a:avLst/>
          </a:prstGeom>
          <a:noFill/>
          <a:ln>
            <a:noFill/>
          </a:ln>
        </p:spPr>
        <p:txBody>
          <a:bodyPr wrap="none" lIns="0" tIns="0" rIns="0" bIns="0" anchor="t"/>
          <a:lstStyle/>
          <a:p>
            <a:pPr algn="r">
              <a:lnSpc>
                <a:spcPts val="1125"/>
              </a:lnSpc>
              <a:spcBef>
                <a:spcPts val="0"/>
              </a:spcBef>
              <a:spcAft>
                <a:spcPts val="0"/>
              </a:spcAft>
            </a:pPr>
            <a:r>
              <a:rPr lang="fr-FR" sz="900" b="0">
                <a:solidFill>
                  <a:srgbClr val="64736B"/>
                </a:solidFill>
                <a:latin typeface="Segoe UI"/>
                <a:ea typeface="Segoe UI"/>
                <a:cs typeface="Tahoma"/>
              </a:rPr>
              <a:t xml:space="preserve">12 / 38</a:t>
            </a:r>
            <a:endParaRPr lang="fr-FR" sz="9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5F4EE"/>
        </a:solidFill>
        <a:effectLst/>
      </p:bgPr>
    </p:bg>
    <p:spTree>
      <p:nvGrpSpPr>
        <p:cNvPr id="1" name=""/>
        <p:cNvGrpSpPr/>
        <p:nvPr/>
      </p:nvGrpSpPr>
      <p:grpSpPr>
        <a:xfrm>
          <a:off x="0" y="0"/>
          <a:ext cx="0" cy="0"/>
          <a:chOff x="0" y="0"/>
          <a:chExt cx="0" cy="0"/>
        </a:xfrm>
      </p:grpSpPr>
      <p:sp>
        <p:nvSpPr>
          <p:cNvPr id="2" name="rect-2"/>
          <p:cNvSpPr txBox="1"/>
          <p:nvPr/>
        </p:nvSpPr>
        <p:spPr>
          <a:xfrm>
            <a:off x="552450" y="361950"/>
            <a:ext cx="400050" cy="38100"/>
          </a:xfrm>
          <a:prstGeom prst="rect">
            <a:avLst/>
          </a:prstGeom>
          <a:solidFill>
            <a:srgbClr val="E6A477"/>
          </a:solidFill>
          <a:ln>
            <a:noFill/>
          </a:ln>
        </p:spPr>
      </p:sp>
      <p:sp>
        <p:nvSpPr>
          <p:cNvPr id="3" name="text-3"/>
          <p:cNvSpPr txBox="1"/>
          <p:nvPr/>
        </p:nvSpPr>
        <p:spPr>
          <a:xfrm>
            <a:off x="1066800" y="276225"/>
            <a:ext cx="10287000" cy="266700"/>
          </a:xfrm>
          <a:prstGeom prst="rect">
            <a:avLst/>
          </a:prstGeom>
          <a:noFill/>
          <a:ln>
            <a:noFill/>
          </a:ln>
        </p:spPr>
        <p:txBody>
          <a:bodyPr wrap="none" lIns="0" tIns="0" rIns="0" bIns="0" anchor="t"/>
          <a:lstStyle/>
          <a:p>
            <a:pPr algn="l">
              <a:lnSpc>
                <a:spcPts val="1406"/>
              </a:lnSpc>
              <a:spcBef>
                <a:spcPts val="0"/>
              </a:spcBef>
              <a:spcAft>
                <a:spcPts val="0"/>
              </a:spcAft>
            </a:pPr>
            <a:r>
              <a:rPr lang="fr-FR" sz="1125" b="1">
                <a:solidFill>
                  <a:srgbClr val="285D4B"/>
                </a:solidFill>
                <a:latin typeface="Segoe UI"/>
                <a:ea typeface="Segoe UI"/>
                <a:cs typeface="Tahoma"/>
              </a:rPr>
              <a:t xml:space="preserve">04 · C · DÉCISION</a:t>
            </a:r>
            <a:endParaRPr lang="fr-FR" sz="1125"/>
          </a:p>
        </p:txBody>
      </p:sp>
      <p:sp>
        <p:nvSpPr>
          <p:cNvPr id="4" name="text-4"/>
          <p:cNvSpPr txBox="1"/>
          <p:nvPr/>
        </p:nvSpPr>
        <p:spPr>
          <a:xfrm>
            <a:off x="552450" y="790575"/>
            <a:ext cx="11087100" cy="1066800"/>
          </a:xfrm>
          <a:prstGeom prst="rect">
            <a:avLst/>
          </a:prstGeom>
          <a:noFill/>
          <a:ln>
            <a:noFill/>
          </a:ln>
        </p:spPr>
        <p:txBody>
          <a:bodyPr wrap="none" lIns="0" tIns="0" rIns="0" bIns="0" anchor="t"/>
          <a:lstStyle/>
          <a:p>
            <a:pPr algn="l">
              <a:lnSpc>
                <a:spcPts val="4031"/>
              </a:lnSpc>
              <a:spcBef>
                <a:spcPts val="0"/>
              </a:spcBef>
              <a:spcAft>
                <a:spcPts val="0"/>
              </a:spcAft>
            </a:pPr>
            <a:r>
              <a:rPr lang="fr-FR" sz="3225" b="1">
                <a:solidFill>
                  <a:srgbClr val="203A32"/>
                </a:solidFill>
                <a:latin typeface="Segoe UI"/>
                <a:ea typeface="Segoe UI"/>
                <a:cs typeface="Tahoma"/>
              </a:rPr>
              <a:t xml:space="preserve">Le seuil compte autant que le traitement du déséquilibre</a:t>
            </a:r>
            <a:endParaRPr lang="fr-FR" sz="3225"/>
          </a:p>
        </p:txBody>
      </p:sp>
      <p:pic>
        <p:nvPicPr>
          <p:cNvPr id="5" name="image-5"/>
          <p:cNvPicPr>
            <a:picLocks noChangeAspect="1"/>
          </p:cNvPicPr>
          <p:nvPr/>
        </p:nvPicPr>
        <p:blipFill>
          <a:blip r:embed="rId3"/>
          <a:stretch>
            <a:fillRect/>
          </a:stretch>
        </p:blipFill>
        <p:spPr>
          <a:xfrm>
            <a:off x="771247" y="1933575"/>
            <a:ext cx="7087156" cy="3505200"/>
          </a:xfrm>
          <a:prstGeom prst="rect">
            <a:avLst/>
          </a:prstGeom>
        </p:spPr>
      </p:pic>
      <p:sp>
        <p:nvSpPr>
          <p:cNvPr id="6" name="text-6"/>
          <p:cNvSpPr txBox="1"/>
          <p:nvPr/>
        </p:nvSpPr>
        <p:spPr>
          <a:xfrm>
            <a:off x="8420100" y="2038350"/>
            <a:ext cx="3219450" cy="933450"/>
          </a:xfrm>
          <a:prstGeom prst="rect">
            <a:avLst/>
          </a:prstGeom>
          <a:noFill/>
          <a:ln>
            <a:noFill/>
          </a:ln>
        </p:spPr>
        <p:txBody>
          <a:bodyPr wrap="none" lIns="0" tIns="0" rIns="0" bIns="0" anchor="t"/>
          <a:lstStyle/>
          <a:p>
            <a:pPr algn="l">
              <a:lnSpc>
                <a:spcPts val="2812"/>
              </a:lnSpc>
              <a:spcBef>
                <a:spcPts val="0"/>
              </a:spcBef>
              <a:spcAft>
                <a:spcPts val="0"/>
              </a:spcAft>
            </a:pPr>
            <a:r>
              <a:rPr lang="fr-FR" sz="2250" b="1">
                <a:solidFill>
                  <a:srgbClr val="285D4B"/>
                </a:solidFill>
                <a:latin typeface="Segoe UI"/>
                <a:ea typeface="Segoe UI"/>
                <a:cs typeface="Tahoma"/>
              </a:rPr>
              <a:t xml:space="preserve">+3,95 points de F1</a:t>
            </a:r>
            <a:endParaRPr lang="fr-FR" sz="2250"/>
          </a:p>
        </p:txBody>
      </p:sp>
      <p:sp>
        <p:nvSpPr>
          <p:cNvPr id="7" name="text-7"/>
          <p:cNvSpPr txBox="1"/>
          <p:nvPr/>
        </p:nvSpPr>
        <p:spPr>
          <a:xfrm>
            <a:off x="8420100" y="3143250"/>
            <a:ext cx="3219450" cy="2333625"/>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64736B"/>
                </a:solidFill>
                <a:latin typeface="Segoe UI"/>
                <a:ea typeface="Segoe UI"/>
                <a:cs typeface="Tahoma"/>
              </a:rPr>
              <a:t xml:space="preserve">Pour C3 AraVec, le seuil de</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validation porte le F1 de 0,5032</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à 0,5427. Pondération et</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sur-échantillonnage restent</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proches sur ce run.</a:t>
            </a:r>
            <a:endParaRPr lang="fr-FR" sz="1725"/>
          </a:p>
        </p:txBody>
      </p:sp>
      <p:sp>
        <p:nvSpPr>
          <p:cNvPr id="8" name="rect-8"/>
          <p:cNvSpPr txBox="1"/>
          <p:nvPr/>
        </p:nvSpPr>
        <p:spPr>
          <a:xfrm>
            <a:off x="552450" y="5810250"/>
            <a:ext cx="11087100" cy="542925"/>
          </a:xfrm>
          <a:prstGeom prst="rect">
            <a:avLst/>
          </a:prstGeom>
          <a:solidFill>
            <a:srgbClr val="DDE7D6"/>
          </a:solidFill>
          <a:ln>
            <a:noFill/>
          </a:ln>
        </p:spPr>
      </p:sp>
      <p:sp>
        <p:nvSpPr>
          <p:cNvPr id="9" name="text-9"/>
          <p:cNvSpPr txBox="1"/>
          <p:nvPr/>
        </p:nvSpPr>
        <p:spPr>
          <a:xfrm>
            <a:off x="723900" y="5857875"/>
            <a:ext cx="10715625" cy="476250"/>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285D4B"/>
                </a:solidFill>
                <a:latin typeface="Segoe UI"/>
                <a:ea typeface="Segoe UI"/>
                <a:cs typeface="Tahoma"/>
              </a:rPr>
              <a:t xml:space="preserve">Le sur-échantillonnage intervient uniquement après le split. Le test ne sert jamais à choisir le seuil déployable.</a:t>
            </a:r>
            <a:endParaRPr lang="fr-FR" sz="1350"/>
          </a:p>
        </p:txBody>
      </p:sp>
      <p:cxnSp>
        <p:nvCxnSpPr>
          <p:cNvPr id="10" name="line-10"/>
          <p:cNvCxnSpPr/>
          <p:nvPr/>
        </p:nvCxnSpPr>
        <p:spPr>
          <a:xfrm>
            <a:off x="552450" y="6505575"/>
            <a:ext cx="11087100" cy="0"/>
          </a:xfrm>
          <a:prstGeom prst="line">
            <a:avLst/>
          </a:prstGeom>
          <a:ln w="9525">
            <a:solidFill>
              <a:srgbClr val="D4DBCE"/>
            </a:solidFill>
          </a:ln>
        </p:spPr>
      </p:cxnSp>
      <p:sp>
        <p:nvSpPr>
          <p:cNvPr id="11" name="text-11"/>
          <p:cNvSpPr txBox="1"/>
          <p:nvPr/>
        </p:nvSpPr>
        <p:spPr>
          <a:xfrm>
            <a:off x="552450" y="6572250"/>
            <a:ext cx="8572500" cy="219075"/>
          </a:xfrm>
          <a:prstGeom prst="rect">
            <a:avLst/>
          </a:prstGeom>
          <a:noFill/>
          <a:ln>
            <a:noFill/>
          </a:ln>
        </p:spPr>
        <p:txBody>
          <a:bodyPr wrap="none" lIns="0" tIns="0" rIns="0" bIns="0" anchor="t"/>
          <a:lstStyle/>
          <a:p>
            <a:pPr algn="l">
              <a:lnSpc>
                <a:spcPts val="1125"/>
              </a:lnSpc>
              <a:spcBef>
                <a:spcPts val="0"/>
              </a:spcBef>
              <a:spcAft>
                <a:spcPts val="0"/>
              </a:spcAft>
            </a:pPr>
            <a:r>
              <a:rPr lang="fr-FR" sz="900" b="0">
                <a:solidFill>
                  <a:srgbClr val="64736B"/>
                </a:solidFill>
                <a:latin typeface="Segoe UI"/>
                <a:ea typeface="Segoe UI"/>
                <a:cs typeface="Tahoma"/>
              </a:rPr>
              <a:t xml:space="preserve">LMA3NA · Omar Elkhali · BDIOT</a:t>
            </a:r>
            <a:endParaRPr lang="fr-FR" sz="900"/>
          </a:p>
        </p:txBody>
      </p:sp>
      <p:sp>
        <p:nvSpPr>
          <p:cNvPr id="12" name="text-12"/>
          <p:cNvSpPr txBox="1"/>
          <p:nvPr/>
        </p:nvSpPr>
        <p:spPr>
          <a:xfrm>
            <a:off x="10763250" y="6572250"/>
            <a:ext cx="876300" cy="219075"/>
          </a:xfrm>
          <a:prstGeom prst="rect">
            <a:avLst/>
          </a:prstGeom>
          <a:noFill/>
          <a:ln>
            <a:noFill/>
          </a:ln>
        </p:spPr>
        <p:txBody>
          <a:bodyPr wrap="none" lIns="0" tIns="0" rIns="0" bIns="0" anchor="t"/>
          <a:lstStyle/>
          <a:p>
            <a:pPr algn="r">
              <a:lnSpc>
                <a:spcPts val="1125"/>
              </a:lnSpc>
              <a:spcBef>
                <a:spcPts val="0"/>
              </a:spcBef>
              <a:spcAft>
                <a:spcPts val="0"/>
              </a:spcAft>
            </a:pPr>
            <a:r>
              <a:rPr lang="fr-FR" sz="900" b="0">
                <a:solidFill>
                  <a:srgbClr val="64736B"/>
                </a:solidFill>
                <a:latin typeface="Segoe UI"/>
                <a:ea typeface="Segoe UI"/>
                <a:cs typeface="Tahoma"/>
              </a:rPr>
              <a:t xml:space="preserve">13 / 38</a:t>
            </a:r>
            <a:endParaRPr lang="fr-FR" sz="90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5F4EE"/>
        </a:solidFill>
        <a:effectLst/>
      </p:bgPr>
    </p:bg>
    <p:spTree>
      <p:nvGrpSpPr>
        <p:cNvPr id="1" name=""/>
        <p:cNvGrpSpPr/>
        <p:nvPr/>
      </p:nvGrpSpPr>
      <p:grpSpPr>
        <a:xfrm>
          <a:off x="0" y="0"/>
          <a:ext cx="0" cy="0"/>
          <a:chOff x="0" y="0"/>
          <a:chExt cx="0" cy="0"/>
        </a:xfrm>
      </p:grpSpPr>
      <p:sp>
        <p:nvSpPr>
          <p:cNvPr id="2" name="rect-2"/>
          <p:cNvSpPr txBox="1"/>
          <p:nvPr/>
        </p:nvSpPr>
        <p:spPr>
          <a:xfrm>
            <a:off x="552450" y="361950"/>
            <a:ext cx="400050" cy="38100"/>
          </a:xfrm>
          <a:prstGeom prst="rect">
            <a:avLst/>
          </a:prstGeom>
          <a:solidFill>
            <a:srgbClr val="E6A477"/>
          </a:solidFill>
          <a:ln>
            <a:noFill/>
          </a:ln>
        </p:spPr>
      </p:sp>
      <p:sp>
        <p:nvSpPr>
          <p:cNvPr id="3" name="text-3"/>
          <p:cNvSpPr txBox="1"/>
          <p:nvPr/>
        </p:nvSpPr>
        <p:spPr>
          <a:xfrm>
            <a:off x="1066800" y="276225"/>
            <a:ext cx="10287000" cy="266700"/>
          </a:xfrm>
          <a:prstGeom prst="rect">
            <a:avLst/>
          </a:prstGeom>
          <a:noFill/>
          <a:ln>
            <a:noFill/>
          </a:ln>
        </p:spPr>
        <p:txBody>
          <a:bodyPr wrap="none" lIns="0" tIns="0" rIns="0" bIns="0" anchor="t"/>
          <a:lstStyle/>
          <a:p>
            <a:pPr algn="l">
              <a:lnSpc>
                <a:spcPts val="1406"/>
              </a:lnSpc>
              <a:spcBef>
                <a:spcPts val="0"/>
              </a:spcBef>
              <a:spcAft>
                <a:spcPts val="0"/>
              </a:spcAft>
            </a:pPr>
            <a:r>
              <a:rPr lang="fr-FR" sz="1125" b="1">
                <a:solidFill>
                  <a:srgbClr val="285D4B"/>
                </a:solidFill>
                <a:latin typeface="Segoe UI"/>
                <a:ea typeface="Segoe UI"/>
                <a:cs typeface="Tahoma"/>
              </a:rPr>
              <a:t xml:space="preserve">04 · D · ENCODEUR GELÉ</a:t>
            </a:r>
            <a:endParaRPr lang="fr-FR" sz="1125"/>
          </a:p>
        </p:txBody>
      </p:sp>
      <p:sp>
        <p:nvSpPr>
          <p:cNvPr id="4" name="text-4"/>
          <p:cNvSpPr txBox="1"/>
          <p:nvPr/>
        </p:nvSpPr>
        <p:spPr>
          <a:xfrm>
            <a:off x="552450" y="790575"/>
            <a:ext cx="11087100" cy="1066800"/>
          </a:xfrm>
          <a:prstGeom prst="rect">
            <a:avLst/>
          </a:prstGeom>
          <a:noFill/>
          <a:ln>
            <a:noFill/>
          </a:ln>
        </p:spPr>
        <p:txBody>
          <a:bodyPr wrap="none" lIns="0" tIns="0" rIns="0" bIns="0" anchor="t"/>
          <a:lstStyle/>
          <a:p>
            <a:pPr algn="l">
              <a:lnSpc>
                <a:spcPts val="4031"/>
              </a:lnSpc>
              <a:spcBef>
                <a:spcPts val="0"/>
              </a:spcBef>
              <a:spcAft>
                <a:spcPts val="0"/>
              </a:spcAft>
            </a:pPr>
            <a:r>
              <a:rPr lang="fr-FR" sz="3225" b="1">
                <a:solidFill>
                  <a:srgbClr val="203A32"/>
                </a:solidFill>
                <a:latin typeface="Segoe UI"/>
                <a:ea typeface="Segoe UI"/>
                <a:cs typeface="Tahoma"/>
              </a:rPr>
              <a:t xml:space="preserve">AraBERT gelé fournit des représentations contextuelles</a:t>
            </a:r>
            <a:endParaRPr lang="fr-FR" sz="3225"/>
          </a:p>
        </p:txBody>
      </p:sp>
      <p:sp>
        <p:nvSpPr>
          <p:cNvPr id="5" name="rect-5"/>
          <p:cNvSpPr txBox="1"/>
          <p:nvPr/>
        </p:nvSpPr>
        <p:spPr>
          <a:xfrm>
            <a:off x="552450" y="1952625"/>
            <a:ext cx="3543300" cy="1190625"/>
          </a:xfrm>
          <a:prstGeom prst="rect">
            <a:avLst/>
          </a:prstGeom>
          <a:solidFill>
            <a:srgbClr val="FFFFFF"/>
          </a:solidFill>
          <a:ln>
            <a:noFill/>
          </a:ln>
        </p:spPr>
      </p:sp>
      <p:sp>
        <p:nvSpPr>
          <p:cNvPr id="6" name="text-6"/>
          <p:cNvSpPr txBox="1"/>
          <p:nvPr/>
        </p:nvSpPr>
        <p:spPr>
          <a:xfrm>
            <a:off x="704850" y="2095500"/>
            <a:ext cx="3238500" cy="523875"/>
          </a:xfrm>
          <a:prstGeom prst="rect">
            <a:avLst/>
          </a:prstGeom>
          <a:noFill/>
          <a:ln>
            <a:noFill/>
          </a:ln>
        </p:spPr>
        <p:txBody>
          <a:bodyPr wrap="none" lIns="0" tIns="0" rIns="0" bIns="0" anchor="t"/>
          <a:lstStyle/>
          <a:p>
            <a:pPr algn="l">
              <a:lnSpc>
                <a:spcPts val="2250"/>
              </a:lnSpc>
              <a:spcBef>
                <a:spcPts val="0"/>
              </a:spcBef>
              <a:spcAft>
                <a:spcPts val="0"/>
              </a:spcAft>
            </a:pPr>
            <a:r>
              <a:rPr lang="fr-FR" sz="1800" b="1">
                <a:solidFill>
                  <a:srgbClr val="285D4B"/>
                </a:solidFill>
                <a:latin typeface="Segoe UI"/>
                <a:ea typeface="Segoe UI"/>
                <a:cs typeface="Tahoma"/>
              </a:rPr>
              <a:t xml:space="preserve">Tweet</a:t>
            </a:r>
            <a:endParaRPr lang="fr-FR" sz="1800"/>
          </a:p>
        </p:txBody>
      </p:sp>
      <p:sp>
        <p:nvSpPr>
          <p:cNvPr id="7" name="text-7"/>
          <p:cNvSpPr txBox="1"/>
          <p:nvPr/>
        </p:nvSpPr>
        <p:spPr>
          <a:xfrm>
            <a:off x="704850" y="2619375"/>
            <a:ext cx="3238500" cy="504825"/>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64736B"/>
                </a:solidFill>
                <a:latin typeface="Segoe UI"/>
                <a:ea typeface="Segoe UI"/>
                <a:cs typeface="Tahoma"/>
              </a:rPr>
              <a:t xml:space="preserve">Prétraitement officiel</a:t>
            </a:r>
            <a:endParaRPr lang="fr-FR" sz="1350"/>
          </a:p>
        </p:txBody>
      </p:sp>
      <p:cxnSp>
        <p:nvCxnSpPr>
          <p:cNvPr id="8" name="line-8"/>
          <p:cNvCxnSpPr/>
          <p:nvPr/>
        </p:nvCxnSpPr>
        <p:spPr>
          <a:xfrm>
            <a:off x="4124325" y="2547938"/>
            <a:ext cx="161925" cy="0"/>
          </a:xfrm>
          <a:prstGeom prst="line">
            <a:avLst/>
          </a:prstGeom>
          <a:ln w="28575">
            <a:solidFill>
              <a:srgbClr val="E6A477"/>
            </a:solidFill>
          </a:ln>
        </p:spPr>
      </p:cxnSp>
      <p:sp>
        <p:nvSpPr>
          <p:cNvPr id="9" name="rect-9"/>
          <p:cNvSpPr txBox="1"/>
          <p:nvPr/>
        </p:nvSpPr>
        <p:spPr>
          <a:xfrm>
            <a:off x="4324350" y="1952625"/>
            <a:ext cx="3543300" cy="1190625"/>
          </a:xfrm>
          <a:prstGeom prst="rect">
            <a:avLst/>
          </a:prstGeom>
          <a:solidFill>
            <a:srgbClr val="FFFFFF"/>
          </a:solidFill>
          <a:ln>
            <a:noFill/>
          </a:ln>
        </p:spPr>
      </p:sp>
      <p:sp>
        <p:nvSpPr>
          <p:cNvPr id="10" name="text-10"/>
          <p:cNvSpPr txBox="1"/>
          <p:nvPr/>
        </p:nvSpPr>
        <p:spPr>
          <a:xfrm>
            <a:off x="4476750" y="2095500"/>
            <a:ext cx="3238500" cy="523875"/>
          </a:xfrm>
          <a:prstGeom prst="rect">
            <a:avLst/>
          </a:prstGeom>
          <a:noFill/>
          <a:ln>
            <a:noFill/>
          </a:ln>
        </p:spPr>
        <p:txBody>
          <a:bodyPr wrap="none" lIns="0" tIns="0" rIns="0" bIns="0" anchor="t"/>
          <a:lstStyle/>
          <a:p>
            <a:pPr algn="l">
              <a:lnSpc>
                <a:spcPts val="2250"/>
              </a:lnSpc>
              <a:spcBef>
                <a:spcPts val="0"/>
              </a:spcBef>
              <a:spcAft>
                <a:spcPts val="0"/>
              </a:spcAft>
            </a:pPr>
            <a:r>
              <a:rPr lang="fr-FR" sz="1800" b="1">
                <a:solidFill>
                  <a:srgbClr val="285D4B"/>
                </a:solidFill>
                <a:latin typeface="Segoe UI"/>
                <a:ea typeface="Segoe UI"/>
                <a:cs typeface="Tahoma"/>
              </a:rPr>
              <a:t xml:space="preserve">AraBERT gelé</a:t>
            </a:r>
            <a:endParaRPr lang="fr-FR" sz="1800"/>
          </a:p>
        </p:txBody>
      </p:sp>
      <p:sp>
        <p:nvSpPr>
          <p:cNvPr id="11" name="text-11"/>
          <p:cNvSpPr txBox="1"/>
          <p:nvPr/>
        </p:nvSpPr>
        <p:spPr>
          <a:xfrm>
            <a:off x="4476750" y="2619375"/>
            <a:ext cx="3238500" cy="504825"/>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64736B"/>
                </a:solidFill>
                <a:latin typeface="Segoe UI"/>
                <a:ea typeface="Segoe UI"/>
                <a:cs typeface="Tahoma"/>
              </a:rPr>
              <a:t xml:space="preserve">Représentations des tokens</a:t>
            </a:r>
            <a:endParaRPr lang="fr-FR" sz="1350"/>
          </a:p>
        </p:txBody>
      </p:sp>
      <p:cxnSp>
        <p:nvCxnSpPr>
          <p:cNvPr id="12" name="line-12"/>
          <p:cNvCxnSpPr/>
          <p:nvPr/>
        </p:nvCxnSpPr>
        <p:spPr>
          <a:xfrm>
            <a:off x="7896225" y="2547938"/>
            <a:ext cx="161925" cy="0"/>
          </a:xfrm>
          <a:prstGeom prst="line">
            <a:avLst/>
          </a:prstGeom>
          <a:ln w="28575">
            <a:solidFill>
              <a:srgbClr val="E6A477"/>
            </a:solidFill>
          </a:ln>
        </p:spPr>
      </p:cxnSp>
      <p:sp>
        <p:nvSpPr>
          <p:cNvPr id="13" name="rect-13"/>
          <p:cNvSpPr txBox="1"/>
          <p:nvPr/>
        </p:nvSpPr>
        <p:spPr>
          <a:xfrm>
            <a:off x="8096250" y="1952625"/>
            <a:ext cx="3543300" cy="1190625"/>
          </a:xfrm>
          <a:prstGeom prst="rect">
            <a:avLst/>
          </a:prstGeom>
          <a:solidFill>
            <a:srgbClr val="FFFFFF"/>
          </a:solidFill>
          <a:ln>
            <a:noFill/>
          </a:ln>
        </p:spPr>
      </p:sp>
      <p:sp>
        <p:nvSpPr>
          <p:cNvPr id="14" name="text-14"/>
          <p:cNvSpPr txBox="1"/>
          <p:nvPr/>
        </p:nvSpPr>
        <p:spPr>
          <a:xfrm>
            <a:off x="8248650" y="2095500"/>
            <a:ext cx="3238500" cy="523875"/>
          </a:xfrm>
          <a:prstGeom prst="rect">
            <a:avLst/>
          </a:prstGeom>
          <a:noFill/>
          <a:ln>
            <a:noFill/>
          </a:ln>
        </p:spPr>
        <p:txBody>
          <a:bodyPr wrap="none" lIns="0" tIns="0" rIns="0" bIns="0" anchor="t"/>
          <a:lstStyle/>
          <a:p>
            <a:pPr algn="l">
              <a:lnSpc>
                <a:spcPts val="2250"/>
              </a:lnSpc>
              <a:spcBef>
                <a:spcPts val="0"/>
              </a:spcBef>
              <a:spcAft>
                <a:spcPts val="0"/>
              </a:spcAft>
            </a:pPr>
            <a:r>
              <a:rPr lang="fr-FR" sz="1800" b="1">
                <a:solidFill>
                  <a:srgbClr val="285D4B"/>
                </a:solidFill>
                <a:latin typeface="Segoe UI"/>
                <a:ea typeface="Segoe UI"/>
                <a:cs typeface="Tahoma"/>
              </a:rPr>
              <a:t xml:space="preserve">Tête entraînée</a:t>
            </a:r>
            <a:endParaRPr lang="fr-FR" sz="1800"/>
          </a:p>
        </p:txBody>
      </p:sp>
      <p:sp>
        <p:nvSpPr>
          <p:cNvPr id="15" name="text-15"/>
          <p:cNvSpPr txBox="1"/>
          <p:nvPr/>
        </p:nvSpPr>
        <p:spPr>
          <a:xfrm>
            <a:off x="8248650" y="2619375"/>
            <a:ext cx="3238500" cy="504825"/>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64736B"/>
                </a:solidFill>
                <a:latin typeface="Segoe UI"/>
                <a:ea typeface="Segoe UI"/>
                <a:cs typeface="Tahoma"/>
              </a:rPr>
              <a:t xml:space="preserve">CLS, moyenne ou BiLSTM</a:t>
            </a:r>
            <a:endParaRPr lang="fr-FR" sz="1350"/>
          </a:p>
        </p:txBody>
      </p:sp>
      <p:sp>
        <p:nvSpPr>
          <p:cNvPr id="16" name="rect-16"/>
          <p:cNvSpPr txBox="1"/>
          <p:nvPr/>
        </p:nvSpPr>
        <p:spPr>
          <a:xfrm>
            <a:off x="552450" y="3571875"/>
            <a:ext cx="11087100" cy="495300"/>
          </a:xfrm>
          <a:prstGeom prst="rect">
            <a:avLst/>
          </a:prstGeom>
          <a:solidFill>
            <a:srgbClr val="285D4B"/>
          </a:solidFill>
          <a:ln>
            <a:noFill/>
          </a:ln>
        </p:spPr>
      </p:sp>
      <p:sp>
        <p:nvSpPr>
          <p:cNvPr id="17" name="text-17"/>
          <p:cNvSpPr txBox="1"/>
          <p:nvPr/>
        </p:nvSpPr>
        <p:spPr>
          <a:xfrm>
            <a:off x="666750" y="3600450"/>
            <a:ext cx="6220968" cy="466725"/>
          </a:xfrm>
          <a:prstGeom prst="rect">
            <a:avLst/>
          </a:prstGeom>
          <a:noFill/>
          <a:ln>
            <a:noFill/>
          </a:ln>
        </p:spPr>
        <p:txBody>
          <a:bodyPr wrap="none" lIns="0" tIns="0" rIns="0" bIns="0" anchor="t"/>
          <a:lstStyle/>
          <a:p>
            <a:pPr algn="l">
              <a:lnSpc>
                <a:spcPts val="2062"/>
              </a:lnSpc>
              <a:spcBef>
                <a:spcPts val="0"/>
              </a:spcBef>
              <a:spcAft>
                <a:spcPts val="0"/>
              </a:spcAft>
            </a:pPr>
            <a:r>
              <a:rPr lang="fr-FR" sz="1650" b="1">
                <a:solidFill>
                  <a:srgbClr val="FFFFFF"/>
                </a:solidFill>
                <a:latin typeface="Segoe UI"/>
                <a:ea typeface="Segoe UI"/>
                <a:cs typeface="Tahoma"/>
              </a:rPr>
              <a:t xml:space="preserve">Tête</a:t>
            </a:r>
            <a:endParaRPr lang="fr-FR" sz="1650"/>
          </a:p>
        </p:txBody>
      </p:sp>
      <p:sp>
        <p:nvSpPr>
          <p:cNvPr id="18" name="text-18"/>
          <p:cNvSpPr txBox="1"/>
          <p:nvPr/>
        </p:nvSpPr>
        <p:spPr>
          <a:xfrm>
            <a:off x="7097268" y="3600450"/>
            <a:ext cx="2229612" cy="466725"/>
          </a:xfrm>
          <a:prstGeom prst="rect">
            <a:avLst/>
          </a:prstGeom>
          <a:noFill/>
          <a:ln>
            <a:noFill/>
          </a:ln>
        </p:spPr>
        <p:txBody>
          <a:bodyPr wrap="none" lIns="0" tIns="0" rIns="0" bIns="0" anchor="t"/>
          <a:lstStyle/>
          <a:p>
            <a:pPr algn="l">
              <a:lnSpc>
                <a:spcPts val="2062"/>
              </a:lnSpc>
              <a:spcBef>
                <a:spcPts val="0"/>
              </a:spcBef>
              <a:spcAft>
                <a:spcPts val="0"/>
              </a:spcAft>
            </a:pPr>
            <a:r>
              <a:rPr lang="fr-FR" sz="1650" b="1">
                <a:solidFill>
                  <a:srgbClr val="FFFFFF"/>
                </a:solidFill>
                <a:latin typeface="Segoe UI"/>
                <a:ea typeface="Segoe UI"/>
                <a:cs typeface="Tahoma"/>
              </a:rPr>
              <a:t xml:space="preserve">F1 validation</a:t>
            </a:r>
            <a:endParaRPr lang="fr-FR" sz="1650"/>
          </a:p>
        </p:txBody>
      </p:sp>
      <p:sp>
        <p:nvSpPr>
          <p:cNvPr id="19" name="text-19"/>
          <p:cNvSpPr txBox="1"/>
          <p:nvPr/>
        </p:nvSpPr>
        <p:spPr>
          <a:xfrm>
            <a:off x="9536430" y="3600450"/>
            <a:ext cx="2007870" cy="466725"/>
          </a:xfrm>
          <a:prstGeom prst="rect">
            <a:avLst/>
          </a:prstGeom>
          <a:noFill/>
          <a:ln>
            <a:noFill/>
          </a:ln>
        </p:spPr>
        <p:txBody>
          <a:bodyPr wrap="none" lIns="0" tIns="0" rIns="0" bIns="0" anchor="t"/>
          <a:lstStyle/>
          <a:p>
            <a:pPr algn="l">
              <a:lnSpc>
                <a:spcPts val="2062"/>
              </a:lnSpc>
              <a:spcBef>
                <a:spcPts val="0"/>
              </a:spcBef>
              <a:spcAft>
                <a:spcPts val="0"/>
              </a:spcAft>
            </a:pPr>
            <a:r>
              <a:rPr lang="fr-FR" sz="1650" b="1">
                <a:solidFill>
                  <a:srgbClr val="FFFFFF"/>
                </a:solidFill>
                <a:latin typeface="Segoe UI"/>
                <a:ea typeface="Segoe UI"/>
                <a:cs typeface="Tahoma"/>
              </a:rPr>
              <a:t xml:space="preserve">Temps tête</a:t>
            </a:r>
            <a:endParaRPr lang="fr-FR" sz="1650"/>
          </a:p>
        </p:txBody>
      </p:sp>
      <p:sp>
        <p:nvSpPr>
          <p:cNvPr id="20" name="rect-20"/>
          <p:cNvSpPr txBox="1"/>
          <p:nvPr/>
        </p:nvSpPr>
        <p:spPr>
          <a:xfrm>
            <a:off x="552450" y="4067175"/>
            <a:ext cx="11087100" cy="495300"/>
          </a:xfrm>
          <a:prstGeom prst="rect">
            <a:avLst/>
          </a:prstGeom>
          <a:solidFill>
            <a:srgbClr val="FFFFFF"/>
          </a:solidFill>
          <a:ln>
            <a:noFill/>
          </a:ln>
        </p:spPr>
      </p:sp>
      <p:sp>
        <p:nvSpPr>
          <p:cNvPr id="21" name="text-21"/>
          <p:cNvSpPr txBox="1"/>
          <p:nvPr/>
        </p:nvSpPr>
        <p:spPr>
          <a:xfrm>
            <a:off x="666750" y="4095750"/>
            <a:ext cx="6220968" cy="466725"/>
          </a:xfrm>
          <a:prstGeom prst="rect">
            <a:avLst/>
          </a:prstGeom>
          <a:noFill/>
          <a:ln>
            <a:noFill/>
          </a:ln>
        </p:spPr>
        <p:txBody>
          <a:bodyPr wrap="none" lIns="0" tIns="0" rIns="0" bIns="0" anchor="t"/>
          <a:lstStyle/>
          <a:p>
            <a:pPr algn="l">
              <a:lnSpc>
                <a:spcPts val="2062"/>
              </a:lnSpc>
              <a:spcBef>
                <a:spcPts val="0"/>
              </a:spcBef>
              <a:spcAft>
                <a:spcPts val="0"/>
              </a:spcAft>
            </a:pPr>
            <a:r>
              <a:rPr lang="fr-FR" sz="1650" b="0">
                <a:solidFill>
                  <a:srgbClr val="203A32"/>
                </a:solidFill>
                <a:latin typeface="Segoe UI"/>
                <a:ea typeface="Segoe UI"/>
                <a:cs typeface="Tahoma"/>
              </a:rPr>
              <a:t xml:space="preserve">CLS + régression logistique</a:t>
            </a:r>
            <a:endParaRPr lang="fr-FR" sz="1650"/>
          </a:p>
        </p:txBody>
      </p:sp>
      <p:sp>
        <p:nvSpPr>
          <p:cNvPr id="22" name="text-22"/>
          <p:cNvSpPr txBox="1"/>
          <p:nvPr/>
        </p:nvSpPr>
        <p:spPr>
          <a:xfrm>
            <a:off x="7097268" y="4095750"/>
            <a:ext cx="2229612" cy="466725"/>
          </a:xfrm>
          <a:prstGeom prst="rect">
            <a:avLst/>
          </a:prstGeom>
          <a:noFill/>
          <a:ln>
            <a:noFill/>
          </a:ln>
        </p:spPr>
        <p:txBody>
          <a:bodyPr wrap="none" lIns="0" tIns="0" rIns="0" bIns="0" anchor="t"/>
          <a:lstStyle/>
          <a:p>
            <a:pPr algn="l">
              <a:lnSpc>
                <a:spcPts val="2062"/>
              </a:lnSpc>
              <a:spcBef>
                <a:spcPts val="0"/>
              </a:spcBef>
              <a:spcAft>
                <a:spcPts val="0"/>
              </a:spcAft>
            </a:pPr>
            <a:r>
              <a:rPr lang="fr-FR" sz="1650" b="0">
                <a:solidFill>
                  <a:srgbClr val="203A32"/>
                </a:solidFill>
                <a:latin typeface="Segoe UI"/>
                <a:ea typeface="Segoe UI"/>
                <a:cs typeface="Tahoma"/>
              </a:rPr>
              <a:t xml:space="preserve">0,6054</a:t>
            </a:r>
            <a:endParaRPr lang="fr-FR" sz="1650"/>
          </a:p>
        </p:txBody>
      </p:sp>
      <p:sp>
        <p:nvSpPr>
          <p:cNvPr id="23" name="text-23"/>
          <p:cNvSpPr txBox="1"/>
          <p:nvPr/>
        </p:nvSpPr>
        <p:spPr>
          <a:xfrm>
            <a:off x="9536430" y="4095750"/>
            <a:ext cx="2007870" cy="466725"/>
          </a:xfrm>
          <a:prstGeom prst="rect">
            <a:avLst/>
          </a:prstGeom>
          <a:noFill/>
          <a:ln>
            <a:noFill/>
          </a:ln>
        </p:spPr>
        <p:txBody>
          <a:bodyPr wrap="none" lIns="0" tIns="0" rIns="0" bIns="0" anchor="t"/>
          <a:lstStyle/>
          <a:p>
            <a:pPr algn="l">
              <a:lnSpc>
                <a:spcPts val="2062"/>
              </a:lnSpc>
              <a:spcBef>
                <a:spcPts val="0"/>
              </a:spcBef>
              <a:spcAft>
                <a:spcPts val="0"/>
              </a:spcAft>
            </a:pPr>
            <a:r>
              <a:rPr lang="fr-FR" sz="1650" b="0">
                <a:solidFill>
                  <a:srgbClr val="203A32"/>
                </a:solidFill>
                <a:latin typeface="Segoe UI"/>
                <a:ea typeface="Segoe UI"/>
                <a:cs typeface="Tahoma"/>
              </a:rPr>
              <a:t xml:space="preserve">4,7 s</a:t>
            </a:r>
            <a:endParaRPr lang="fr-FR" sz="1650"/>
          </a:p>
        </p:txBody>
      </p:sp>
      <p:sp>
        <p:nvSpPr>
          <p:cNvPr id="24" name="rect-24"/>
          <p:cNvSpPr txBox="1"/>
          <p:nvPr/>
        </p:nvSpPr>
        <p:spPr>
          <a:xfrm>
            <a:off x="552450" y="4562475"/>
            <a:ext cx="11087100" cy="495300"/>
          </a:xfrm>
          <a:prstGeom prst="rect">
            <a:avLst/>
          </a:prstGeom>
          <a:solidFill>
            <a:srgbClr val="EBEEE6"/>
          </a:solidFill>
          <a:ln>
            <a:noFill/>
          </a:ln>
        </p:spPr>
      </p:sp>
      <p:sp>
        <p:nvSpPr>
          <p:cNvPr id="25" name="text-25"/>
          <p:cNvSpPr txBox="1"/>
          <p:nvPr/>
        </p:nvSpPr>
        <p:spPr>
          <a:xfrm>
            <a:off x="666750" y="4591050"/>
            <a:ext cx="6220968" cy="466725"/>
          </a:xfrm>
          <a:prstGeom prst="rect">
            <a:avLst/>
          </a:prstGeom>
          <a:noFill/>
          <a:ln>
            <a:noFill/>
          </a:ln>
        </p:spPr>
        <p:txBody>
          <a:bodyPr wrap="none" lIns="0" tIns="0" rIns="0" bIns="0" anchor="t"/>
          <a:lstStyle/>
          <a:p>
            <a:pPr algn="l">
              <a:lnSpc>
                <a:spcPts val="2062"/>
              </a:lnSpc>
              <a:spcBef>
                <a:spcPts val="0"/>
              </a:spcBef>
              <a:spcAft>
                <a:spcPts val="0"/>
              </a:spcAft>
            </a:pPr>
            <a:r>
              <a:rPr lang="fr-FR" sz="1650" b="0">
                <a:solidFill>
                  <a:srgbClr val="203A32"/>
                </a:solidFill>
                <a:latin typeface="Segoe UI"/>
                <a:ea typeface="Segoe UI"/>
                <a:cs typeface="Tahoma"/>
              </a:rPr>
              <a:t xml:space="preserve">Moyenne masquée + régression</a:t>
            </a:r>
            <a:endParaRPr lang="fr-FR" sz="1650"/>
          </a:p>
        </p:txBody>
      </p:sp>
      <p:sp>
        <p:nvSpPr>
          <p:cNvPr id="26" name="text-26"/>
          <p:cNvSpPr txBox="1"/>
          <p:nvPr/>
        </p:nvSpPr>
        <p:spPr>
          <a:xfrm>
            <a:off x="7097268" y="4591050"/>
            <a:ext cx="2229612" cy="466725"/>
          </a:xfrm>
          <a:prstGeom prst="rect">
            <a:avLst/>
          </a:prstGeom>
          <a:noFill/>
          <a:ln>
            <a:noFill/>
          </a:ln>
        </p:spPr>
        <p:txBody>
          <a:bodyPr wrap="none" lIns="0" tIns="0" rIns="0" bIns="0" anchor="t"/>
          <a:lstStyle/>
          <a:p>
            <a:pPr algn="l">
              <a:lnSpc>
                <a:spcPts val="2062"/>
              </a:lnSpc>
              <a:spcBef>
                <a:spcPts val="0"/>
              </a:spcBef>
              <a:spcAft>
                <a:spcPts val="0"/>
              </a:spcAft>
            </a:pPr>
            <a:r>
              <a:rPr lang="fr-FR" sz="1650" b="0">
                <a:solidFill>
                  <a:srgbClr val="203A32"/>
                </a:solidFill>
                <a:latin typeface="Segoe UI"/>
                <a:ea typeface="Segoe UI"/>
                <a:cs typeface="Tahoma"/>
              </a:rPr>
              <a:t xml:space="preserve">0,6316</a:t>
            </a:r>
            <a:endParaRPr lang="fr-FR" sz="1650"/>
          </a:p>
        </p:txBody>
      </p:sp>
      <p:sp>
        <p:nvSpPr>
          <p:cNvPr id="27" name="text-27"/>
          <p:cNvSpPr txBox="1"/>
          <p:nvPr/>
        </p:nvSpPr>
        <p:spPr>
          <a:xfrm>
            <a:off x="9536430" y="4591050"/>
            <a:ext cx="2007870" cy="466725"/>
          </a:xfrm>
          <a:prstGeom prst="rect">
            <a:avLst/>
          </a:prstGeom>
          <a:noFill/>
          <a:ln>
            <a:noFill/>
          </a:ln>
        </p:spPr>
        <p:txBody>
          <a:bodyPr wrap="none" lIns="0" tIns="0" rIns="0" bIns="0" anchor="t"/>
          <a:lstStyle/>
          <a:p>
            <a:pPr algn="l">
              <a:lnSpc>
                <a:spcPts val="2062"/>
              </a:lnSpc>
              <a:spcBef>
                <a:spcPts val="0"/>
              </a:spcBef>
              <a:spcAft>
                <a:spcPts val="0"/>
              </a:spcAft>
            </a:pPr>
            <a:r>
              <a:rPr lang="fr-FR" sz="1650" b="0">
                <a:solidFill>
                  <a:srgbClr val="203A32"/>
                </a:solidFill>
                <a:latin typeface="Segoe UI"/>
                <a:ea typeface="Segoe UI"/>
                <a:cs typeface="Tahoma"/>
              </a:rPr>
              <a:t xml:space="preserve">7,3 s</a:t>
            </a:r>
            <a:endParaRPr lang="fr-FR" sz="1650"/>
          </a:p>
        </p:txBody>
      </p:sp>
      <p:sp>
        <p:nvSpPr>
          <p:cNvPr id="28" name="rect-28"/>
          <p:cNvSpPr txBox="1"/>
          <p:nvPr/>
        </p:nvSpPr>
        <p:spPr>
          <a:xfrm>
            <a:off x="552450" y="5057775"/>
            <a:ext cx="11087100" cy="495300"/>
          </a:xfrm>
          <a:prstGeom prst="rect">
            <a:avLst/>
          </a:prstGeom>
          <a:solidFill>
            <a:srgbClr val="FFFFFF"/>
          </a:solidFill>
          <a:ln>
            <a:noFill/>
          </a:ln>
        </p:spPr>
      </p:sp>
      <p:sp>
        <p:nvSpPr>
          <p:cNvPr id="29" name="text-29"/>
          <p:cNvSpPr txBox="1"/>
          <p:nvPr/>
        </p:nvSpPr>
        <p:spPr>
          <a:xfrm>
            <a:off x="666750" y="5086350"/>
            <a:ext cx="6220968" cy="466725"/>
          </a:xfrm>
          <a:prstGeom prst="rect">
            <a:avLst/>
          </a:prstGeom>
          <a:noFill/>
          <a:ln>
            <a:noFill/>
          </a:ln>
        </p:spPr>
        <p:txBody>
          <a:bodyPr wrap="none" lIns="0" tIns="0" rIns="0" bIns="0" anchor="t"/>
          <a:lstStyle/>
          <a:p>
            <a:pPr algn="l">
              <a:lnSpc>
                <a:spcPts val="2062"/>
              </a:lnSpc>
              <a:spcBef>
                <a:spcPts val="0"/>
              </a:spcBef>
              <a:spcAft>
                <a:spcPts val="0"/>
              </a:spcAft>
            </a:pPr>
            <a:r>
              <a:rPr lang="fr-FR" sz="1650" b="0">
                <a:solidFill>
                  <a:srgbClr val="203A32"/>
                </a:solidFill>
                <a:latin typeface="Segoe UI"/>
                <a:ea typeface="Segoe UI"/>
                <a:cs typeface="Tahoma"/>
              </a:rPr>
              <a:t xml:space="preserve">BiLSTM + attention</a:t>
            </a:r>
            <a:endParaRPr lang="fr-FR" sz="1650"/>
          </a:p>
        </p:txBody>
      </p:sp>
      <p:sp>
        <p:nvSpPr>
          <p:cNvPr id="30" name="text-30"/>
          <p:cNvSpPr txBox="1"/>
          <p:nvPr/>
        </p:nvSpPr>
        <p:spPr>
          <a:xfrm>
            <a:off x="7097268" y="5086350"/>
            <a:ext cx="2229612" cy="466725"/>
          </a:xfrm>
          <a:prstGeom prst="rect">
            <a:avLst/>
          </a:prstGeom>
          <a:noFill/>
          <a:ln>
            <a:noFill/>
          </a:ln>
        </p:spPr>
        <p:txBody>
          <a:bodyPr wrap="none" lIns="0" tIns="0" rIns="0" bIns="0" anchor="t"/>
          <a:lstStyle/>
          <a:p>
            <a:pPr algn="l">
              <a:lnSpc>
                <a:spcPts val="2062"/>
              </a:lnSpc>
              <a:spcBef>
                <a:spcPts val="0"/>
              </a:spcBef>
              <a:spcAft>
                <a:spcPts val="0"/>
              </a:spcAft>
            </a:pPr>
            <a:r>
              <a:rPr lang="fr-FR" sz="1650" b="0">
                <a:solidFill>
                  <a:srgbClr val="203A32"/>
                </a:solidFill>
                <a:latin typeface="Segoe UI"/>
                <a:ea typeface="Segoe UI"/>
                <a:cs typeface="Tahoma"/>
              </a:rPr>
              <a:t xml:space="preserve">0,6625</a:t>
            </a:r>
            <a:endParaRPr lang="fr-FR" sz="1650"/>
          </a:p>
        </p:txBody>
      </p:sp>
      <p:sp>
        <p:nvSpPr>
          <p:cNvPr id="31" name="text-31"/>
          <p:cNvSpPr txBox="1"/>
          <p:nvPr/>
        </p:nvSpPr>
        <p:spPr>
          <a:xfrm>
            <a:off x="9536430" y="5086350"/>
            <a:ext cx="2007870" cy="466725"/>
          </a:xfrm>
          <a:prstGeom prst="rect">
            <a:avLst/>
          </a:prstGeom>
          <a:noFill/>
          <a:ln>
            <a:noFill/>
          </a:ln>
        </p:spPr>
        <p:txBody>
          <a:bodyPr wrap="none" lIns="0" tIns="0" rIns="0" bIns="0" anchor="t"/>
          <a:lstStyle/>
          <a:p>
            <a:pPr algn="l">
              <a:lnSpc>
                <a:spcPts val="2062"/>
              </a:lnSpc>
              <a:spcBef>
                <a:spcPts val="0"/>
              </a:spcBef>
              <a:spcAft>
                <a:spcPts val="0"/>
              </a:spcAft>
            </a:pPr>
            <a:r>
              <a:rPr lang="fr-FR" sz="1650" b="0">
                <a:solidFill>
                  <a:srgbClr val="203A32"/>
                </a:solidFill>
                <a:latin typeface="Segoe UI"/>
                <a:ea typeface="Segoe UI"/>
                <a:cs typeface="Tahoma"/>
              </a:rPr>
              <a:t xml:space="preserve">12,7 s</a:t>
            </a:r>
            <a:endParaRPr lang="fr-FR" sz="1650"/>
          </a:p>
        </p:txBody>
      </p:sp>
      <p:sp>
        <p:nvSpPr>
          <p:cNvPr id="32" name="rect-32"/>
          <p:cNvSpPr txBox="1"/>
          <p:nvPr/>
        </p:nvSpPr>
        <p:spPr>
          <a:xfrm>
            <a:off x="552450" y="5810250"/>
            <a:ext cx="11087100" cy="542925"/>
          </a:xfrm>
          <a:prstGeom prst="rect">
            <a:avLst/>
          </a:prstGeom>
          <a:solidFill>
            <a:srgbClr val="DDE7D6"/>
          </a:solidFill>
          <a:ln>
            <a:noFill/>
          </a:ln>
        </p:spPr>
      </p:sp>
      <p:sp>
        <p:nvSpPr>
          <p:cNvPr id="33" name="text-33"/>
          <p:cNvSpPr txBox="1"/>
          <p:nvPr/>
        </p:nvSpPr>
        <p:spPr>
          <a:xfrm>
            <a:off x="723900" y="5857875"/>
            <a:ext cx="10715625" cy="476250"/>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285D4B"/>
                </a:solidFill>
                <a:latin typeface="Segoe UI"/>
                <a:ea typeface="Segoe UI"/>
                <a:cs typeface="Tahoma"/>
              </a:rPr>
              <a:t xml:space="preserve">Ces temps excluent l’extraction des représentations et le chargement. L’encodeur reste nécessaire à l’inférence.</a:t>
            </a:r>
            <a:endParaRPr lang="fr-FR" sz="1350"/>
          </a:p>
        </p:txBody>
      </p:sp>
      <p:cxnSp>
        <p:nvCxnSpPr>
          <p:cNvPr id="34" name="line-34"/>
          <p:cNvCxnSpPr/>
          <p:nvPr/>
        </p:nvCxnSpPr>
        <p:spPr>
          <a:xfrm>
            <a:off x="552450" y="6505575"/>
            <a:ext cx="11087100" cy="0"/>
          </a:xfrm>
          <a:prstGeom prst="line">
            <a:avLst/>
          </a:prstGeom>
          <a:ln w="9525">
            <a:solidFill>
              <a:srgbClr val="D4DBCE"/>
            </a:solidFill>
          </a:ln>
        </p:spPr>
      </p:cxnSp>
      <p:sp>
        <p:nvSpPr>
          <p:cNvPr id="35" name="text-35"/>
          <p:cNvSpPr txBox="1"/>
          <p:nvPr/>
        </p:nvSpPr>
        <p:spPr>
          <a:xfrm>
            <a:off x="552450" y="6572250"/>
            <a:ext cx="8572500" cy="219075"/>
          </a:xfrm>
          <a:prstGeom prst="rect">
            <a:avLst/>
          </a:prstGeom>
          <a:noFill/>
          <a:ln>
            <a:noFill/>
          </a:ln>
        </p:spPr>
        <p:txBody>
          <a:bodyPr wrap="none" lIns="0" tIns="0" rIns="0" bIns="0" anchor="t"/>
          <a:lstStyle/>
          <a:p>
            <a:pPr algn="l">
              <a:lnSpc>
                <a:spcPts val="1125"/>
              </a:lnSpc>
              <a:spcBef>
                <a:spcPts val="0"/>
              </a:spcBef>
              <a:spcAft>
                <a:spcPts val="0"/>
              </a:spcAft>
            </a:pPr>
            <a:r>
              <a:rPr lang="fr-FR" sz="900" b="0">
                <a:solidFill>
                  <a:srgbClr val="64736B"/>
                </a:solidFill>
                <a:latin typeface="Segoe UI"/>
                <a:ea typeface="Segoe UI"/>
                <a:cs typeface="Tahoma"/>
              </a:rPr>
              <a:t xml:space="preserve">LMA3NA · Omar Elkhali · BDIOT</a:t>
            </a:r>
            <a:endParaRPr lang="fr-FR" sz="900"/>
          </a:p>
        </p:txBody>
      </p:sp>
      <p:sp>
        <p:nvSpPr>
          <p:cNvPr id="36" name="text-36"/>
          <p:cNvSpPr txBox="1"/>
          <p:nvPr/>
        </p:nvSpPr>
        <p:spPr>
          <a:xfrm>
            <a:off x="10763250" y="6572250"/>
            <a:ext cx="876300" cy="219075"/>
          </a:xfrm>
          <a:prstGeom prst="rect">
            <a:avLst/>
          </a:prstGeom>
          <a:noFill/>
          <a:ln>
            <a:noFill/>
          </a:ln>
        </p:spPr>
        <p:txBody>
          <a:bodyPr wrap="none" lIns="0" tIns="0" rIns="0" bIns="0" anchor="t"/>
          <a:lstStyle/>
          <a:p>
            <a:pPr algn="r">
              <a:lnSpc>
                <a:spcPts val="1125"/>
              </a:lnSpc>
              <a:spcBef>
                <a:spcPts val="0"/>
              </a:spcBef>
              <a:spcAft>
                <a:spcPts val="0"/>
              </a:spcAft>
            </a:pPr>
            <a:r>
              <a:rPr lang="fr-FR" sz="900" b="0">
                <a:solidFill>
                  <a:srgbClr val="64736B"/>
                </a:solidFill>
                <a:latin typeface="Segoe UI"/>
                <a:ea typeface="Segoe UI"/>
                <a:cs typeface="Tahoma"/>
              </a:rPr>
              <a:t xml:space="preserve">14 / 38</a:t>
            </a:r>
            <a:endParaRPr lang="fr-FR" sz="900"/>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5F4EE"/>
        </a:solidFill>
        <a:effectLst/>
      </p:bgPr>
    </p:bg>
    <p:spTree>
      <p:nvGrpSpPr>
        <p:cNvPr id="1" name=""/>
        <p:cNvGrpSpPr/>
        <p:nvPr/>
      </p:nvGrpSpPr>
      <p:grpSpPr>
        <a:xfrm>
          <a:off x="0" y="0"/>
          <a:ext cx="0" cy="0"/>
          <a:chOff x="0" y="0"/>
          <a:chExt cx="0" cy="0"/>
        </a:xfrm>
      </p:grpSpPr>
      <p:sp>
        <p:nvSpPr>
          <p:cNvPr id="2" name="rect-2"/>
          <p:cNvSpPr txBox="1"/>
          <p:nvPr/>
        </p:nvSpPr>
        <p:spPr>
          <a:xfrm>
            <a:off x="552450" y="361950"/>
            <a:ext cx="400050" cy="38100"/>
          </a:xfrm>
          <a:prstGeom prst="rect">
            <a:avLst/>
          </a:prstGeom>
          <a:solidFill>
            <a:srgbClr val="E6A477"/>
          </a:solidFill>
          <a:ln>
            <a:noFill/>
          </a:ln>
        </p:spPr>
      </p:sp>
      <p:sp>
        <p:nvSpPr>
          <p:cNvPr id="3" name="text-3"/>
          <p:cNvSpPr txBox="1"/>
          <p:nvPr/>
        </p:nvSpPr>
        <p:spPr>
          <a:xfrm>
            <a:off x="1066800" y="276225"/>
            <a:ext cx="10287000" cy="266700"/>
          </a:xfrm>
          <a:prstGeom prst="rect">
            <a:avLst/>
          </a:prstGeom>
          <a:noFill/>
          <a:ln>
            <a:noFill/>
          </a:ln>
        </p:spPr>
        <p:txBody>
          <a:bodyPr wrap="none" lIns="0" tIns="0" rIns="0" bIns="0" anchor="t"/>
          <a:lstStyle/>
          <a:p>
            <a:pPr algn="l">
              <a:lnSpc>
                <a:spcPts val="1406"/>
              </a:lnSpc>
              <a:spcBef>
                <a:spcPts val="0"/>
              </a:spcBef>
              <a:spcAft>
                <a:spcPts val="0"/>
              </a:spcAft>
            </a:pPr>
            <a:r>
              <a:rPr lang="fr-FR" sz="1125" b="1">
                <a:solidFill>
                  <a:srgbClr val="285D4B"/>
                </a:solidFill>
                <a:latin typeface="Segoe UI"/>
                <a:ea typeface="Segoe UI"/>
                <a:cs typeface="Tahoma"/>
              </a:rPr>
              <a:t xml:space="preserve">04 · E · FINE-TUNING</a:t>
            </a:r>
            <a:endParaRPr lang="fr-FR" sz="1125"/>
          </a:p>
        </p:txBody>
      </p:sp>
      <p:sp>
        <p:nvSpPr>
          <p:cNvPr id="4" name="text-4"/>
          <p:cNvSpPr txBox="1"/>
          <p:nvPr/>
        </p:nvSpPr>
        <p:spPr>
          <a:xfrm>
            <a:off x="552450" y="790575"/>
            <a:ext cx="11087100" cy="1066800"/>
          </a:xfrm>
          <a:prstGeom prst="rect">
            <a:avLst/>
          </a:prstGeom>
          <a:noFill/>
          <a:ln>
            <a:noFill/>
          </a:ln>
        </p:spPr>
        <p:txBody>
          <a:bodyPr wrap="none" lIns="0" tIns="0" rIns="0" bIns="0" anchor="t"/>
          <a:lstStyle/>
          <a:p>
            <a:pPr algn="l">
              <a:lnSpc>
                <a:spcPts val="4031"/>
              </a:lnSpc>
              <a:spcBef>
                <a:spcPts val="0"/>
              </a:spcBef>
              <a:spcAft>
                <a:spcPts val="0"/>
              </a:spcAft>
            </a:pPr>
            <a:r>
              <a:rPr lang="fr-FR" sz="3225" b="1">
                <a:solidFill>
                  <a:srgbClr val="203A32"/>
                </a:solidFill>
                <a:latin typeface="Segoe UI"/>
                <a:ea typeface="Segoe UI"/>
                <a:cs typeface="Tahoma"/>
              </a:rPr>
              <a:t xml:space="preserve">Le multi-tâche partage l’encodeur entre sarcasme et</a:t>
            </a:r>
            <a:endParaRPr lang="fr-FR" sz="3225"/>
          </a:p>
          <a:p>
            <a:pPr algn="l">
              <a:lnSpc>
                <a:spcPts val="4031"/>
              </a:lnSpc>
              <a:spcBef>
                <a:spcPts val="0"/>
              </a:spcBef>
              <a:spcAft>
                <a:spcPts val="0"/>
              </a:spcAft>
            </a:pPr>
            <a:r>
              <a:rPr lang="fr-FR" sz="3225" b="1">
                <a:solidFill>
                  <a:srgbClr val="203A32"/>
                </a:solidFill>
                <a:latin typeface="Segoe UI"/>
                <a:ea typeface="Segoe UI"/>
                <a:cs typeface="Tahoma"/>
              </a:rPr>
              <a:t xml:space="preserve">sentiment</a:t>
            </a:r>
            <a:endParaRPr lang="fr-FR" sz="3225"/>
          </a:p>
        </p:txBody>
      </p:sp>
      <p:sp>
        <p:nvSpPr>
          <p:cNvPr id="5" name="rect-5"/>
          <p:cNvSpPr txBox="1"/>
          <p:nvPr/>
        </p:nvSpPr>
        <p:spPr>
          <a:xfrm>
            <a:off x="552450" y="2095500"/>
            <a:ext cx="2609850" cy="1095375"/>
          </a:xfrm>
          <a:prstGeom prst="rect">
            <a:avLst/>
          </a:prstGeom>
          <a:solidFill>
            <a:srgbClr val="FFFFFF"/>
          </a:solidFill>
          <a:ln>
            <a:noFill/>
          </a:ln>
        </p:spPr>
      </p:sp>
      <p:sp>
        <p:nvSpPr>
          <p:cNvPr id="6" name="text-6"/>
          <p:cNvSpPr txBox="1"/>
          <p:nvPr/>
        </p:nvSpPr>
        <p:spPr>
          <a:xfrm>
            <a:off x="704850" y="2238375"/>
            <a:ext cx="2305050" cy="523875"/>
          </a:xfrm>
          <a:prstGeom prst="rect">
            <a:avLst/>
          </a:prstGeom>
          <a:noFill/>
          <a:ln>
            <a:noFill/>
          </a:ln>
        </p:spPr>
        <p:txBody>
          <a:bodyPr wrap="none" lIns="0" tIns="0" rIns="0" bIns="0" anchor="t"/>
          <a:lstStyle/>
          <a:p>
            <a:pPr algn="l">
              <a:lnSpc>
                <a:spcPts val="2250"/>
              </a:lnSpc>
              <a:spcBef>
                <a:spcPts val="0"/>
              </a:spcBef>
              <a:spcAft>
                <a:spcPts val="0"/>
              </a:spcAft>
            </a:pPr>
            <a:r>
              <a:rPr lang="fr-FR" sz="1800" b="1">
                <a:solidFill>
                  <a:srgbClr val="285D4B"/>
                </a:solidFill>
                <a:latin typeface="Segoe UI"/>
                <a:ea typeface="Segoe UI"/>
                <a:cs typeface="Tahoma"/>
              </a:rPr>
              <a:t xml:space="preserve">Tweet arabe</a:t>
            </a:r>
            <a:endParaRPr lang="fr-FR" sz="1800"/>
          </a:p>
        </p:txBody>
      </p:sp>
      <p:sp>
        <p:nvSpPr>
          <p:cNvPr id="7" name="text-7"/>
          <p:cNvSpPr txBox="1"/>
          <p:nvPr/>
        </p:nvSpPr>
        <p:spPr>
          <a:xfrm>
            <a:off x="704850" y="2762250"/>
            <a:ext cx="2305050" cy="409575"/>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64736B"/>
                </a:solidFill>
                <a:latin typeface="Segoe UI"/>
                <a:ea typeface="Segoe UI"/>
                <a:cs typeface="Tahoma"/>
              </a:rPr>
              <a:t xml:space="preserve">Tokens et masque</a:t>
            </a:r>
            <a:endParaRPr lang="fr-FR" sz="1350"/>
          </a:p>
        </p:txBody>
      </p:sp>
      <p:cxnSp>
        <p:nvCxnSpPr>
          <p:cNvPr id="8" name="line-8"/>
          <p:cNvCxnSpPr/>
          <p:nvPr/>
        </p:nvCxnSpPr>
        <p:spPr>
          <a:xfrm>
            <a:off x="3190875" y="2643188"/>
            <a:ext cx="161925" cy="0"/>
          </a:xfrm>
          <a:prstGeom prst="line">
            <a:avLst/>
          </a:prstGeom>
          <a:ln w="28575">
            <a:solidFill>
              <a:srgbClr val="E6A477"/>
            </a:solidFill>
          </a:ln>
        </p:spPr>
      </p:cxnSp>
      <p:sp>
        <p:nvSpPr>
          <p:cNvPr id="9" name="rect-9"/>
          <p:cNvSpPr txBox="1"/>
          <p:nvPr/>
        </p:nvSpPr>
        <p:spPr>
          <a:xfrm>
            <a:off x="3390900" y="2095500"/>
            <a:ext cx="2609850" cy="1095375"/>
          </a:xfrm>
          <a:prstGeom prst="rect">
            <a:avLst/>
          </a:prstGeom>
          <a:solidFill>
            <a:srgbClr val="FFFFFF"/>
          </a:solidFill>
          <a:ln>
            <a:noFill/>
          </a:ln>
        </p:spPr>
      </p:sp>
      <p:sp>
        <p:nvSpPr>
          <p:cNvPr id="10" name="text-10"/>
          <p:cNvSpPr txBox="1"/>
          <p:nvPr/>
        </p:nvSpPr>
        <p:spPr>
          <a:xfrm>
            <a:off x="3543300" y="2238375"/>
            <a:ext cx="2305050" cy="523875"/>
          </a:xfrm>
          <a:prstGeom prst="rect">
            <a:avLst/>
          </a:prstGeom>
          <a:noFill/>
          <a:ln>
            <a:noFill/>
          </a:ln>
        </p:spPr>
        <p:txBody>
          <a:bodyPr wrap="none" lIns="0" tIns="0" rIns="0" bIns="0" anchor="t"/>
          <a:lstStyle/>
          <a:p>
            <a:pPr algn="l">
              <a:lnSpc>
                <a:spcPts val="2250"/>
              </a:lnSpc>
              <a:spcBef>
                <a:spcPts val="0"/>
              </a:spcBef>
              <a:spcAft>
                <a:spcPts val="0"/>
              </a:spcAft>
            </a:pPr>
            <a:r>
              <a:rPr lang="fr-FR" sz="1800" b="1">
                <a:solidFill>
                  <a:srgbClr val="285D4B"/>
                </a:solidFill>
                <a:latin typeface="Segoe UI"/>
                <a:ea typeface="Segoe UI"/>
                <a:cs typeface="Tahoma"/>
              </a:rPr>
              <a:t xml:space="preserve">Encodeur ajusté</a:t>
            </a:r>
            <a:endParaRPr lang="fr-FR" sz="1800"/>
          </a:p>
        </p:txBody>
      </p:sp>
      <p:sp>
        <p:nvSpPr>
          <p:cNvPr id="11" name="text-11"/>
          <p:cNvSpPr txBox="1"/>
          <p:nvPr/>
        </p:nvSpPr>
        <p:spPr>
          <a:xfrm>
            <a:off x="3543300" y="2762250"/>
            <a:ext cx="2305050" cy="409575"/>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64736B"/>
                </a:solidFill>
                <a:latin typeface="Segoe UI"/>
                <a:ea typeface="Segoe UI"/>
                <a:cs typeface="Tahoma"/>
              </a:rPr>
              <a:t xml:space="preserve">AraBERT ou MARBERT</a:t>
            </a:r>
            <a:endParaRPr lang="fr-FR" sz="1350"/>
          </a:p>
        </p:txBody>
      </p:sp>
      <p:cxnSp>
        <p:nvCxnSpPr>
          <p:cNvPr id="12" name="line-12"/>
          <p:cNvCxnSpPr/>
          <p:nvPr/>
        </p:nvCxnSpPr>
        <p:spPr>
          <a:xfrm>
            <a:off x="6029325" y="2643188"/>
            <a:ext cx="161925" cy="0"/>
          </a:xfrm>
          <a:prstGeom prst="line">
            <a:avLst/>
          </a:prstGeom>
          <a:ln w="28575">
            <a:solidFill>
              <a:srgbClr val="E6A477"/>
            </a:solidFill>
          </a:ln>
        </p:spPr>
      </p:cxnSp>
      <p:sp>
        <p:nvSpPr>
          <p:cNvPr id="13" name="rect-13"/>
          <p:cNvSpPr txBox="1"/>
          <p:nvPr/>
        </p:nvSpPr>
        <p:spPr>
          <a:xfrm>
            <a:off x="6229350" y="2095500"/>
            <a:ext cx="2609850" cy="1095375"/>
          </a:xfrm>
          <a:prstGeom prst="rect">
            <a:avLst/>
          </a:prstGeom>
          <a:solidFill>
            <a:srgbClr val="FFFFFF"/>
          </a:solidFill>
          <a:ln>
            <a:noFill/>
          </a:ln>
        </p:spPr>
      </p:sp>
      <p:sp>
        <p:nvSpPr>
          <p:cNvPr id="14" name="text-14"/>
          <p:cNvSpPr txBox="1"/>
          <p:nvPr/>
        </p:nvSpPr>
        <p:spPr>
          <a:xfrm>
            <a:off x="6381750" y="2238375"/>
            <a:ext cx="2305050" cy="523875"/>
          </a:xfrm>
          <a:prstGeom prst="rect">
            <a:avLst/>
          </a:prstGeom>
          <a:noFill/>
          <a:ln>
            <a:noFill/>
          </a:ln>
        </p:spPr>
        <p:txBody>
          <a:bodyPr wrap="none" lIns="0" tIns="0" rIns="0" bIns="0" anchor="t"/>
          <a:lstStyle/>
          <a:p>
            <a:pPr algn="l">
              <a:lnSpc>
                <a:spcPts val="2250"/>
              </a:lnSpc>
              <a:spcBef>
                <a:spcPts val="0"/>
              </a:spcBef>
              <a:spcAft>
                <a:spcPts val="0"/>
              </a:spcAft>
            </a:pPr>
            <a:r>
              <a:rPr lang="fr-FR" sz="1800" b="1">
                <a:solidFill>
                  <a:srgbClr val="285D4B"/>
                </a:solidFill>
                <a:latin typeface="Segoe UI"/>
                <a:ea typeface="Segoe UI"/>
                <a:cs typeface="Tahoma"/>
              </a:rPr>
              <a:t xml:space="preserve">CLS + dropout</a:t>
            </a:r>
            <a:endParaRPr lang="fr-FR" sz="1800"/>
          </a:p>
        </p:txBody>
      </p:sp>
      <p:sp>
        <p:nvSpPr>
          <p:cNvPr id="15" name="text-15"/>
          <p:cNvSpPr txBox="1"/>
          <p:nvPr/>
        </p:nvSpPr>
        <p:spPr>
          <a:xfrm>
            <a:off x="6381750" y="2762250"/>
            <a:ext cx="2305050" cy="409575"/>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64736B"/>
                </a:solidFill>
                <a:latin typeface="Segoe UI"/>
                <a:ea typeface="Segoe UI"/>
                <a:cs typeface="Tahoma"/>
              </a:rPr>
              <a:t xml:space="preserve">Représentation partagée</a:t>
            </a:r>
            <a:endParaRPr lang="fr-FR" sz="1350"/>
          </a:p>
        </p:txBody>
      </p:sp>
      <p:sp>
        <p:nvSpPr>
          <p:cNvPr id="16" name="rect-16"/>
          <p:cNvSpPr txBox="1"/>
          <p:nvPr/>
        </p:nvSpPr>
        <p:spPr>
          <a:xfrm>
            <a:off x="9191625" y="1952625"/>
            <a:ext cx="2428875" cy="809625"/>
          </a:xfrm>
          <a:prstGeom prst="rect">
            <a:avLst/>
          </a:prstGeom>
          <a:solidFill>
            <a:srgbClr val="E6A477"/>
          </a:solidFill>
          <a:ln>
            <a:noFill/>
          </a:ln>
        </p:spPr>
      </p:sp>
      <p:sp>
        <p:nvSpPr>
          <p:cNvPr id="17" name="text-17"/>
          <p:cNvSpPr txBox="1"/>
          <p:nvPr/>
        </p:nvSpPr>
        <p:spPr>
          <a:xfrm>
            <a:off x="9353550" y="2133600"/>
            <a:ext cx="2095500" cy="428625"/>
          </a:xfrm>
          <a:prstGeom prst="rect">
            <a:avLst/>
          </a:prstGeom>
          <a:noFill/>
          <a:ln>
            <a:noFill/>
          </a:ln>
        </p:spPr>
        <p:txBody>
          <a:bodyPr wrap="none" lIns="0" tIns="0" rIns="0" bIns="0" anchor="t"/>
          <a:lstStyle/>
          <a:p>
            <a:pPr algn="l">
              <a:lnSpc>
                <a:spcPts val="2344"/>
              </a:lnSpc>
              <a:spcBef>
                <a:spcPts val="0"/>
              </a:spcBef>
              <a:spcAft>
                <a:spcPts val="0"/>
              </a:spcAft>
            </a:pPr>
            <a:r>
              <a:rPr lang="fr-FR" sz="1875" b="1">
                <a:solidFill>
                  <a:srgbClr val="203A32"/>
                </a:solidFill>
                <a:latin typeface="Segoe UI"/>
                <a:ea typeface="Segoe UI"/>
                <a:cs typeface="Tahoma"/>
              </a:rPr>
              <a:t xml:space="preserve">Tête sarcasme</a:t>
            </a:r>
            <a:endParaRPr lang="fr-FR" sz="1875"/>
          </a:p>
        </p:txBody>
      </p:sp>
      <p:sp>
        <p:nvSpPr>
          <p:cNvPr id="18" name="rect-18"/>
          <p:cNvSpPr txBox="1"/>
          <p:nvPr/>
        </p:nvSpPr>
        <p:spPr>
          <a:xfrm>
            <a:off x="9191625" y="3143250"/>
            <a:ext cx="2428875" cy="809625"/>
          </a:xfrm>
          <a:prstGeom prst="rect">
            <a:avLst/>
          </a:prstGeom>
          <a:solidFill>
            <a:srgbClr val="DDE7D6"/>
          </a:solidFill>
          <a:ln>
            <a:noFill/>
          </a:ln>
        </p:spPr>
      </p:sp>
      <p:sp>
        <p:nvSpPr>
          <p:cNvPr id="19" name="text-19"/>
          <p:cNvSpPr txBox="1"/>
          <p:nvPr/>
        </p:nvSpPr>
        <p:spPr>
          <a:xfrm>
            <a:off x="9353550" y="3324225"/>
            <a:ext cx="2095500" cy="428625"/>
          </a:xfrm>
          <a:prstGeom prst="rect">
            <a:avLst/>
          </a:prstGeom>
          <a:noFill/>
          <a:ln>
            <a:noFill/>
          </a:ln>
        </p:spPr>
        <p:txBody>
          <a:bodyPr wrap="none" lIns="0" tIns="0" rIns="0" bIns="0" anchor="t"/>
          <a:lstStyle/>
          <a:p>
            <a:pPr algn="l">
              <a:lnSpc>
                <a:spcPts val="2344"/>
              </a:lnSpc>
              <a:spcBef>
                <a:spcPts val="0"/>
              </a:spcBef>
              <a:spcAft>
                <a:spcPts val="0"/>
              </a:spcAft>
            </a:pPr>
            <a:r>
              <a:rPr lang="fr-FR" sz="1875" b="1">
                <a:solidFill>
                  <a:srgbClr val="203A32"/>
                </a:solidFill>
                <a:latin typeface="Segoe UI"/>
                <a:ea typeface="Segoe UI"/>
                <a:cs typeface="Tahoma"/>
              </a:rPr>
              <a:t xml:space="preserve">Tête sentiment</a:t>
            </a:r>
            <a:endParaRPr lang="fr-FR" sz="1875"/>
          </a:p>
        </p:txBody>
      </p:sp>
      <p:cxnSp>
        <p:nvCxnSpPr>
          <p:cNvPr id="20" name="line-20"/>
          <p:cNvCxnSpPr/>
          <p:nvPr/>
        </p:nvCxnSpPr>
        <p:spPr>
          <a:xfrm>
            <a:off x="8839200" y="2628900"/>
            <a:ext cx="190500" cy="0"/>
          </a:xfrm>
          <a:prstGeom prst="line">
            <a:avLst/>
          </a:prstGeom>
          <a:ln w="19050">
            <a:solidFill>
              <a:srgbClr val="285D4B"/>
            </a:solidFill>
          </a:ln>
        </p:spPr>
      </p:cxnSp>
      <p:cxnSp>
        <p:nvCxnSpPr>
          <p:cNvPr id="21" name="line-21"/>
          <p:cNvCxnSpPr/>
          <p:nvPr/>
        </p:nvCxnSpPr>
        <p:spPr>
          <a:xfrm>
            <a:off x="9029700" y="2343150"/>
            <a:ext cx="0" cy="1190625"/>
          </a:xfrm>
          <a:prstGeom prst="line">
            <a:avLst/>
          </a:prstGeom>
          <a:ln w="19050">
            <a:solidFill>
              <a:srgbClr val="285D4B"/>
            </a:solidFill>
          </a:ln>
        </p:spPr>
      </p:cxnSp>
      <p:cxnSp>
        <p:nvCxnSpPr>
          <p:cNvPr id="22" name="line-22"/>
          <p:cNvCxnSpPr/>
          <p:nvPr/>
        </p:nvCxnSpPr>
        <p:spPr>
          <a:xfrm>
            <a:off x="9029700" y="2343150"/>
            <a:ext cx="142875" cy="0"/>
          </a:xfrm>
          <a:prstGeom prst="line">
            <a:avLst/>
          </a:prstGeom>
          <a:ln w="19050">
            <a:solidFill>
              <a:srgbClr val="285D4B"/>
            </a:solidFill>
          </a:ln>
        </p:spPr>
      </p:cxnSp>
      <p:cxnSp>
        <p:nvCxnSpPr>
          <p:cNvPr id="23" name="line-23"/>
          <p:cNvCxnSpPr/>
          <p:nvPr/>
        </p:nvCxnSpPr>
        <p:spPr>
          <a:xfrm>
            <a:off x="9029700" y="3533775"/>
            <a:ext cx="142875" cy="0"/>
          </a:xfrm>
          <a:prstGeom prst="line">
            <a:avLst/>
          </a:prstGeom>
          <a:ln w="19050">
            <a:solidFill>
              <a:srgbClr val="285D4B"/>
            </a:solidFill>
          </a:ln>
        </p:spPr>
      </p:cxnSp>
      <p:sp>
        <p:nvSpPr>
          <p:cNvPr id="24" name="text-24"/>
          <p:cNvSpPr txBox="1"/>
          <p:nvPr/>
        </p:nvSpPr>
        <p:spPr>
          <a:xfrm>
            <a:off x="552450" y="4381500"/>
            <a:ext cx="10858500" cy="1066800"/>
          </a:xfrm>
          <a:prstGeom prst="rect">
            <a:avLst/>
          </a:prstGeom>
          <a:noFill/>
          <a:ln>
            <a:noFill/>
          </a:ln>
        </p:spPr>
        <p:txBody>
          <a:bodyPr wrap="none" lIns="0" tIns="0" rIns="0" bIns="0" anchor="t"/>
          <a:lstStyle/>
          <a:p>
            <a:pPr algn="l">
              <a:lnSpc>
                <a:spcPts val="2812"/>
              </a:lnSpc>
              <a:spcBef>
                <a:spcPts val="0"/>
              </a:spcBef>
              <a:spcAft>
                <a:spcPts val="0"/>
              </a:spcAft>
            </a:pPr>
            <a:r>
              <a:rPr lang="fr-FR" sz="2250" b="1">
                <a:solidFill>
                  <a:srgbClr val="285D4B"/>
                </a:solidFill>
                <a:latin typeface="Segoe UI"/>
                <a:ea typeface="Segoe UI"/>
                <a:cs typeface="Tahoma"/>
              </a:rPr>
              <a:t xml:space="preserve">E1 : perte sarcasme pondérée</a:t>
            </a:r>
            <a:endParaRPr lang="fr-FR" sz="2250"/>
          </a:p>
          <a:p>
            <a:pPr algn="l">
              <a:lnSpc>
                <a:spcPts val="2812"/>
              </a:lnSpc>
              <a:spcBef>
                <a:spcPts val="0"/>
              </a:spcBef>
              <a:spcAft>
                <a:spcPts val="0"/>
              </a:spcAft>
            </a:pPr>
            <a:r>
              <a:rPr lang="fr-FR" sz="2250" b="1">
                <a:solidFill>
                  <a:srgbClr val="285D4B"/>
                </a:solidFill>
                <a:latin typeface="Segoe UI"/>
                <a:ea typeface="Segoe UI"/>
                <a:cs typeface="Tahoma"/>
              </a:rPr>
              <a:t xml:space="preserve">E2 : perte sarcasme pondérée + λ × perte sentiment</a:t>
            </a:r>
            <a:endParaRPr lang="fr-FR" sz="2250"/>
          </a:p>
        </p:txBody>
      </p:sp>
      <p:sp>
        <p:nvSpPr>
          <p:cNvPr id="25" name="rect-25"/>
          <p:cNvSpPr txBox="1"/>
          <p:nvPr/>
        </p:nvSpPr>
        <p:spPr>
          <a:xfrm>
            <a:off x="552450" y="5810250"/>
            <a:ext cx="11087100" cy="542925"/>
          </a:xfrm>
          <a:prstGeom prst="rect">
            <a:avLst/>
          </a:prstGeom>
          <a:solidFill>
            <a:srgbClr val="DDE7D6"/>
          </a:solidFill>
          <a:ln>
            <a:noFill/>
          </a:ln>
        </p:spPr>
      </p:sp>
      <p:sp>
        <p:nvSpPr>
          <p:cNvPr id="26" name="text-26"/>
          <p:cNvSpPr txBox="1"/>
          <p:nvPr/>
        </p:nvSpPr>
        <p:spPr>
          <a:xfrm>
            <a:off x="723900" y="5857875"/>
            <a:ext cx="10715625" cy="476250"/>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285D4B"/>
                </a:solidFill>
                <a:latin typeface="Segoe UI"/>
                <a:ea typeface="Segoe UI"/>
                <a:cs typeface="Tahoma"/>
              </a:rPr>
              <a:t xml:space="preserve">E1 utilise une tête. E2 utilise deux têtes linéaires. Le signal auxiliaire peut aussi produire un transfert négatif.</a:t>
            </a:r>
            <a:endParaRPr lang="fr-FR" sz="1350"/>
          </a:p>
        </p:txBody>
      </p:sp>
      <p:cxnSp>
        <p:nvCxnSpPr>
          <p:cNvPr id="27" name="line-27"/>
          <p:cNvCxnSpPr/>
          <p:nvPr/>
        </p:nvCxnSpPr>
        <p:spPr>
          <a:xfrm>
            <a:off x="552450" y="6505575"/>
            <a:ext cx="11087100" cy="0"/>
          </a:xfrm>
          <a:prstGeom prst="line">
            <a:avLst/>
          </a:prstGeom>
          <a:ln w="9525">
            <a:solidFill>
              <a:srgbClr val="D4DBCE"/>
            </a:solidFill>
          </a:ln>
        </p:spPr>
      </p:cxnSp>
      <p:sp>
        <p:nvSpPr>
          <p:cNvPr id="28" name="text-28"/>
          <p:cNvSpPr txBox="1"/>
          <p:nvPr/>
        </p:nvSpPr>
        <p:spPr>
          <a:xfrm>
            <a:off x="552450" y="6572250"/>
            <a:ext cx="8572500" cy="219075"/>
          </a:xfrm>
          <a:prstGeom prst="rect">
            <a:avLst/>
          </a:prstGeom>
          <a:noFill/>
          <a:ln>
            <a:noFill/>
          </a:ln>
        </p:spPr>
        <p:txBody>
          <a:bodyPr wrap="none" lIns="0" tIns="0" rIns="0" bIns="0" anchor="t"/>
          <a:lstStyle/>
          <a:p>
            <a:pPr algn="l">
              <a:lnSpc>
                <a:spcPts val="1125"/>
              </a:lnSpc>
              <a:spcBef>
                <a:spcPts val="0"/>
              </a:spcBef>
              <a:spcAft>
                <a:spcPts val="0"/>
              </a:spcAft>
            </a:pPr>
            <a:r>
              <a:rPr lang="fr-FR" sz="900" b="0">
                <a:solidFill>
                  <a:srgbClr val="64736B"/>
                </a:solidFill>
                <a:latin typeface="Segoe UI"/>
                <a:ea typeface="Segoe UI"/>
                <a:cs typeface="Tahoma"/>
              </a:rPr>
              <a:t xml:space="preserve">LMA3NA · Omar Elkhali · BDIOT</a:t>
            </a:r>
            <a:endParaRPr lang="fr-FR" sz="900"/>
          </a:p>
        </p:txBody>
      </p:sp>
      <p:sp>
        <p:nvSpPr>
          <p:cNvPr id="29" name="text-29"/>
          <p:cNvSpPr txBox="1"/>
          <p:nvPr/>
        </p:nvSpPr>
        <p:spPr>
          <a:xfrm>
            <a:off x="10763250" y="6572250"/>
            <a:ext cx="876300" cy="219075"/>
          </a:xfrm>
          <a:prstGeom prst="rect">
            <a:avLst/>
          </a:prstGeom>
          <a:noFill/>
          <a:ln>
            <a:noFill/>
          </a:ln>
        </p:spPr>
        <p:txBody>
          <a:bodyPr wrap="none" lIns="0" tIns="0" rIns="0" bIns="0" anchor="t"/>
          <a:lstStyle/>
          <a:p>
            <a:pPr algn="r">
              <a:lnSpc>
                <a:spcPts val="1125"/>
              </a:lnSpc>
              <a:spcBef>
                <a:spcPts val="0"/>
              </a:spcBef>
              <a:spcAft>
                <a:spcPts val="0"/>
              </a:spcAft>
            </a:pPr>
            <a:r>
              <a:rPr lang="fr-FR" sz="900" b="0">
                <a:solidFill>
                  <a:srgbClr val="64736B"/>
                </a:solidFill>
                <a:latin typeface="Segoe UI"/>
                <a:ea typeface="Segoe UI"/>
                <a:cs typeface="Tahoma"/>
              </a:rPr>
              <a:t xml:space="preserve">15 / 38</a:t>
            </a:r>
            <a:endParaRPr lang="fr-FR" sz="900"/>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5F4EE"/>
        </a:solidFill>
        <a:effectLst/>
      </p:bgPr>
    </p:bg>
    <p:spTree>
      <p:nvGrpSpPr>
        <p:cNvPr id="1" name=""/>
        <p:cNvGrpSpPr/>
        <p:nvPr/>
      </p:nvGrpSpPr>
      <p:grpSpPr>
        <a:xfrm>
          <a:off x="0" y="0"/>
          <a:ext cx="0" cy="0"/>
          <a:chOff x="0" y="0"/>
          <a:chExt cx="0" cy="0"/>
        </a:xfrm>
      </p:grpSpPr>
      <p:sp>
        <p:nvSpPr>
          <p:cNvPr id="2" name="rect-2"/>
          <p:cNvSpPr txBox="1"/>
          <p:nvPr/>
        </p:nvSpPr>
        <p:spPr>
          <a:xfrm>
            <a:off x="552450" y="361950"/>
            <a:ext cx="400050" cy="38100"/>
          </a:xfrm>
          <a:prstGeom prst="rect">
            <a:avLst/>
          </a:prstGeom>
          <a:solidFill>
            <a:srgbClr val="E6A477"/>
          </a:solidFill>
          <a:ln>
            <a:noFill/>
          </a:ln>
        </p:spPr>
      </p:sp>
      <p:sp>
        <p:nvSpPr>
          <p:cNvPr id="3" name="text-3"/>
          <p:cNvSpPr txBox="1"/>
          <p:nvPr/>
        </p:nvSpPr>
        <p:spPr>
          <a:xfrm>
            <a:off x="1066800" y="276225"/>
            <a:ext cx="10287000" cy="266700"/>
          </a:xfrm>
          <a:prstGeom prst="rect">
            <a:avLst/>
          </a:prstGeom>
          <a:noFill/>
          <a:ln>
            <a:noFill/>
          </a:ln>
        </p:spPr>
        <p:txBody>
          <a:bodyPr wrap="none" lIns="0" tIns="0" rIns="0" bIns="0" anchor="t"/>
          <a:lstStyle/>
          <a:p>
            <a:pPr algn="l">
              <a:lnSpc>
                <a:spcPts val="1406"/>
              </a:lnSpc>
              <a:spcBef>
                <a:spcPts val="0"/>
              </a:spcBef>
              <a:spcAft>
                <a:spcPts val="0"/>
              </a:spcAft>
            </a:pPr>
            <a:r>
              <a:rPr lang="fr-FR" sz="1125" b="1">
                <a:solidFill>
                  <a:srgbClr val="285D4B"/>
                </a:solidFill>
                <a:latin typeface="Segoe UI"/>
                <a:ea typeface="Segoe UI"/>
                <a:cs typeface="Tahoma"/>
              </a:rPr>
              <a:t xml:space="preserve">04 · E · SÉLECTION</a:t>
            </a:r>
            <a:endParaRPr lang="fr-FR" sz="1125"/>
          </a:p>
        </p:txBody>
      </p:sp>
      <p:sp>
        <p:nvSpPr>
          <p:cNvPr id="4" name="text-4"/>
          <p:cNvSpPr txBox="1"/>
          <p:nvPr/>
        </p:nvSpPr>
        <p:spPr>
          <a:xfrm>
            <a:off x="552450" y="790575"/>
            <a:ext cx="11087100" cy="1066800"/>
          </a:xfrm>
          <a:prstGeom prst="rect">
            <a:avLst/>
          </a:prstGeom>
          <a:noFill/>
          <a:ln>
            <a:noFill/>
          </a:ln>
        </p:spPr>
        <p:txBody>
          <a:bodyPr wrap="none" lIns="0" tIns="0" rIns="0" bIns="0" anchor="t"/>
          <a:lstStyle/>
          <a:p>
            <a:pPr algn="l">
              <a:lnSpc>
                <a:spcPts val="4031"/>
              </a:lnSpc>
              <a:spcBef>
                <a:spcPts val="0"/>
              </a:spcBef>
              <a:spcAft>
                <a:spcPts val="0"/>
              </a:spcAft>
            </a:pPr>
            <a:r>
              <a:rPr lang="fr-FR" sz="3225" b="1">
                <a:solidFill>
                  <a:srgbClr val="203A32"/>
                </a:solidFill>
                <a:latin typeface="Segoe UI"/>
                <a:ea typeface="Segoe UI"/>
                <a:cs typeface="Tahoma"/>
              </a:rPr>
              <a:t xml:space="preserve">La validation sélectionne AraBERT E2 avec λ = 0,3</a:t>
            </a:r>
            <a:endParaRPr lang="fr-FR" sz="3225"/>
          </a:p>
        </p:txBody>
      </p:sp>
      <p:pic>
        <p:nvPicPr>
          <p:cNvPr id="5" name="image-5"/>
          <p:cNvPicPr>
            <a:picLocks noChangeAspect="1"/>
          </p:cNvPicPr>
          <p:nvPr/>
        </p:nvPicPr>
        <p:blipFill>
          <a:blip r:embed="rId3"/>
          <a:stretch>
            <a:fillRect/>
          </a:stretch>
        </p:blipFill>
        <p:spPr>
          <a:xfrm>
            <a:off x="791689" y="1933575"/>
            <a:ext cx="7046272" cy="3505200"/>
          </a:xfrm>
          <a:prstGeom prst="rect">
            <a:avLst/>
          </a:prstGeom>
        </p:spPr>
      </p:pic>
      <p:sp>
        <p:nvSpPr>
          <p:cNvPr id="6" name="text-6"/>
          <p:cNvSpPr txBox="1"/>
          <p:nvPr/>
        </p:nvSpPr>
        <p:spPr>
          <a:xfrm>
            <a:off x="8420100" y="2038350"/>
            <a:ext cx="3219450" cy="933450"/>
          </a:xfrm>
          <a:prstGeom prst="rect">
            <a:avLst/>
          </a:prstGeom>
          <a:noFill/>
          <a:ln>
            <a:noFill/>
          </a:ln>
        </p:spPr>
        <p:txBody>
          <a:bodyPr wrap="none" lIns="0" tIns="0" rIns="0" bIns="0" anchor="t"/>
          <a:lstStyle/>
          <a:p>
            <a:pPr algn="l">
              <a:lnSpc>
                <a:spcPts val="2812"/>
              </a:lnSpc>
              <a:spcBef>
                <a:spcPts val="0"/>
              </a:spcBef>
              <a:spcAft>
                <a:spcPts val="0"/>
              </a:spcAft>
            </a:pPr>
            <a:r>
              <a:rPr lang="fr-FR" sz="2250" b="1">
                <a:solidFill>
                  <a:srgbClr val="285D4B"/>
                </a:solidFill>
                <a:latin typeface="Segoe UI"/>
                <a:ea typeface="Segoe UI"/>
                <a:cs typeface="Tahoma"/>
              </a:rPr>
              <a:t xml:space="preserve">0,6824 de F1 moyen</a:t>
            </a:r>
            <a:endParaRPr lang="fr-FR" sz="2250"/>
          </a:p>
        </p:txBody>
      </p:sp>
      <p:sp>
        <p:nvSpPr>
          <p:cNvPr id="7" name="text-7"/>
          <p:cNvSpPr txBox="1"/>
          <p:nvPr/>
        </p:nvSpPr>
        <p:spPr>
          <a:xfrm>
            <a:off x="8420100" y="3143250"/>
            <a:ext cx="3219450" cy="2333625"/>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64736B"/>
                </a:solidFill>
                <a:latin typeface="Segoe UI"/>
                <a:ea typeface="Segoe UI"/>
                <a:cs typeface="Tahoma"/>
              </a:rPr>
              <a:t xml:space="preserve">AraBERT E2 dépasse E1 sur</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validation. MARBERT reste</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proche en mono-tâche, mais son</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multi-tâche ne gagne pas cette</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comparaison.</a:t>
            </a:r>
            <a:endParaRPr lang="fr-FR" sz="1725"/>
          </a:p>
        </p:txBody>
      </p:sp>
      <p:sp>
        <p:nvSpPr>
          <p:cNvPr id="8" name="rect-8"/>
          <p:cNvSpPr txBox="1"/>
          <p:nvPr/>
        </p:nvSpPr>
        <p:spPr>
          <a:xfrm>
            <a:off x="552450" y="5810250"/>
            <a:ext cx="11087100" cy="542925"/>
          </a:xfrm>
          <a:prstGeom prst="rect">
            <a:avLst/>
          </a:prstGeom>
          <a:solidFill>
            <a:srgbClr val="DDE7D6"/>
          </a:solidFill>
          <a:ln>
            <a:noFill/>
          </a:ln>
        </p:spPr>
      </p:sp>
      <p:sp>
        <p:nvSpPr>
          <p:cNvPr id="9" name="text-9"/>
          <p:cNvSpPr txBox="1"/>
          <p:nvPr/>
        </p:nvSpPr>
        <p:spPr>
          <a:xfrm>
            <a:off x="723900" y="5857875"/>
            <a:ext cx="10715625" cy="476250"/>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285D4B"/>
                </a:solidFill>
                <a:latin typeface="Segoe UI"/>
                <a:ea typeface="Segoe UI"/>
                <a:cs typeface="Tahoma"/>
              </a:rPr>
              <a:t xml:space="preserve">λ = 0,3 / 0,5 / 1 à graine 42. Puis répétition de E1 et du λ retenu aux graines 43 et 44 pour chaque encodeur.</a:t>
            </a:r>
            <a:endParaRPr lang="fr-FR" sz="1350"/>
          </a:p>
        </p:txBody>
      </p:sp>
      <p:cxnSp>
        <p:nvCxnSpPr>
          <p:cNvPr id="10" name="line-10"/>
          <p:cNvCxnSpPr/>
          <p:nvPr/>
        </p:nvCxnSpPr>
        <p:spPr>
          <a:xfrm>
            <a:off x="552450" y="6505575"/>
            <a:ext cx="11087100" cy="0"/>
          </a:xfrm>
          <a:prstGeom prst="line">
            <a:avLst/>
          </a:prstGeom>
          <a:ln w="9525">
            <a:solidFill>
              <a:srgbClr val="D4DBCE"/>
            </a:solidFill>
          </a:ln>
        </p:spPr>
      </p:cxnSp>
      <p:sp>
        <p:nvSpPr>
          <p:cNvPr id="11" name="text-11"/>
          <p:cNvSpPr txBox="1"/>
          <p:nvPr/>
        </p:nvSpPr>
        <p:spPr>
          <a:xfrm>
            <a:off x="552450" y="6572250"/>
            <a:ext cx="8572500" cy="219075"/>
          </a:xfrm>
          <a:prstGeom prst="rect">
            <a:avLst/>
          </a:prstGeom>
          <a:noFill/>
          <a:ln>
            <a:noFill/>
          </a:ln>
        </p:spPr>
        <p:txBody>
          <a:bodyPr wrap="none" lIns="0" tIns="0" rIns="0" bIns="0" anchor="t"/>
          <a:lstStyle/>
          <a:p>
            <a:pPr algn="l">
              <a:lnSpc>
                <a:spcPts val="1125"/>
              </a:lnSpc>
              <a:spcBef>
                <a:spcPts val="0"/>
              </a:spcBef>
              <a:spcAft>
                <a:spcPts val="0"/>
              </a:spcAft>
            </a:pPr>
            <a:r>
              <a:rPr lang="fr-FR" sz="900" b="0">
                <a:solidFill>
                  <a:srgbClr val="64736B"/>
                </a:solidFill>
                <a:latin typeface="Segoe UI"/>
                <a:ea typeface="Segoe UI"/>
                <a:cs typeface="Tahoma"/>
              </a:rPr>
              <a:t xml:space="preserve">LMA3NA · Omar Elkhali · BDIOT</a:t>
            </a:r>
            <a:endParaRPr lang="fr-FR" sz="900"/>
          </a:p>
        </p:txBody>
      </p:sp>
      <p:sp>
        <p:nvSpPr>
          <p:cNvPr id="12" name="text-12"/>
          <p:cNvSpPr txBox="1"/>
          <p:nvPr/>
        </p:nvSpPr>
        <p:spPr>
          <a:xfrm>
            <a:off x="10763250" y="6572250"/>
            <a:ext cx="876300" cy="219075"/>
          </a:xfrm>
          <a:prstGeom prst="rect">
            <a:avLst/>
          </a:prstGeom>
          <a:noFill/>
          <a:ln>
            <a:noFill/>
          </a:ln>
        </p:spPr>
        <p:txBody>
          <a:bodyPr wrap="none" lIns="0" tIns="0" rIns="0" bIns="0" anchor="t"/>
          <a:lstStyle/>
          <a:p>
            <a:pPr algn="r">
              <a:lnSpc>
                <a:spcPts val="1125"/>
              </a:lnSpc>
              <a:spcBef>
                <a:spcPts val="0"/>
              </a:spcBef>
              <a:spcAft>
                <a:spcPts val="0"/>
              </a:spcAft>
            </a:pPr>
            <a:r>
              <a:rPr lang="fr-FR" sz="900" b="0">
                <a:solidFill>
                  <a:srgbClr val="64736B"/>
                </a:solidFill>
                <a:latin typeface="Segoe UI"/>
                <a:ea typeface="Segoe UI"/>
                <a:cs typeface="Tahoma"/>
              </a:rPr>
              <a:t xml:space="preserve">16 / 38</a:t>
            </a:r>
            <a:endParaRPr lang="fr-FR" sz="900"/>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5F4EE"/>
        </a:solidFill>
        <a:effectLst/>
      </p:bgPr>
    </p:bg>
    <p:spTree>
      <p:nvGrpSpPr>
        <p:cNvPr id="1" name=""/>
        <p:cNvGrpSpPr/>
        <p:nvPr/>
      </p:nvGrpSpPr>
      <p:grpSpPr>
        <a:xfrm>
          <a:off x="0" y="0"/>
          <a:ext cx="0" cy="0"/>
          <a:chOff x="0" y="0"/>
          <a:chExt cx="0" cy="0"/>
        </a:xfrm>
      </p:grpSpPr>
      <p:sp>
        <p:nvSpPr>
          <p:cNvPr id="2" name="rect-2"/>
          <p:cNvSpPr txBox="1"/>
          <p:nvPr/>
        </p:nvSpPr>
        <p:spPr>
          <a:xfrm>
            <a:off x="552450" y="361950"/>
            <a:ext cx="400050" cy="38100"/>
          </a:xfrm>
          <a:prstGeom prst="rect">
            <a:avLst/>
          </a:prstGeom>
          <a:solidFill>
            <a:srgbClr val="E6A477"/>
          </a:solidFill>
          <a:ln>
            <a:noFill/>
          </a:ln>
        </p:spPr>
      </p:sp>
      <p:sp>
        <p:nvSpPr>
          <p:cNvPr id="3" name="text-3"/>
          <p:cNvSpPr txBox="1"/>
          <p:nvPr/>
        </p:nvSpPr>
        <p:spPr>
          <a:xfrm>
            <a:off x="1066800" y="276225"/>
            <a:ext cx="10287000" cy="266700"/>
          </a:xfrm>
          <a:prstGeom prst="rect">
            <a:avLst/>
          </a:prstGeom>
          <a:noFill/>
          <a:ln>
            <a:noFill/>
          </a:ln>
        </p:spPr>
        <p:txBody>
          <a:bodyPr wrap="none" lIns="0" tIns="0" rIns="0" bIns="0" anchor="t"/>
          <a:lstStyle/>
          <a:p>
            <a:pPr algn="l">
              <a:lnSpc>
                <a:spcPts val="1406"/>
              </a:lnSpc>
              <a:spcBef>
                <a:spcPts val="0"/>
              </a:spcBef>
              <a:spcAft>
                <a:spcPts val="0"/>
              </a:spcAft>
            </a:pPr>
            <a:r>
              <a:rPr lang="fr-FR" sz="1125" b="1">
                <a:solidFill>
                  <a:srgbClr val="285D4B"/>
                </a:solidFill>
                <a:latin typeface="Segoe UI"/>
                <a:ea typeface="Segoe UI"/>
                <a:cs typeface="Tahoma"/>
              </a:rPr>
              <a:t xml:space="preserve">04 · ENTRAÎNEMENT</a:t>
            </a:r>
            <a:endParaRPr lang="fr-FR" sz="1125"/>
          </a:p>
        </p:txBody>
      </p:sp>
      <p:sp>
        <p:nvSpPr>
          <p:cNvPr id="4" name="text-4"/>
          <p:cNvSpPr txBox="1"/>
          <p:nvPr/>
        </p:nvSpPr>
        <p:spPr>
          <a:xfrm>
            <a:off x="552450" y="790575"/>
            <a:ext cx="11087100" cy="1066800"/>
          </a:xfrm>
          <a:prstGeom prst="rect">
            <a:avLst/>
          </a:prstGeom>
          <a:noFill/>
          <a:ln>
            <a:noFill/>
          </a:ln>
        </p:spPr>
        <p:txBody>
          <a:bodyPr wrap="none" lIns="0" tIns="0" rIns="0" bIns="0" anchor="t"/>
          <a:lstStyle/>
          <a:p>
            <a:pPr algn="l">
              <a:lnSpc>
                <a:spcPts val="4031"/>
              </a:lnSpc>
              <a:spcBef>
                <a:spcPts val="0"/>
              </a:spcBef>
              <a:spcAft>
                <a:spcPts val="0"/>
              </a:spcAft>
            </a:pPr>
            <a:r>
              <a:rPr lang="fr-FR" sz="3225" b="1">
                <a:solidFill>
                  <a:srgbClr val="203A32"/>
                </a:solidFill>
                <a:latin typeface="Segoe UI"/>
                <a:ea typeface="Segoe UI"/>
                <a:cs typeface="Tahoma"/>
              </a:rPr>
              <a:t xml:space="preserve">Les checkpoints reposent sur les courbes de validation</a:t>
            </a:r>
            <a:endParaRPr lang="fr-FR" sz="3225"/>
          </a:p>
        </p:txBody>
      </p:sp>
      <p:pic>
        <p:nvPicPr>
          <p:cNvPr id="5" name="image-5"/>
          <p:cNvPicPr>
            <a:picLocks noChangeAspect="1"/>
          </p:cNvPicPr>
          <p:nvPr/>
        </p:nvPicPr>
        <p:blipFill>
          <a:blip r:embed="rId3"/>
          <a:stretch>
            <a:fillRect/>
          </a:stretch>
        </p:blipFill>
        <p:spPr>
          <a:xfrm>
            <a:off x="1915452" y="1914525"/>
            <a:ext cx="5322621" cy="3705225"/>
          </a:xfrm>
          <a:prstGeom prst="rect">
            <a:avLst/>
          </a:prstGeom>
        </p:spPr>
      </p:pic>
      <p:sp>
        <p:nvSpPr>
          <p:cNvPr id="6" name="text-6"/>
          <p:cNvSpPr txBox="1"/>
          <p:nvPr/>
        </p:nvSpPr>
        <p:spPr>
          <a:xfrm>
            <a:off x="8953500" y="2047875"/>
            <a:ext cx="2667000" cy="523875"/>
          </a:xfrm>
          <a:prstGeom prst="rect">
            <a:avLst/>
          </a:prstGeom>
          <a:noFill/>
          <a:ln>
            <a:noFill/>
          </a:ln>
        </p:spPr>
        <p:txBody>
          <a:bodyPr wrap="none" lIns="0" tIns="0" rIns="0" bIns="0" anchor="t"/>
          <a:lstStyle/>
          <a:p>
            <a:pPr algn="l">
              <a:lnSpc>
                <a:spcPts val="2531"/>
              </a:lnSpc>
              <a:spcBef>
                <a:spcPts val="0"/>
              </a:spcBef>
              <a:spcAft>
                <a:spcPts val="0"/>
              </a:spcAft>
            </a:pPr>
            <a:r>
              <a:rPr lang="fr-FR" sz="2025" b="1">
                <a:solidFill>
                  <a:srgbClr val="285D4B"/>
                </a:solidFill>
                <a:latin typeface="Segoe UI"/>
                <a:ea typeface="Segoe UI"/>
                <a:cs typeface="Tahoma"/>
              </a:rPr>
              <a:t xml:space="preserve">Réglages mesurés</a:t>
            </a:r>
            <a:endParaRPr lang="fr-FR" sz="2025"/>
          </a:p>
        </p:txBody>
      </p:sp>
      <p:sp>
        <p:nvSpPr>
          <p:cNvPr id="7" name="text-7"/>
          <p:cNvSpPr txBox="1"/>
          <p:nvPr/>
        </p:nvSpPr>
        <p:spPr>
          <a:xfrm>
            <a:off x="8953500" y="2752725"/>
            <a:ext cx="2667000" cy="2676525"/>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64736B"/>
                </a:solidFill>
                <a:latin typeface="Segoe UI"/>
                <a:ea typeface="Segoe UI"/>
                <a:cs typeface="Tahoma"/>
              </a:rPr>
              <a:t xml:space="preserve">AdamW, LR 2e−5</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Weight decay 0,01</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Warmup 10 %</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Batch 32, AMP FP16</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PLM : 3 époques max.</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Patience 2, longueur 64</a:t>
            </a:r>
            <a:endParaRPr lang="fr-FR" sz="1725"/>
          </a:p>
        </p:txBody>
      </p:sp>
      <p:sp>
        <p:nvSpPr>
          <p:cNvPr id="8" name="rect-8"/>
          <p:cNvSpPr txBox="1"/>
          <p:nvPr/>
        </p:nvSpPr>
        <p:spPr>
          <a:xfrm>
            <a:off x="552450" y="5810250"/>
            <a:ext cx="11087100" cy="542925"/>
          </a:xfrm>
          <a:prstGeom prst="rect">
            <a:avLst/>
          </a:prstGeom>
          <a:solidFill>
            <a:srgbClr val="DDE7D6"/>
          </a:solidFill>
          <a:ln>
            <a:noFill/>
          </a:ln>
        </p:spPr>
      </p:sp>
      <p:sp>
        <p:nvSpPr>
          <p:cNvPr id="9" name="text-9"/>
          <p:cNvSpPr txBox="1"/>
          <p:nvPr/>
        </p:nvSpPr>
        <p:spPr>
          <a:xfrm>
            <a:off x="723900" y="5857875"/>
            <a:ext cx="10715625" cy="476250"/>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285D4B"/>
                </a:solidFill>
                <a:latin typeface="Segoe UI"/>
                <a:ea typeface="Segoe UI"/>
                <a:cs typeface="Tahoma"/>
              </a:rPr>
              <a:t xml:space="preserve">Le meilleur checkpoint précède parfois la dernière époque. Les sorties historiques ne sont pas des résultats à cinq époques.</a:t>
            </a:r>
            <a:endParaRPr lang="fr-FR" sz="1350"/>
          </a:p>
        </p:txBody>
      </p:sp>
      <p:cxnSp>
        <p:nvCxnSpPr>
          <p:cNvPr id="10" name="line-10"/>
          <p:cNvCxnSpPr/>
          <p:nvPr/>
        </p:nvCxnSpPr>
        <p:spPr>
          <a:xfrm>
            <a:off x="552450" y="6505575"/>
            <a:ext cx="11087100" cy="0"/>
          </a:xfrm>
          <a:prstGeom prst="line">
            <a:avLst/>
          </a:prstGeom>
          <a:ln w="9525">
            <a:solidFill>
              <a:srgbClr val="D4DBCE"/>
            </a:solidFill>
          </a:ln>
        </p:spPr>
      </p:cxnSp>
      <p:sp>
        <p:nvSpPr>
          <p:cNvPr id="11" name="text-11"/>
          <p:cNvSpPr txBox="1"/>
          <p:nvPr/>
        </p:nvSpPr>
        <p:spPr>
          <a:xfrm>
            <a:off x="552450" y="6572250"/>
            <a:ext cx="8572500" cy="219075"/>
          </a:xfrm>
          <a:prstGeom prst="rect">
            <a:avLst/>
          </a:prstGeom>
          <a:noFill/>
          <a:ln>
            <a:noFill/>
          </a:ln>
        </p:spPr>
        <p:txBody>
          <a:bodyPr wrap="none" lIns="0" tIns="0" rIns="0" bIns="0" anchor="t"/>
          <a:lstStyle/>
          <a:p>
            <a:pPr algn="l">
              <a:lnSpc>
                <a:spcPts val="1125"/>
              </a:lnSpc>
              <a:spcBef>
                <a:spcPts val="0"/>
              </a:spcBef>
              <a:spcAft>
                <a:spcPts val="0"/>
              </a:spcAft>
            </a:pPr>
            <a:r>
              <a:rPr lang="fr-FR" sz="900" b="0">
                <a:solidFill>
                  <a:srgbClr val="64736B"/>
                </a:solidFill>
                <a:latin typeface="Segoe UI"/>
                <a:ea typeface="Segoe UI"/>
                <a:cs typeface="Tahoma"/>
              </a:rPr>
              <a:t xml:space="preserve">LMA3NA · Omar Elkhali · BDIOT</a:t>
            </a:r>
            <a:endParaRPr lang="fr-FR" sz="900"/>
          </a:p>
        </p:txBody>
      </p:sp>
      <p:sp>
        <p:nvSpPr>
          <p:cNvPr id="12" name="text-12"/>
          <p:cNvSpPr txBox="1"/>
          <p:nvPr/>
        </p:nvSpPr>
        <p:spPr>
          <a:xfrm>
            <a:off x="10763250" y="6572250"/>
            <a:ext cx="876300" cy="219075"/>
          </a:xfrm>
          <a:prstGeom prst="rect">
            <a:avLst/>
          </a:prstGeom>
          <a:noFill/>
          <a:ln>
            <a:noFill/>
          </a:ln>
        </p:spPr>
        <p:txBody>
          <a:bodyPr wrap="none" lIns="0" tIns="0" rIns="0" bIns="0" anchor="t"/>
          <a:lstStyle/>
          <a:p>
            <a:pPr algn="r">
              <a:lnSpc>
                <a:spcPts val="1125"/>
              </a:lnSpc>
              <a:spcBef>
                <a:spcPts val="0"/>
              </a:spcBef>
              <a:spcAft>
                <a:spcPts val="0"/>
              </a:spcAft>
            </a:pPr>
            <a:r>
              <a:rPr lang="fr-FR" sz="900" b="0">
                <a:solidFill>
                  <a:srgbClr val="64736B"/>
                </a:solidFill>
                <a:latin typeface="Segoe UI"/>
                <a:ea typeface="Segoe UI"/>
                <a:cs typeface="Tahoma"/>
              </a:rPr>
              <a:t xml:space="preserve">17 / 38</a:t>
            </a:r>
            <a:endParaRPr lang="fr-FR" sz="900"/>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5F4EE"/>
        </a:solidFill>
        <a:effectLst/>
      </p:bgPr>
    </p:bg>
    <p:spTree>
      <p:nvGrpSpPr>
        <p:cNvPr id="1" name=""/>
        <p:cNvGrpSpPr/>
        <p:nvPr/>
      </p:nvGrpSpPr>
      <p:grpSpPr>
        <a:xfrm>
          <a:off x="0" y="0"/>
          <a:ext cx="0" cy="0"/>
          <a:chOff x="0" y="0"/>
          <a:chExt cx="0" cy="0"/>
        </a:xfrm>
      </p:grpSpPr>
      <p:sp>
        <p:nvSpPr>
          <p:cNvPr id="2" name="rect-2"/>
          <p:cNvSpPr txBox="1"/>
          <p:nvPr/>
        </p:nvSpPr>
        <p:spPr>
          <a:xfrm>
            <a:off x="552450" y="361950"/>
            <a:ext cx="400050" cy="38100"/>
          </a:xfrm>
          <a:prstGeom prst="rect">
            <a:avLst/>
          </a:prstGeom>
          <a:solidFill>
            <a:srgbClr val="E6A477"/>
          </a:solidFill>
          <a:ln>
            <a:noFill/>
          </a:ln>
        </p:spPr>
      </p:sp>
      <p:sp>
        <p:nvSpPr>
          <p:cNvPr id="3" name="text-3"/>
          <p:cNvSpPr txBox="1"/>
          <p:nvPr/>
        </p:nvSpPr>
        <p:spPr>
          <a:xfrm>
            <a:off x="1066800" y="276225"/>
            <a:ext cx="10287000" cy="266700"/>
          </a:xfrm>
          <a:prstGeom prst="rect">
            <a:avLst/>
          </a:prstGeom>
          <a:noFill/>
          <a:ln>
            <a:noFill/>
          </a:ln>
        </p:spPr>
        <p:txBody>
          <a:bodyPr wrap="none" lIns="0" tIns="0" rIns="0" bIns="0" anchor="t"/>
          <a:lstStyle/>
          <a:p>
            <a:pPr algn="l">
              <a:lnSpc>
                <a:spcPts val="1406"/>
              </a:lnSpc>
              <a:spcBef>
                <a:spcPts val="0"/>
              </a:spcBef>
              <a:spcAft>
                <a:spcPts val="0"/>
              </a:spcAft>
            </a:pPr>
            <a:r>
              <a:rPr lang="fr-FR" sz="1125" b="1">
                <a:solidFill>
                  <a:srgbClr val="285D4B"/>
                </a:solidFill>
                <a:latin typeface="Segoe UI"/>
                <a:ea typeface="Segoe UI"/>
                <a:cs typeface="Tahoma"/>
              </a:rPr>
              <a:t xml:space="preserve">05 · RÉSULTATS FINAUX</a:t>
            </a:r>
            <a:endParaRPr lang="fr-FR" sz="1125"/>
          </a:p>
        </p:txBody>
      </p:sp>
      <p:sp>
        <p:nvSpPr>
          <p:cNvPr id="4" name="text-4"/>
          <p:cNvSpPr txBox="1"/>
          <p:nvPr/>
        </p:nvSpPr>
        <p:spPr>
          <a:xfrm>
            <a:off x="552450" y="790575"/>
            <a:ext cx="11087100" cy="1066800"/>
          </a:xfrm>
          <a:prstGeom prst="rect">
            <a:avLst/>
          </a:prstGeom>
          <a:noFill/>
          <a:ln>
            <a:noFill/>
          </a:ln>
        </p:spPr>
        <p:txBody>
          <a:bodyPr wrap="none" lIns="0" tIns="0" rIns="0" bIns="0" anchor="t"/>
          <a:lstStyle/>
          <a:p>
            <a:pPr algn="l">
              <a:lnSpc>
                <a:spcPts val="4031"/>
              </a:lnSpc>
              <a:spcBef>
                <a:spcPts val="0"/>
              </a:spcBef>
              <a:spcAft>
                <a:spcPts val="0"/>
              </a:spcAft>
            </a:pPr>
            <a:r>
              <a:rPr lang="fr-FR" sz="3225" b="1">
                <a:solidFill>
                  <a:srgbClr val="203A32"/>
                </a:solidFill>
                <a:latin typeface="Segoe UI"/>
                <a:ea typeface="Segoe UI"/>
                <a:cs typeface="Tahoma"/>
              </a:rPr>
              <a:t xml:space="preserve">E1 et E2 obtiennent presque le même F1 test moyen</a:t>
            </a:r>
            <a:endParaRPr lang="fr-FR" sz="3225"/>
          </a:p>
        </p:txBody>
      </p:sp>
      <p:sp>
        <p:nvSpPr>
          <p:cNvPr id="5" name="text-5"/>
          <p:cNvSpPr txBox="1"/>
          <p:nvPr/>
        </p:nvSpPr>
        <p:spPr>
          <a:xfrm>
            <a:off x="552450" y="1971675"/>
            <a:ext cx="762000" cy="361950"/>
          </a:xfrm>
          <a:prstGeom prst="rect">
            <a:avLst/>
          </a:prstGeom>
          <a:noFill/>
          <a:ln>
            <a:noFill/>
          </a:ln>
        </p:spPr>
        <p:txBody>
          <a:bodyPr wrap="none" lIns="0" tIns="0" rIns="0" bIns="0" anchor="t"/>
          <a:lstStyle/>
          <a:p>
            <a:pPr algn="l">
              <a:lnSpc>
                <a:spcPts val="2156"/>
              </a:lnSpc>
              <a:spcBef>
                <a:spcPts val="0"/>
              </a:spcBef>
              <a:spcAft>
                <a:spcPts val="0"/>
              </a:spcAft>
            </a:pPr>
            <a:r>
              <a:rPr lang="fr-FR" sz="1725" b="1">
                <a:solidFill>
                  <a:srgbClr val="203A32"/>
                </a:solidFill>
                <a:latin typeface="Segoe UI"/>
                <a:ea typeface="Segoe UI"/>
                <a:cs typeface="Tahoma"/>
              </a:rPr>
              <a:t xml:space="preserve">E2</a:t>
            </a:r>
            <a:endParaRPr lang="fr-FR" sz="1725"/>
          </a:p>
        </p:txBody>
      </p:sp>
      <p:sp>
        <p:nvSpPr>
          <p:cNvPr id="6" name="rect-6"/>
          <p:cNvSpPr txBox="1"/>
          <p:nvPr/>
        </p:nvSpPr>
        <p:spPr>
          <a:xfrm>
            <a:off x="1466850" y="2000250"/>
            <a:ext cx="7620000" cy="257175"/>
          </a:xfrm>
          <a:prstGeom prst="rect">
            <a:avLst/>
          </a:prstGeom>
          <a:solidFill>
            <a:srgbClr val="E6EAE1"/>
          </a:solidFill>
          <a:ln>
            <a:noFill/>
          </a:ln>
        </p:spPr>
      </p:sp>
      <p:sp>
        <p:nvSpPr>
          <p:cNvPr id="7" name="rect-7"/>
          <p:cNvSpPr txBox="1"/>
          <p:nvPr/>
        </p:nvSpPr>
        <p:spPr>
          <a:xfrm>
            <a:off x="1466850" y="2000250"/>
            <a:ext cx="4645152" cy="257175"/>
          </a:xfrm>
          <a:prstGeom prst="rect">
            <a:avLst/>
          </a:prstGeom>
          <a:solidFill>
            <a:srgbClr val="E6A477"/>
          </a:solidFill>
          <a:ln>
            <a:noFill/>
          </a:ln>
        </p:spPr>
      </p:sp>
      <p:sp>
        <p:nvSpPr>
          <p:cNvPr id="8" name="text-8"/>
          <p:cNvSpPr txBox="1"/>
          <p:nvPr/>
        </p:nvSpPr>
        <p:spPr>
          <a:xfrm>
            <a:off x="9334500" y="1952625"/>
            <a:ext cx="2286000" cy="371475"/>
          </a:xfrm>
          <a:prstGeom prst="rect">
            <a:avLst/>
          </a:prstGeom>
          <a:noFill/>
          <a:ln>
            <a:noFill/>
          </a:ln>
        </p:spPr>
        <p:txBody>
          <a:bodyPr wrap="none" lIns="0" tIns="0" rIns="0" bIns="0" anchor="t"/>
          <a:lstStyle/>
          <a:p>
            <a:pPr algn="l">
              <a:lnSpc>
                <a:spcPts val="2344"/>
              </a:lnSpc>
              <a:spcBef>
                <a:spcPts val="0"/>
              </a:spcBef>
              <a:spcAft>
                <a:spcPts val="0"/>
              </a:spcAft>
            </a:pPr>
            <a:r>
              <a:rPr lang="fr-FR" sz="1875" b="1">
                <a:solidFill>
                  <a:srgbClr val="203A32"/>
                </a:solidFill>
                <a:latin typeface="Segoe UI"/>
                <a:ea typeface="Segoe UI"/>
                <a:cs typeface="Tahoma"/>
              </a:rPr>
              <a:t xml:space="preserve">60,96 %</a:t>
            </a:r>
            <a:endParaRPr lang="fr-FR" sz="1875"/>
          </a:p>
        </p:txBody>
      </p:sp>
      <p:sp>
        <p:nvSpPr>
          <p:cNvPr id="9" name="text-9"/>
          <p:cNvSpPr txBox="1"/>
          <p:nvPr/>
        </p:nvSpPr>
        <p:spPr>
          <a:xfrm>
            <a:off x="552450" y="2457450"/>
            <a:ext cx="762000" cy="361950"/>
          </a:xfrm>
          <a:prstGeom prst="rect">
            <a:avLst/>
          </a:prstGeom>
          <a:noFill/>
          <a:ln>
            <a:noFill/>
          </a:ln>
        </p:spPr>
        <p:txBody>
          <a:bodyPr wrap="none" lIns="0" tIns="0" rIns="0" bIns="0" anchor="t"/>
          <a:lstStyle/>
          <a:p>
            <a:pPr algn="l">
              <a:lnSpc>
                <a:spcPts val="2156"/>
              </a:lnSpc>
              <a:spcBef>
                <a:spcPts val="0"/>
              </a:spcBef>
              <a:spcAft>
                <a:spcPts val="0"/>
              </a:spcAft>
            </a:pPr>
            <a:r>
              <a:rPr lang="fr-FR" sz="1725" b="1">
                <a:solidFill>
                  <a:srgbClr val="203A32"/>
                </a:solidFill>
                <a:latin typeface="Segoe UI"/>
                <a:ea typeface="Segoe UI"/>
                <a:cs typeface="Tahoma"/>
              </a:rPr>
              <a:t xml:space="preserve">E1</a:t>
            </a:r>
            <a:endParaRPr lang="fr-FR" sz="1725"/>
          </a:p>
        </p:txBody>
      </p:sp>
      <p:sp>
        <p:nvSpPr>
          <p:cNvPr id="10" name="rect-10"/>
          <p:cNvSpPr txBox="1"/>
          <p:nvPr/>
        </p:nvSpPr>
        <p:spPr>
          <a:xfrm>
            <a:off x="1466850" y="2486025"/>
            <a:ext cx="7620000" cy="257175"/>
          </a:xfrm>
          <a:prstGeom prst="rect">
            <a:avLst/>
          </a:prstGeom>
          <a:solidFill>
            <a:srgbClr val="E6EAE1"/>
          </a:solidFill>
          <a:ln>
            <a:noFill/>
          </a:ln>
        </p:spPr>
      </p:sp>
      <p:sp>
        <p:nvSpPr>
          <p:cNvPr id="11" name="rect-11"/>
          <p:cNvSpPr txBox="1"/>
          <p:nvPr/>
        </p:nvSpPr>
        <p:spPr>
          <a:xfrm>
            <a:off x="1466850" y="2486025"/>
            <a:ext cx="4642866" cy="257175"/>
          </a:xfrm>
          <a:prstGeom prst="rect">
            <a:avLst/>
          </a:prstGeom>
          <a:solidFill>
            <a:srgbClr val="285D4B"/>
          </a:solidFill>
          <a:ln>
            <a:noFill/>
          </a:ln>
        </p:spPr>
      </p:sp>
      <p:sp>
        <p:nvSpPr>
          <p:cNvPr id="12" name="text-12"/>
          <p:cNvSpPr txBox="1"/>
          <p:nvPr/>
        </p:nvSpPr>
        <p:spPr>
          <a:xfrm>
            <a:off x="9334500" y="2438400"/>
            <a:ext cx="2286000" cy="371475"/>
          </a:xfrm>
          <a:prstGeom prst="rect">
            <a:avLst/>
          </a:prstGeom>
          <a:noFill/>
          <a:ln>
            <a:noFill/>
          </a:ln>
        </p:spPr>
        <p:txBody>
          <a:bodyPr wrap="none" lIns="0" tIns="0" rIns="0" bIns="0" anchor="t"/>
          <a:lstStyle/>
          <a:p>
            <a:pPr algn="l">
              <a:lnSpc>
                <a:spcPts val="2344"/>
              </a:lnSpc>
              <a:spcBef>
                <a:spcPts val="0"/>
              </a:spcBef>
              <a:spcAft>
                <a:spcPts val="0"/>
              </a:spcAft>
            </a:pPr>
            <a:r>
              <a:rPr lang="fr-FR" sz="1875" b="1">
                <a:solidFill>
                  <a:srgbClr val="203A32"/>
                </a:solidFill>
                <a:latin typeface="Segoe UI"/>
                <a:ea typeface="Segoe UI"/>
                <a:cs typeface="Tahoma"/>
              </a:rPr>
              <a:t xml:space="preserve">60,93 %</a:t>
            </a:r>
            <a:endParaRPr lang="fr-FR" sz="1875"/>
          </a:p>
        </p:txBody>
      </p:sp>
      <p:sp>
        <p:nvSpPr>
          <p:cNvPr id="13" name="text-13"/>
          <p:cNvSpPr txBox="1"/>
          <p:nvPr/>
        </p:nvSpPr>
        <p:spPr>
          <a:xfrm>
            <a:off x="552450" y="2943225"/>
            <a:ext cx="762000" cy="361950"/>
          </a:xfrm>
          <a:prstGeom prst="rect">
            <a:avLst/>
          </a:prstGeom>
          <a:noFill/>
          <a:ln>
            <a:noFill/>
          </a:ln>
        </p:spPr>
        <p:txBody>
          <a:bodyPr wrap="none" lIns="0" tIns="0" rIns="0" bIns="0" anchor="t"/>
          <a:lstStyle/>
          <a:p>
            <a:pPr algn="l">
              <a:lnSpc>
                <a:spcPts val="2156"/>
              </a:lnSpc>
              <a:spcBef>
                <a:spcPts val="0"/>
              </a:spcBef>
              <a:spcAft>
                <a:spcPts val="0"/>
              </a:spcAft>
            </a:pPr>
            <a:r>
              <a:rPr lang="fr-FR" sz="1725" b="1">
                <a:solidFill>
                  <a:srgbClr val="203A32"/>
                </a:solidFill>
                <a:latin typeface="Segoe UI"/>
                <a:ea typeface="Segoe UI"/>
                <a:cs typeface="Tahoma"/>
              </a:rPr>
              <a:t xml:space="preserve">D</a:t>
            </a:r>
            <a:endParaRPr lang="fr-FR" sz="1725"/>
          </a:p>
        </p:txBody>
      </p:sp>
      <p:sp>
        <p:nvSpPr>
          <p:cNvPr id="14" name="rect-14"/>
          <p:cNvSpPr txBox="1"/>
          <p:nvPr/>
        </p:nvSpPr>
        <p:spPr>
          <a:xfrm>
            <a:off x="1466850" y="2971800"/>
            <a:ext cx="7620000" cy="257175"/>
          </a:xfrm>
          <a:prstGeom prst="rect">
            <a:avLst/>
          </a:prstGeom>
          <a:solidFill>
            <a:srgbClr val="E6EAE1"/>
          </a:solidFill>
          <a:ln>
            <a:noFill/>
          </a:ln>
        </p:spPr>
      </p:sp>
      <p:sp>
        <p:nvSpPr>
          <p:cNvPr id="15" name="rect-15"/>
          <p:cNvSpPr txBox="1"/>
          <p:nvPr/>
        </p:nvSpPr>
        <p:spPr>
          <a:xfrm>
            <a:off x="1466850" y="2971800"/>
            <a:ext cx="4520946" cy="257175"/>
          </a:xfrm>
          <a:prstGeom prst="rect">
            <a:avLst/>
          </a:prstGeom>
          <a:solidFill>
            <a:srgbClr val="285D4B"/>
          </a:solidFill>
          <a:ln>
            <a:noFill/>
          </a:ln>
        </p:spPr>
      </p:sp>
      <p:sp>
        <p:nvSpPr>
          <p:cNvPr id="16" name="text-16"/>
          <p:cNvSpPr txBox="1"/>
          <p:nvPr/>
        </p:nvSpPr>
        <p:spPr>
          <a:xfrm>
            <a:off x="9334500" y="2924175"/>
            <a:ext cx="2286000" cy="371475"/>
          </a:xfrm>
          <a:prstGeom prst="rect">
            <a:avLst/>
          </a:prstGeom>
          <a:noFill/>
          <a:ln>
            <a:noFill/>
          </a:ln>
        </p:spPr>
        <p:txBody>
          <a:bodyPr wrap="none" lIns="0" tIns="0" rIns="0" bIns="0" anchor="t"/>
          <a:lstStyle/>
          <a:p>
            <a:pPr algn="l">
              <a:lnSpc>
                <a:spcPts val="2344"/>
              </a:lnSpc>
              <a:spcBef>
                <a:spcPts val="0"/>
              </a:spcBef>
              <a:spcAft>
                <a:spcPts val="0"/>
              </a:spcAft>
            </a:pPr>
            <a:r>
              <a:rPr lang="fr-FR" sz="1875" b="1">
                <a:solidFill>
                  <a:srgbClr val="203A32"/>
                </a:solidFill>
                <a:latin typeface="Segoe UI"/>
                <a:ea typeface="Segoe UI"/>
                <a:cs typeface="Tahoma"/>
              </a:rPr>
              <a:t xml:space="preserve">59,33 %</a:t>
            </a:r>
            <a:endParaRPr lang="fr-FR" sz="1875"/>
          </a:p>
        </p:txBody>
      </p:sp>
      <p:sp>
        <p:nvSpPr>
          <p:cNvPr id="17" name="text-17"/>
          <p:cNvSpPr txBox="1"/>
          <p:nvPr/>
        </p:nvSpPr>
        <p:spPr>
          <a:xfrm>
            <a:off x="552450" y="3429000"/>
            <a:ext cx="762000" cy="361950"/>
          </a:xfrm>
          <a:prstGeom prst="rect">
            <a:avLst/>
          </a:prstGeom>
          <a:noFill/>
          <a:ln>
            <a:noFill/>
          </a:ln>
        </p:spPr>
        <p:txBody>
          <a:bodyPr wrap="none" lIns="0" tIns="0" rIns="0" bIns="0" anchor="t"/>
          <a:lstStyle/>
          <a:p>
            <a:pPr algn="l">
              <a:lnSpc>
                <a:spcPts val="2156"/>
              </a:lnSpc>
              <a:spcBef>
                <a:spcPts val="0"/>
              </a:spcBef>
              <a:spcAft>
                <a:spcPts val="0"/>
              </a:spcAft>
            </a:pPr>
            <a:r>
              <a:rPr lang="fr-FR" sz="1725" b="1">
                <a:solidFill>
                  <a:srgbClr val="203A32"/>
                </a:solidFill>
                <a:latin typeface="Segoe UI"/>
                <a:ea typeface="Segoe UI"/>
                <a:cs typeface="Tahoma"/>
              </a:rPr>
              <a:t xml:space="preserve">C</a:t>
            </a:r>
            <a:endParaRPr lang="fr-FR" sz="1725"/>
          </a:p>
        </p:txBody>
      </p:sp>
      <p:sp>
        <p:nvSpPr>
          <p:cNvPr id="18" name="rect-18"/>
          <p:cNvSpPr txBox="1"/>
          <p:nvPr/>
        </p:nvSpPr>
        <p:spPr>
          <a:xfrm>
            <a:off x="1466850" y="3457575"/>
            <a:ext cx="7620000" cy="257175"/>
          </a:xfrm>
          <a:prstGeom prst="rect">
            <a:avLst/>
          </a:prstGeom>
          <a:solidFill>
            <a:srgbClr val="E6EAE1"/>
          </a:solidFill>
          <a:ln>
            <a:noFill/>
          </a:ln>
        </p:spPr>
      </p:sp>
      <p:sp>
        <p:nvSpPr>
          <p:cNvPr id="19" name="rect-19"/>
          <p:cNvSpPr txBox="1"/>
          <p:nvPr/>
        </p:nvSpPr>
        <p:spPr>
          <a:xfrm>
            <a:off x="1466850" y="3457575"/>
            <a:ext cx="4116324" cy="257175"/>
          </a:xfrm>
          <a:prstGeom prst="rect">
            <a:avLst/>
          </a:prstGeom>
          <a:solidFill>
            <a:srgbClr val="285D4B"/>
          </a:solidFill>
          <a:ln>
            <a:noFill/>
          </a:ln>
        </p:spPr>
      </p:sp>
      <p:sp>
        <p:nvSpPr>
          <p:cNvPr id="20" name="text-20"/>
          <p:cNvSpPr txBox="1"/>
          <p:nvPr/>
        </p:nvSpPr>
        <p:spPr>
          <a:xfrm>
            <a:off x="9334500" y="3409950"/>
            <a:ext cx="2286000" cy="371475"/>
          </a:xfrm>
          <a:prstGeom prst="rect">
            <a:avLst/>
          </a:prstGeom>
          <a:noFill/>
          <a:ln>
            <a:noFill/>
          </a:ln>
        </p:spPr>
        <p:txBody>
          <a:bodyPr wrap="none" lIns="0" tIns="0" rIns="0" bIns="0" anchor="t"/>
          <a:lstStyle/>
          <a:p>
            <a:pPr algn="l">
              <a:lnSpc>
                <a:spcPts val="2344"/>
              </a:lnSpc>
              <a:spcBef>
                <a:spcPts val="0"/>
              </a:spcBef>
              <a:spcAft>
                <a:spcPts val="0"/>
              </a:spcAft>
            </a:pPr>
            <a:r>
              <a:rPr lang="fr-FR" sz="1875" b="1">
                <a:solidFill>
                  <a:srgbClr val="203A32"/>
                </a:solidFill>
                <a:latin typeface="Segoe UI"/>
                <a:ea typeface="Segoe UI"/>
                <a:cs typeface="Tahoma"/>
              </a:rPr>
              <a:t xml:space="preserve">54,02 %</a:t>
            </a:r>
            <a:endParaRPr lang="fr-FR" sz="1875"/>
          </a:p>
        </p:txBody>
      </p:sp>
      <p:sp>
        <p:nvSpPr>
          <p:cNvPr id="21" name="text-21"/>
          <p:cNvSpPr txBox="1"/>
          <p:nvPr/>
        </p:nvSpPr>
        <p:spPr>
          <a:xfrm>
            <a:off x="552450" y="3914775"/>
            <a:ext cx="762000" cy="361950"/>
          </a:xfrm>
          <a:prstGeom prst="rect">
            <a:avLst/>
          </a:prstGeom>
          <a:noFill/>
          <a:ln>
            <a:noFill/>
          </a:ln>
        </p:spPr>
        <p:txBody>
          <a:bodyPr wrap="none" lIns="0" tIns="0" rIns="0" bIns="0" anchor="t"/>
          <a:lstStyle/>
          <a:p>
            <a:pPr algn="l">
              <a:lnSpc>
                <a:spcPts val="2156"/>
              </a:lnSpc>
              <a:spcBef>
                <a:spcPts val="0"/>
              </a:spcBef>
              <a:spcAft>
                <a:spcPts val="0"/>
              </a:spcAft>
            </a:pPr>
            <a:r>
              <a:rPr lang="fr-FR" sz="1725" b="1">
                <a:solidFill>
                  <a:srgbClr val="203A32"/>
                </a:solidFill>
                <a:latin typeface="Segoe UI"/>
                <a:ea typeface="Segoe UI"/>
                <a:cs typeface="Tahoma"/>
              </a:rPr>
              <a:t xml:space="preserve">A</a:t>
            </a:r>
            <a:endParaRPr lang="fr-FR" sz="1725"/>
          </a:p>
        </p:txBody>
      </p:sp>
      <p:sp>
        <p:nvSpPr>
          <p:cNvPr id="22" name="rect-22"/>
          <p:cNvSpPr txBox="1"/>
          <p:nvPr/>
        </p:nvSpPr>
        <p:spPr>
          <a:xfrm>
            <a:off x="1466850" y="3943350"/>
            <a:ext cx="7620000" cy="257175"/>
          </a:xfrm>
          <a:prstGeom prst="rect">
            <a:avLst/>
          </a:prstGeom>
          <a:solidFill>
            <a:srgbClr val="E6EAE1"/>
          </a:solidFill>
          <a:ln>
            <a:noFill/>
          </a:ln>
        </p:spPr>
      </p:sp>
      <p:sp>
        <p:nvSpPr>
          <p:cNvPr id="23" name="rect-23"/>
          <p:cNvSpPr txBox="1"/>
          <p:nvPr/>
        </p:nvSpPr>
        <p:spPr>
          <a:xfrm>
            <a:off x="1466850" y="3943350"/>
            <a:ext cx="4091178" cy="257175"/>
          </a:xfrm>
          <a:prstGeom prst="rect">
            <a:avLst/>
          </a:prstGeom>
          <a:solidFill>
            <a:srgbClr val="285D4B"/>
          </a:solidFill>
          <a:ln>
            <a:noFill/>
          </a:ln>
        </p:spPr>
      </p:sp>
      <p:sp>
        <p:nvSpPr>
          <p:cNvPr id="24" name="text-24"/>
          <p:cNvSpPr txBox="1"/>
          <p:nvPr/>
        </p:nvSpPr>
        <p:spPr>
          <a:xfrm>
            <a:off x="9334500" y="3895725"/>
            <a:ext cx="2286000" cy="371475"/>
          </a:xfrm>
          <a:prstGeom prst="rect">
            <a:avLst/>
          </a:prstGeom>
          <a:noFill/>
          <a:ln>
            <a:noFill/>
          </a:ln>
        </p:spPr>
        <p:txBody>
          <a:bodyPr wrap="none" lIns="0" tIns="0" rIns="0" bIns="0" anchor="t"/>
          <a:lstStyle/>
          <a:p>
            <a:pPr algn="l">
              <a:lnSpc>
                <a:spcPts val="2344"/>
              </a:lnSpc>
              <a:spcBef>
                <a:spcPts val="0"/>
              </a:spcBef>
              <a:spcAft>
                <a:spcPts val="0"/>
              </a:spcAft>
            </a:pPr>
            <a:r>
              <a:rPr lang="fr-FR" sz="1875" b="1">
                <a:solidFill>
                  <a:srgbClr val="203A32"/>
                </a:solidFill>
                <a:latin typeface="Segoe UI"/>
                <a:ea typeface="Segoe UI"/>
                <a:cs typeface="Tahoma"/>
              </a:rPr>
              <a:t xml:space="preserve">53,69 %</a:t>
            </a:r>
            <a:endParaRPr lang="fr-FR" sz="1875"/>
          </a:p>
        </p:txBody>
      </p:sp>
      <p:sp>
        <p:nvSpPr>
          <p:cNvPr id="25" name="text-25"/>
          <p:cNvSpPr txBox="1"/>
          <p:nvPr/>
        </p:nvSpPr>
        <p:spPr>
          <a:xfrm>
            <a:off x="552450" y="4400550"/>
            <a:ext cx="762000" cy="361950"/>
          </a:xfrm>
          <a:prstGeom prst="rect">
            <a:avLst/>
          </a:prstGeom>
          <a:noFill/>
          <a:ln>
            <a:noFill/>
          </a:ln>
        </p:spPr>
        <p:txBody>
          <a:bodyPr wrap="none" lIns="0" tIns="0" rIns="0" bIns="0" anchor="t"/>
          <a:lstStyle/>
          <a:p>
            <a:pPr algn="l">
              <a:lnSpc>
                <a:spcPts val="2156"/>
              </a:lnSpc>
              <a:spcBef>
                <a:spcPts val="0"/>
              </a:spcBef>
              <a:spcAft>
                <a:spcPts val="0"/>
              </a:spcAft>
            </a:pPr>
            <a:r>
              <a:rPr lang="fr-FR" sz="1725" b="1">
                <a:solidFill>
                  <a:srgbClr val="203A32"/>
                </a:solidFill>
                <a:latin typeface="Segoe UI"/>
                <a:ea typeface="Segoe UI"/>
                <a:cs typeface="Tahoma"/>
              </a:rPr>
              <a:t xml:space="preserve">B2</a:t>
            </a:r>
            <a:endParaRPr lang="fr-FR" sz="1725"/>
          </a:p>
        </p:txBody>
      </p:sp>
      <p:sp>
        <p:nvSpPr>
          <p:cNvPr id="26" name="rect-26"/>
          <p:cNvSpPr txBox="1"/>
          <p:nvPr/>
        </p:nvSpPr>
        <p:spPr>
          <a:xfrm>
            <a:off x="1466850" y="4429125"/>
            <a:ext cx="7620000" cy="257175"/>
          </a:xfrm>
          <a:prstGeom prst="rect">
            <a:avLst/>
          </a:prstGeom>
          <a:solidFill>
            <a:srgbClr val="E6EAE1"/>
          </a:solidFill>
          <a:ln>
            <a:noFill/>
          </a:ln>
        </p:spPr>
      </p:sp>
      <p:sp>
        <p:nvSpPr>
          <p:cNvPr id="27" name="rect-27"/>
          <p:cNvSpPr txBox="1"/>
          <p:nvPr/>
        </p:nvSpPr>
        <p:spPr>
          <a:xfrm>
            <a:off x="1466850" y="4429125"/>
            <a:ext cx="4053840" cy="257175"/>
          </a:xfrm>
          <a:prstGeom prst="rect">
            <a:avLst/>
          </a:prstGeom>
          <a:solidFill>
            <a:srgbClr val="285D4B"/>
          </a:solidFill>
          <a:ln>
            <a:noFill/>
          </a:ln>
        </p:spPr>
      </p:sp>
      <p:sp>
        <p:nvSpPr>
          <p:cNvPr id="28" name="text-28"/>
          <p:cNvSpPr txBox="1"/>
          <p:nvPr/>
        </p:nvSpPr>
        <p:spPr>
          <a:xfrm>
            <a:off x="9334500" y="4381500"/>
            <a:ext cx="2286000" cy="371475"/>
          </a:xfrm>
          <a:prstGeom prst="rect">
            <a:avLst/>
          </a:prstGeom>
          <a:noFill/>
          <a:ln>
            <a:noFill/>
          </a:ln>
        </p:spPr>
        <p:txBody>
          <a:bodyPr wrap="none" lIns="0" tIns="0" rIns="0" bIns="0" anchor="t"/>
          <a:lstStyle/>
          <a:p>
            <a:pPr algn="l">
              <a:lnSpc>
                <a:spcPts val="2344"/>
              </a:lnSpc>
              <a:spcBef>
                <a:spcPts val="0"/>
              </a:spcBef>
              <a:spcAft>
                <a:spcPts val="0"/>
              </a:spcAft>
            </a:pPr>
            <a:r>
              <a:rPr lang="fr-FR" sz="1875" b="1">
                <a:solidFill>
                  <a:srgbClr val="203A32"/>
                </a:solidFill>
                <a:latin typeface="Segoe UI"/>
                <a:ea typeface="Segoe UI"/>
                <a:cs typeface="Tahoma"/>
              </a:rPr>
              <a:t xml:space="preserve">53,20 %</a:t>
            </a:r>
            <a:endParaRPr lang="fr-FR" sz="1875"/>
          </a:p>
        </p:txBody>
      </p:sp>
      <p:sp>
        <p:nvSpPr>
          <p:cNvPr id="29" name="text-29"/>
          <p:cNvSpPr txBox="1"/>
          <p:nvPr/>
        </p:nvSpPr>
        <p:spPr>
          <a:xfrm>
            <a:off x="552450" y="4886325"/>
            <a:ext cx="762000" cy="361950"/>
          </a:xfrm>
          <a:prstGeom prst="rect">
            <a:avLst/>
          </a:prstGeom>
          <a:noFill/>
          <a:ln>
            <a:noFill/>
          </a:ln>
        </p:spPr>
        <p:txBody>
          <a:bodyPr wrap="none" lIns="0" tIns="0" rIns="0" bIns="0" anchor="t"/>
          <a:lstStyle/>
          <a:p>
            <a:pPr algn="l">
              <a:lnSpc>
                <a:spcPts val="2156"/>
              </a:lnSpc>
              <a:spcBef>
                <a:spcPts val="0"/>
              </a:spcBef>
              <a:spcAft>
                <a:spcPts val="0"/>
              </a:spcAft>
            </a:pPr>
            <a:r>
              <a:rPr lang="fr-FR" sz="1725" b="1">
                <a:solidFill>
                  <a:srgbClr val="203A32"/>
                </a:solidFill>
                <a:latin typeface="Segoe UI"/>
                <a:ea typeface="Segoe UI"/>
                <a:cs typeface="Tahoma"/>
              </a:rPr>
              <a:t xml:space="preserve">B1</a:t>
            </a:r>
            <a:endParaRPr lang="fr-FR" sz="1725"/>
          </a:p>
        </p:txBody>
      </p:sp>
      <p:sp>
        <p:nvSpPr>
          <p:cNvPr id="30" name="rect-30"/>
          <p:cNvSpPr txBox="1"/>
          <p:nvPr/>
        </p:nvSpPr>
        <p:spPr>
          <a:xfrm>
            <a:off x="1466850" y="4914900"/>
            <a:ext cx="7620000" cy="257175"/>
          </a:xfrm>
          <a:prstGeom prst="rect">
            <a:avLst/>
          </a:prstGeom>
          <a:solidFill>
            <a:srgbClr val="E6EAE1"/>
          </a:solidFill>
          <a:ln>
            <a:noFill/>
          </a:ln>
        </p:spPr>
      </p:sp>
      <p:sp>
        <p:nvSpPr>
          <p:cNvPr id="31" name="rect-31"/>
          <p:cNvSpPr txBox="1"/>
          <p:nvPr/>
        </p:nvSpPr>
        <p:spPr>
          <a:xfrm>
            <a:off x="1466850" y="4914900"/>
            <a:ext cx="3524250" cy="257175"/>
          </a:xfrm>
          <a:prstGeom prst="rect">
            <a:avLst/>
          </a:prstGeom>
          <a:solidFill>
            <a:srgbClr val="285D4B"/>
          </a:solidFill>
          <a:ln>
            <a:noFill/>
          </a:ln>
        </p:spPr>
      </p:sp>
      <p:sp>
        <p:nvSpPr>
          <p:cNvPr id="32" name="text-32"/>
          <p:cNvSpPr txBox="1"/>
          <p:nvPr/>
        </p:nvSpPr>
        <p:spPr>
          <a:xfrm>
            <a:off x="9334500" y="4867275"/>
            <a:ext cx="2286000" cy="371475"/>
          </a:xfrm>
          <a:prstGeom prst="rect">
            <a:avLst/>
          </a:prstGeom>
          <a:noFill/>
          <a:ln>
            <a:noFill/>
          </a:ln>
        </p:spPr>
        <p:txBody>
          <a:bodyPr wrap="none" lIns="0" tIns="0" rIns="0" bIns="0" anchor="t"/>
          <a:lstStyle/>
          <a:p>
            <a:pPr algn="l">
              <a:lnSpc>
                <a:spcPts val="2344"/>
              </a:lnSpc>
              <a:spcBef>
                <a:spcPts val="0"/>
              </a:spcBef>
              <a:spcAft>
                <a:spcPts val="0"/>
              </a:spcAft>
            </a:pPr>
            <a:r>
              <a:rPr lang="fr-FR" sz="1875" b="1">
                <a:solidFill>
                  <a:srgbClr val="203A32"/>
                </a:solidFill>
                <a:latin typeface="Segoe UI"/>
                <a:ea typeface="Segoe UI"/>
                <a:cs typeface="Tahoma"/>
              </a:rPr>
              <a:t xml:space="preserve">46,25 %</a:t>
            </a:r>
            <a:endParaRPr lang="fr-FR" sz="1875"/>
          </a:p>
        </p:txBody>
      </p:sp>
      <p:sp>
        <p:nvSpPr>
          <p:cNvPr id="33" name="rect-33"/>
          <p:cNvSpPr txBox="1"/>
          <p:nvPr/>
        </p:nvSpPr>
        <p:spPr>
          <a:xfrm>
            <a:off x="552450" y="5810250"/>
            <a:ext cx="11087100" cy="542925"/>
          </a:xfrm>
          <a:prstGeom prst="rect">
            <a:avLst/>
          </a:prstGeom>
          <a:solidFill>
            <a:srgbClr val="DDE7D6"/>
          </a:solidFill>
          <a:ln>
            <a:noFill/>
          </a:ln>
        </p:spPr>
      </p:sp>
      <p:sp>
        <p:nvSpPr>
          <p:cNvPr id="34" name="text-34"/>
          <p:cNvSpPr txBox="1"/>
          <p:nvPr/>
        </p:nvSpPr>
        <p:spPr>
          <a:xfrm>
            <a:off x="723900" y="5857875"/>
            <a:ext cx="10715625" cy="476250"/>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285D4B"/>
                </a:solidFill>
                <a:latin typeface="Segoe UI"/>
                <a:ea typeface="Segoe UI"/>
                <a:cs typeface="Tahoma"/>
              </a:rPr>
              <a:t xml:space="preserve">E2 : 0,6096 ± 0,0131 ; E1 : 0,6093 ± 0,0221. Cet écart ne démontre pas un gain net du multi-tâche.</a:t>
            </a:r>
            <a:endParaRPr lang="fr-FR" sz="1350"/>
          </a:p>
        </p:txBody>
      </p:sp>
      <p:cxnSp>
        <p:nvCxnSpPr>
          <p:cNvPr id="35" name="line-35"/>
          <p:cNvCxnSpPr/>
          <p:nvPr/>
        </p:nvCxnSpPr>
        <p:spPr>
          <a:xfrm>
            <a:off x="552450" y="6505575"/>
            <a:ext cx="11087100" cy="0"/>
          </a:xfrm>
          <a:prstGeom prst="line">
            <a:avLst/>
          </a:prstGeom>
          <a:ln w="9525">
            <a:solidFill>
              <a:srgbClr val="D4DBCE"/>
            </a:solidFill>
          </a:ln>
        </p:spPr>
      </p:cxnSp>
      <p:sp>
        <p:nvSpPr>
          <p:cNvPr id="36" name="text-36"/>
          <p:cNvSpPr txBox="1"/>
          <p:nvPr/>
        </p:nvSpPr>
        <p:spPr>
          <a:xfrm>
            <a:off x="552450" y="6572250"/>
            <a:ext cx="8572500" cy="219075"/>
          </a:xfrm>
          <a:prstGeom prst="rect">
            <a:avLst/>
          </a:prstGeom>
          <a:noFill/>
          <a:ln>
            <a:noFill/>
          </a:ln>
        </p:spPr>
        <p:txBody>
          <a:bodyPr wrap="none" lIns="0" tIns="0" rIns="0" bIns="0" anchor="t"/>
          <a:lstStyle/>
          <a:p>
            <a:pPr algn="l">
              <a:lnSpc>
                <a:spcPts val="1125"/>
              </a:lnSpc>
              <a:spcBef>
                <a:spcPts val="0"/>
              </a:spcBef>
              <a:spcAft>
                <a:spcPts val="0"/>
              </a:spcAft>
            </a:pPr>
            <a:r>
              <a:rPr lang="fr-FR" sz="900" b="0">
                <a:solidFill>
                  <a:srgbClr val="64736B"/>
                </a:solidFill>
                <a:latin typeface="Segoe UI"/>
                <a:ea typeface="Segoe UI"/>
                <a:cs typeface="Tahoma"/>
              </a:rPr>
              <a:t xml:space="preserve">LMA3NA · Omar Elkhali · BDIOT</a:t>
            </a:r>
            <a:endParaRPr lang="fr-FR" sz="900"/>
          </a:p>
        </p:txBody>
      </p:sp>
      <p:sp>
        <p:nvSpPr>
          <p:cNvPr id="37" name="text-37"/>
          <p:cNvSpPr txBox="1"/>
          <p:nvPr/>
        </p:nvSpPr>
        <p:spPr>
          <a:xfrm>
            <a:off x="10763250" y="6572250"/>
            <a:ext cx="876300" cy="219075"/>
          </a:xfrm>
          <a:prstGeom prst="rect">
            <a:avLst/>
          </a:prstGeom>
          <a:noFill/>
          <a:ln>
            <a:noFill/>
          </a:ln>
        </p:spPr>
        <p:txBody>
          <a:bodyPr wrap="none" lIns="0" tIns="0" rIns="0" bIns="0" anchor="t"/>
          <a:lstStyle/>
          <a:p>
            <a:pPr algn="r">
              <a:lnSpc>
                <a:spcPts val="1125"/>
              </a:lnSpc>
              <a:spcBef>
                <a:spcPts val="0"/>
              </a:spcBef>
              <a:spcAft>
                <a:spcPts val="0"/>
              </a:spcAft>
            </a:pPr>
            <a:r>
              <a:rPr lang="fr-FR" sz="900" b="0">
                <a:solidFill>
                  <a:srgbClr val="64736B"/>
                </a:solidFill>
                <a:latin typeface="Segoe UI"/>
                <a:ea typeface="Segoe UI"/>
                <a:cs typeface="Tahoma"/>
              </a:rPr>
              <a:t xml:space="preserve">18 / 38</a:t>
            </a:r>
            <a:endParaRPr lang="fr-FR" sz="900"/>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5F4EE"/>
        </a:solidFill>
        <a:effectLst/>
      </p:bgPr>
    </p:bg>
    <p:spTree>
      <p:nvGrpSpPr>
        <p:cNvPr id="1" name=""/>
        <p:cNvGrpSpPr/>
        <p:nvPr/>
      </p:nvGrpSpPr>
      <p:grpSpPr>
        <a:xfrm>
          <a:off x="0" y="0"/>
          <a:ext cx="0" cy="0"/>
          <a:chOff x="0" y="0"/>
          <a:chExt cx="0" cy="0"/>
        </a:xfrm>
      </p:grpSpPr>
      <p:sp>
        <p:nvSpPr>
          <p:cNvPr id="2" name="rect-2"/>
          <p:cNvSpPr txBox="1"/>
          <p:nvPr/>
        </p:nvSpPr>
        <p:spPr>
          <a:xfrm>
            <a:off x="552450" y="361950"/>
            <a:ext cx="400050" cy="38100"/>
          </a:xfrm>
          <a:prstGeom prst="rect">
            <a:avLst/>
          </a:prstGeom>
          <a:solidFill>
            <a:srgbClr val="E6A477"/>
          </a:solidFill>
          <a:ln>
            <a:noFill/>
          </a:ln>
        </p:spPr>
      </p:sp>
      <p:sp>
        <p:nvSpPr>
          <p:cNvPr id="3" name="text-3"/>
          <p:cNvSpPr txBox="1"/>
          <p:nvPr/>
        </p:nvSpPr>
        <p:spPr>
          <a:xfrm>
            <a:off x="1066800" y="276225"/>
            <a:ext cx="10287000" cy="266700"/>
          </a:xfrm>
          <a:prstGeom prst="rect">
            <a:avLst/>
          </a:prstGeom>
          <a:noFill/>
          <a:ln>
            <a:noFill/>
          </a:ln>
        </p:spPr>
        <p:txBody>
          <a:bodyPr wrap="none" lIns="0" tIns="0" rIns="0" bIns="0" anchor="t"/>
          <a:lstStyle/>
          <a:p>
            <a:pPr algn="l">
              <a:lnSpc>
                <a:spcPts val="1406"/>
              </a:lnSpc>
              <a:spcBef>
                <a:spcPts val="0"/>
              </a:spcBef>
              <a:spcAft>
                <a:spcPts val="0"/>
              </a:spcAft>
            </a:pPr>
            <a:r>
              <a:rPr lang="fr-FR" sz="1125" b="1">
                <a:solidFill>
                  <a:srgbClr val="285D4B"/>
                </a:solidFill>
                <a:latin typeface="Segoe UI"/>
                <a:ea typeface="Segoe UI"/>
                <a:cs typeface="Tahoma"/>
              </a:rPr>
              <a:t xml:space="preserve">05 · DÉTAIL DES RUNS</a:t>
            </a:r>
            <a:endParaRPr lang="fr-FR" sz="1125"/>
          </a:p>
        </p:txBody>
      </p:sp>
      <p:sp>
        <p:nvSpPr>
          <p:cNvPr id="4" name="text-4"/>
          <p:cNvSpPr txBox="1"/>
          <p:nvPr/>
        </p:nvSpPr>
        <p:spPr>
          <a:xfrm>
            <a:off x="552450" y="790575"/>
            <a:ext cx="11087100" cy="1066800"/>
          </a:xfrm>
          <a:prstGeom prst="rect">
            <a:avLst/>
          </a:prstGeom>
          <a:noFill/>
          <a:ln>
            <a:noFill/>
          </a:ln>
        </p:spPr>
        <p:txBody>
          <a:bodyPr wrap="none" lIns="0" tIns="0" rIns="0" bIns="0" anchor="t"/>
          <a:lstStyle/>
          <a:p>
            <a:pPr algn="l">
              <a:lnSpc>
                <a:spcPts val="4031"/>
              </a:lnSpc>
              <a:spcBef>
                <a:spcPts val="0"/>
              </a:spcBef>
              <a:spcAft>
                <a:spcPts val="0"/>
              </a:spcAft>
            </a:pPr>
            <a:r>
              <a:rPr lang="fr-FR" sz="3225" b="1">
                <a:solidFill>
                  <a:srgbClr val="203A32"/>
                </a:solidFill>
                <a:latin typeface="Segoe UI"/>
                <a:ea typeface="Segoe UI"/>
                <a:cs typeface="Tahoma"/>
              </a:rPr>
              <a:t xml:space="preserve">Les trois graines rendent la variabilité visible</a:t>
            </a:r>
            <a:endParaRPr lang="fr-FR" sz="3225"/>
          </a:p>
        </p:txBody>
      </p:sp>
      <p:sp>
        <p:nvSpPr>
          <p:cNvPr id="5" name="rect-5"/>
          <p:cNvSpPr txBox="1"/>
          <p:nvPr/>
        </p:nvSpPr>
        <p:spPr>
          <a:xfrm>
            <a:off x="552450" y="1857375"/>
            <a:ext cx="11087100" cy="238125"/>
          </a:xfrm>
          <a:prstGeom prst="rect">
            <a:avLst/>
          </a:prstGeom>
          <a:solidFill>
            <a:srgbClr val="285D4B"/>
          </a:solidFill>
          <a:ln>
            <a:noFill/>
          </a:ln>
        </p:spPr>
      </p:sp>
      <p:sp>
        <p:nvSpPr>
          <p:cNvPr id="6" name="text-6"/>
          <p:cNvSpPr txBox="1"/>
          <p:nvPr/>
        </p:nvSpPr>
        <p:spPr>
          <a:xfrm>
            <a:off x="666750" y="1885950"/>
            <a:ext cx="4003548"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1">
                <a:solidFill>
                  <a:srgbClr val="FFFFFF"/>
                </a:solidFill>
                <a:latin typeface="Segoe UI"/>
                <a:ea typeface="Segoe UI"/>
                <a:cs typeface="Tahoma"/>
              </a:rPr>
              <a:t xml:space="preserve">Modèle</a:t>
            </a:r>
            <a:endParaRPr lang="fr-FR" sz="1125"/>
          </a:p>
        </p:txBody>
      </p:sp>
      <p:sp>
        <p:nvSpPr>
          <p:cNvPr id="7" name="text-7"/>
          <p:cNvSpPr txBox="1"/>
          <p:nvPr/>
        </p:nvSpPr>
        <p:spPr>
          <a:xfrm>
            <a:off x="4879848" y="1885950"/>
            <a:ext cx="1120902"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1">
                <a:solidFill>
                  <a:srgbClr val="FFFFFF"/>
                </a:solidFill>
                <a:latin typeface="Segoe UI"/>
                <a:ea typeface="Segoe UI"/>
                <a:cs typeface="Tahoma"/>
              </a:rPr>
              <a:t xml:space="preserve">Graine</a:t>
            </a:r>
            <a:endParaRPr lang="fr-FR" sz="1125"/>
          </a:p>
        </p:txBody>
      </p:sp>
      <p:sp>
        <p:nvSpPr>
          <p:cNvPr id="8" name="text-8"/>
          <p:cNvSpPr txBox="1"/>
          <p:nvPr/>
        </p:nvSpPr>
        <p:spPr>
          <a:xfrm>
            <a:off x="6210300" y="1885950"/>
            <a:ext cx="1786128"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1">
                <a:solidFill>
                  <a:srgbClr val="FFFFFF"/>
                </a:solidFill>
                <a:latin typeface="Segoe UI"/>
                <a:ea typeface="Segoe UI"/>
                <a:cs typeface="Tahoma"/>
              </a:rPr>
              <a:t xml:space="preserve">F1 sarcastique</a:t>
            </a:r>
            <a:endParaRPr lang="fr-FR" sz="1125"/>
          </a:p>
        </p:txBody>
      </p:sp>
      <p:sp>
        <p:nvSpPr>
          <p:cNvPr id="9" name="text-9"/>
          <p:cNvSpPr txBox="1"/>
          <p:nvPr/>
        </p:nvSpPr>
        <p:spPr>
          <a:xfrm>
            <a:off x="8205978" y="1885950"/>
            <a:ext cx="1564386"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1">
                <a:solidFill>
                  <a:srgbClr val="FFFFFF"/>
                </a:solidFill>
                <a:latin typeface="Segoe UI"/>
                <a:ea typeface="Segoe UI"/>
                <a:cs typeface="Tahoma"/>
              </a:rPr>
              <a:t xml:space="preserve">Macro-F1</a:t>
            </a:r>
            <a:endParaRPr lang="fr-FR" sz="1125"/>
          </a:p>
        </p:txBody>
      </p:sp>
      <p:sp>
        <p:nvSpPr>
          <p:cNvPr id="10" name="text-10"/>
          <p:cNvSpPr txBox="1"/>
          <p:nvPr/>
        </p:nvSpPr>
        <p:spPr>
          <a:xfrm>
            <a:off x="9979914" y="1885950"/>
            <a:ext cx="1564386"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1">
                <a:solidFill>
                  <a:srgbClr val="FFFFFF"/>
                </a:solidFill>
                <a:latin typeface="Segoe UI"/>
                <a:ea typeface="Segoe UI"/>
                <a:cs typeface="Tahoma"/>
              </a:rPr>
              <a:t xml:space="preserve">AP</a:t>
            </a:r>
            <a:endParaRPr lang="fr-FR" sz="1125"/>
          </a:p>
        </p:txBody>
      </p:sp>
      <p:sp>
        <p:nvSpPr>
          <p:cNvPr id="11" name="rect-11"/>
          <p:cNvSpPr txBox="1"/>
          <p:nvPr/>
        </p:nvSpPr>
        <p:spPr>
          <a:xfrm>
            <a:off x="552450" y="2095500"/>
            <a:ext cx="11087100" cy="238125"/>
          </a:xfrm>
          <a:prstGeom prst="rect">
            <a:avLst/>
          </a:prstGeom>
          <a:solidFill>
            <a:srgbClr val="FFFFFF"/>
          </a:solidFill>
          <a:ln>
            <a:noFill/>
          </a:ln>
        </p:spPr>
      </p:sp>
      <p:sp>
        <p:nvSpPr>
          <p:cNvPr id="12" name="text-12"/>
          <p:cNvSpPr txBox="1"/>
          <p:nvPr/>
        </p:nvSpPr>
        <p:spPr>
          <a:xfrm>
            <a:off x="666750" y="2124075"/>
            <a:ext cx="4003548"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A · TF-IDF</a:t>
            </a:r>
            <a:endParaRPr lang="fr-FR" sz="1125"/>
          </a:p>
        </p:txBody>
      </p:sp>
      <p:sp>
        <p:nvSpPr>
          <p:cNvPr id="13" name="text-13"/>
          <p:cNvSpPr txBox="1"/>
          <p:nvPr/>
        </p:nvSpPr>
        <p:spPr>
          <a:xfrm>
            <a:off x="4879848" y="2124075"/>
            <a:ext cx="1120902"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42</a:t>
            </a:r>
            <a:endParaRPr lang="fr-FR" sz="1125"/>
          </a:p>
        </p:txBody>
      </p:sp>
      <p:sp>
        <p:nvSpPr>
          <p:cNvPr id="14" name="text-14"/>
          <p:cNvSpPr txBox="1"/>
          <p:nvPr/>
        </p:nvSpPr>
        <p:spPr>
          <a:xfrm>
            <a:off x="6210300" y="2124075"/>
            <a:ext cx="1786128"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0,5369</a:t>
            </a:r>
            <a:endParaRPr lang="fr-FR" sz="1125"/>
          </a:p>
        </p:txBody>
      </p:sp>
      <p:sp>
        <p:nvSpPr>
          <p:cNvPr id="15" name="text-15"/>
          <p:cNvSpPr txBox="1"/>
          <p:nvPr/>
        </p:nvSpPr>
        <p:spPr>
          <a:xfrm>
            <a:off x="8205978" y="2124075"/>
            <a:ext cx="1564386"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0,6702</a:t>
            </a:r>
            <a:endParaRPr lang="fr-FR" sz="1125"/>
          </a:p>
        </p:txBody>
      </p:sp>
      <p:sp>
        <p:nvSpPr>
          <p:cNvPr id="16" name="text-16"/>
          <p:cNvSpPr txBox="1"/>
          <p:nvPr/>
        </p:nvSpPr>
        <p:spPr>
          <a:xfrm>
            <a:off x="9979914" y="2124075"/>
            <a:ext cx="1564386"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0,5349</a:t>
            </a:r>
            <a:endParaRPr lang="fr-FR" sz="1125"/>
          </a:p>
        </p:txBody>
      </p:sp>
      <p:sp>
        <p:nvSpPr>
          <p:cNvPr id="17" name="rect-17"/>
          <p:cNvSpPr txBox="1"/>
          <p:nvPr/>
        </p:nvSpPr>
        <p:spPr>
          <a:xfrm>
            <a:off x="552450" y="2333625"/>
            <a:ext cx="11087100" cy="238125"/>
          </a:xfrm>
          <a:prstGeom prst="rect">
            <a:avLst/>
          </a:prstGeom>
          <a:solidFill>
            <a:srgbClr val="EBEEE6"/>
          </a:solidFill>
          <a:ln>
            <a:noFill/>
          </a:ln>
        </p:spPr>
      </p:sp>
      <p:sp>
        <p:nvSpPr>
          <p:cNvPr id="18" name="text-18"/>
          <p:cNvSpPr txBox="1"/>
          <p:nvPr/>
        </p:nvSpPr>
        <p:spPr>
          <a:xfrm>
            <a:off x="666750" y="2362200"/>
            <a:ext cx="4003548"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A · TF-IDF</a:t>
            </a:r>
            <a:endParaRPr lang="fr-FR" sz="1125"/>
          </a:p>
        </p:txBody>
      </p:sp>
      <p:sp>
        <p:nvSpPr>
          <p:cNvPr id="19" name="text-19"/>
          <p:cNvSpPr txBox="1"/>
          <p:nvPr/>
        </p:nvSpPr>
        <p:spPr>
          <a:xfrm>
            <a:off x="4879848" y="2362200"/>
            <a:ext cx="1120902"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43</a:t>
            </a:r>
            <a:endParaRPr lang="fr-FR" sz="1125"/>
          </a:p>
        </p:txBody>
      </p:sp>
      <p:sp>
        <p:nvSpPr>
          <p:cNvPr id="20" name="text-20"/>
          <p:cNvSpPr txBox="1"/>
          <p:nvPr/>
        </p:nvSpPr>
        <p:spPr>
          <a:xfrm>
            <a:off x="6210300" y="2362200"/>
            <a:ext cx="1786128"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0,5369</a:t>
            </a:r>
            <a:endParaRPr lang="fr-FR" sz="1125"/>
          </a:p>
        </p:txBody>
      </p:sp>
      <p:sp>
        <p:nvSpPr>
          <p:cNvPr id="21" name="text-21"/>
          <p:cNvSpPr txBox="1"/>
          <p:nvPr/>
        </p:nvSpPr>
        <p:spPr>
          <a:xfrm>
            <a:off x="8205978" y="2362200"/>
            <a:ext cx="1564386"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0,6702</a:t>
            </a:r>
            <a:endParaRPr lang="fr-FR" sz="1125"/>
          </a:p>
        </p:txBody>
      </p:sp>
      <p:sp>
        <p:nvSpPr>
          <p:cNvPr id="22" name="text-22"/>
          <p:cNvSpPr txBox="1"/>
          <p:nvPr/>
        </p:nvSpPr>
        <p:spPr>
          <a:xfrm>
            <a:off x="9979914" y="2362200"/>
            <a:ext cx="1564386"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0,5349</a:t>
            </a:r>
            <a:endParaRPr lang="fr-FR" sz="1125"/>
          </a:p>
        </p:txBody>
      </p:sp>
      <p:sp>
        <p:nvSpPr>
          <p:cNvPr id="23" name="rect-23"/>
          <p:cNvSpPr txBox="1"/>
          <p:nvPr/>
        </p:nvSpPr>
        <p:spPr>
          <a:xfrm>
            <a:off x="552450" y="2571750"/>
            <a:ext cx="11087100" cy="238125"/>
          </a:xfrm>
          <a:prstGeom prst="rect">
            <a:avLst/>
          </a:prstGeom>
          <a:solidFill>
            <a:srgbClr val="FFFFFF"/>
          </a:solidFill>
          <a:ln>
            <a:noFill/>
          </a:ln>
        </p:spPr>
      </p:sp>
      <p:sp>
        <p:nvSpPr>
          <p:cNvPr id="24" name="text-24"/>
          <p:cNvSpPr txBox="1"/>
          <p:nvPr/>
        </p:nvSpPr>
        <p:spPr>
          <a:xfrm>
            <a:off x="666750" y="2600325"/>
            <a:ext cx="4003548"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A · TF-IDF</a:t>
            </a:r>
            <a:endParaRPr lang="fr-FR" sz="1125"/>
          </a:p>
        </p:txBody>
      </p:sp>
      <p:sp>
        <p:nvSpPr>
          <p:cNvPr id="25" name="text-25"/>
          <p:cNvSpPr txBox="1"/>
          <p:nvPr/>
        </p:nvSpPr>
        <p:spPr>
          <a:xfrm>
            <a:off x="4879848" y="2600325"/>
            <a:ext cx="1120902"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44</a:t>
            </a:r>
            <a:endParaRPr lang="fr-FR" sz="1125"/>
          </a:p>
        </p:txBody>
      </p:sp>
      <p:sp>
        <p:nvSpPr>
          <p:cNvPr id="26" name="text-26"/>
          <p:cNvSpPr txBox="1"/>
          <p:nvPr/>
        </p:nvSpPr>
        <p:spPr>
          <a:xfrm>
            <a:off x="6210300" y="2600325"/>
            <a:ext cx="1786128"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0,5369</a:t>
            </a:r>
            <a:endParaRPr lang="fr-FR" sz="1125"/>
          </a:p>
        </p:txBody>
      </p:sp>
      <p:sp>
        <p:nvSpPr>
          <p:cNvPr id="27" name="text-27"/>
          <p:cNvSpPr txBox="1"/>
          <p:nvPr/>
        </p:nvSpPr>
        <p:spPr>
          <a:xfrm>
            <a:off x="8205978" y="2600325"/>
            <a:ext cx="1564386"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0,6702</a:t>
            </a:r>
            <a:endParaRPr lang="fr-FR" sz="1125"/>
          </a:p>
        </p:txBody>
      </p:sp>
      <p:sp>
        <p:nvSpPr>
          <p:cNvPr id="28" name="text-28"/>
          <p:cNvSpPr txBox="1"/>
          <p:nvPr/>
        </p:nvSpPr>
        <p:spPr>
          <a:xfrm>
            <a:off x="9979914" y="2600325"/>
            <a:ext cx="1564386"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0,5349</a:t>
            </a:r>
            <a:endParaRPr lang="fr-FR" sz="1125"/>
          </a:p>
        </p:txBody>
      </p:sp>
      <p:sp>
        <p:nvSpPr>
          <p:cNvPr id="29" name="rect-29"/>
          <p:cNvSpPr txBox="1"/>
          <p:nvPr/>
        </p:nvSpPr>
        <p:spPr>
          <a:xfrm>
            <a:off x="552450" y="2809875"/>
            <a:ext cx="11087100" cy="238125"/>
          </a:xfrm>
          <a:prstGeom prst="rect">
            <a:avLst/>
          </a:prstGeom>
          <a:solidFill>
            <a:srgbClr val="EBEEE6"/>
          </a:solidFill>
          <a:ln>
            <a:noFill/>
          </a:ln>
        </p:spPr>
      </p:sp>
      <p:sp>
        <p:nvSpPr>
          <p:cNvPr id="30" name="text-30"/>
          <p:cNvSpPr txBox="1"/>
          <p:nvPr/>
        </p:nvSpPr>
        <p:spPr>
          <a:xfrm>
            <a:off x="666750" y="2838450"/>
            <a:ext cx="4003548"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C · AraVec</a:t>
            </a:r>
            <a:endParaRPr lang="fr-FR" sz="1125"/>
          </a:p>
        </p:txBody>
      </p:sp>
      <p:sp>
        <p:nvSpPr>
          <p:cNvPr id="31" name="text-31"/>
          <p:cNvSpPr txBox="1"/>
          <p:nvPr/>
        </p:nvSpPr>
        <p:spPr>
          <a:xfrm>
            <a:off x="4879848" y="2838450"/>
            <a:ext cx="1120902"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42</a:t>
            </a:r>
            <a:endParaRPr lang="fr-FR" sz="1125"/>
          </a:p>
        </p:txBody>
      </p:sp>
      <p:sp>
        <p:nvSpPr>
          <p:cNvPr id="32" name="text-32"/>
          <p:cNvSpPr txBox="1"/>
          <p:nvPr/>
        </p:nvSpPr>
        <p:spPr>
          <a:xfrm>
            <a:off x="6210300" y="2838450"/>
            <a:ext cx="1786128"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0,5448</a:t>
            </a:r>
            <a:endParaRPr lang="fr-FR" sz="1125"/>
          </a:p>
        </p:txBody>
      </p:sp>
      <p:sp>
        <p:nvSpPr>
          <p:cNvPr id="33" name="text-33"/>
          <p:cNvSpPr txBox="1"/>
          <p:nvPr/>
        </p:nvSpPr>
        <p:spPr>
          <a:xfrm>
            <a:off x="8205978" y="2838450"/>
            <a:ext cx="1564386"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0,6723</a:t>
            </a:r>
            <a:endParaRPr lang="fr-FR" sz="1125"/>
          </a:p>
        </p:txBody>
      </p:sp>
      <p:sp>
        <p:nvSpPr>
          <p:cNvPr id="34" name="text-34"/>
          <p:cNvSpPr txBox="1"/>
          <p:nvPr/>
        </p:nvSpPr>
        <p:spPr>
          <a:xfrm>
            <a:off x="9979914" y="2838450"/>
            <a:ext cx="1564386"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0,5428</a:t>
            </a:r>
            <a:endParaRPr lang="fr-FR" sz="1125"/>
          </a:p>
        </p:txBody>
      </p:sp>
      <p:sp>
        <p:nvSpPr>
          <p:cNvPr id="35" name="rect-35"/>
          <p:cNvSpPr txBox="1"/>
          <p:nvPr/>
        </p:nvSpPr>
        <p:spPr>
          <a:xfrm>
            <a:off x="552450" y="3048000"/>
            <a:ext cx="11087100" cy="238125"/>
          </a:xfrm>
          <a:prstGeom prst="rect">
            <a:avLst/>
          </a:prstGeom>
          <a:solidFill>
            <a:srgbClr val="FFFFFF"/>
          </a:solidFill>
          <a:ln>
            <a:noFill/>
          </a:ln>
        </p:spPr>
      </p:sp>
      <p:sp>
        <p:nvSpPr>
          <p:cNvPr id="36" name="text-36"/>
          <p:cNvSpPr txBox="1"/>
          <p:nvPr/>
        </p:nvSpPr>
        <p:spPr>
          <a:xfrm>
            <a:off x="666750" y="3076575"/>
            <a:ext cx="4003548"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C · AraVec</a:t>
            </a:r>
            <a:endParaRPr lang="fr-FR" sz="1125"/>
          </a:p>
        </p:txBody>
      </p:sp>
      <p:sp>
        <p:nvSpPr>
          <p:cNvPr id="37" name="text-37"/>
          <p:cNvSpPr txBox="1"/>
          <p:nvPr/>
        </p:nvSpPr>
        <p:spPr>
          <a:xfrm>
            <a:off x="4879848" y="3076575"/>
            <a:ext cx="1120902"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43</a:t>
            </a:r>
            <a:endParaRPr lang="fr-FR" sz="1125"/>
          </a:p>
        </p:txBody>
      </p:sp>
      <p:sp>
        <p:nvSpPr>
          <p:cNvPr id="38" name="text-38"/>
          <p:cNvSpPr txBox="1"/>
          <p:nvPr/>
        </p:nvSpPr>
        <p:spPr>
          <a:xfrm>
            <a:off x="6210300" y="3076575"/>
            <a:ext cx="1786128"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0,5446</a:t>
            </a:r>
            <a:endParaRPr lang="fr-FR" sz="1125"/>
          </a:p>
        </p:txBody>
      </p:sp>
      <p:sp>
        <p:nvSpPr>
          <p:cNvPr id="39" name="text-39"/>
          <p:cNvSpPr txBox="1"/>
          <p:nvPr/>
        </p:nvSpPr>
        <p:spPr>
          <a:xfrm>
            <a:off x="8205978" y="3076575"/>
            <a:ext cx="1564386"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0,6762</a:t>
            </a:r>
            <a:endParaRPr lang="fr-FR" sz="1125"/>
          </a:p>
        </p:txBody>
      </p:sp>
      <p:sp>
        <p:nvSpPr>
          <p:cNvPr id="40" name="text-40"/>
          <p:cNvSpPr txBox="1"/>
          <p:nvPr/>
        </p:nvSpPr>
        <p:spPr>
          <a:xfrm>
            <a:off x="9979914" y="3076575"/>
            <a:ext cx="1564386"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0,5418</a:t>
            </a:r>
            <a:endParaRPr lang="fr-FR" sz="1125"/>
          </a:p>
        </p:txBody>
      </p:sp>
      <p:sp>
        <p:nvSpPr>
          <p:cNvPr id="41" name="rect-41"/>
          <p:cNvSpPr txBox="1"/>
          <p:nvPr/>
        </p:nvSpPr>
        <p:spPr>
          <a:xfrm>
            <a:off x="552450" y="3286125"/>
            <a:ext cx="11087100" cy="238125"/>
          </a:xfrm>
          <a:prstGeom prst="rect">
            <a:avLst/>
          </a:prstGeom>
          <a:solidFill>
            <a:srgbClr val="EBEEE6"/>
          </a:solidFill>
          <a:ln>
            <a:noFill/>
          </a:ln>
        </p:spPr>
      </p:sp>
      <p:sp>
        <p:nvSpPr>
          <p:cNvPr id="42" name="text-42"/>
          <p:cNvSpPr txBox="1"/>
          <p:nvPr/>
        </p:nvSpPr>
        <p:spPr>
          <a:xfrm>
            <a:off x="666750" y="3314700"/>
            <a:ext cx="4003548"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C · AraVec</a:t>
            </a:r>
            <a:endParaRPr lang="fr-FR" sz="1125"/>
          </a:p>
        </p:txBody>
      </p:sp>
      <p:sp>
        <p:nvSpPr>
          <p:cNvPr id="43" name="text-43"/>
          <p:cNvSpPr txBox="1"/>
          <p:nvPr/>
        </p:nvSpPr>
        <p:spPr>
          <a:xfrm>
            <a:off x="4879848" y="3314700"/>
            <a:ext cx="1120902"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44</a:t>
            </a:r>
            <a:endParaRPr lang="fr-FR" sz="1125"/>
          </a:p>
        </p:txBody>
      </p:sp>
      <p:sp>
        <p:nvSpPr>
          <p:cNvPr id="44" name="text-44"/>
          <p:cNvSpPr txBox="1"/>
          <p:nvPr/>
        </p:nvSpPr>
        <p:spPr>
          <a:xfrm>
            <a:off x="6210300" y="3314700"/>
            <a:ext cx="1786128"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0,5312</a:t>
            </a:r>
            <a:endParaRPr lang="fr-FR" sz="1125"/>
          </a:p>
        </p:txBody>
      </p:sp>
      <p:sp>
        <p:nvSpPr>
          <p:cNvPr id="45" name="text-45"/>
          <p:cNvSpPr txBox="1"/>
          <p:nvPr/>
        </p:nvSpPr>
        <p:spPr>
          <a:xfrm>
            <a:off x="8205978" y="3314700"/>
            <a:ext cx="1564386"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0,6825</a:t>
            </a:r>
            <a:endParaRPr lang="fr-FR" sz="1125"/>
          </a:p>
        </p:txBody>
      </p:sp>
      <p:sp>
        <p:nvSpPr>
          <p:cNvPr id="46" name="text-46"/>
          <p:cNvSpPr txBox="1"/>
          <p:nvPr/>
        </p:nvSpPr>
        <p:spPr>
          <a:xfrm>
            <a:off x="9979914" y="3314700"/>
            <a:ext cx="1564386"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0,5548</a:t>
            </a:r>
            <a:endParaRPr lang="fr-FR" sz="1125"/>
          </a:p>
        </p:txBody>
      </p:sp>
      <p:sp>
        <p:nvSpPr>
          <p:cNvPr id="47" name="rect-47"/>
          <p:cNvSpPr txBox="1"/>
          <p:nvPr/>
        </p:nvSpPr>
        <p:spPr>
          <a:xfrm>
            <a:off x="552450" y="3524250"/>
            <a:ext cx="11087100" cy="238125"/>
          </a:xfrm>
          <a:prstGeom prst="rect">
            <a:avLst/>
          </a:prstGeom>
          <a:solidFill>
            <a:srgbClr val="FFFFFF"/>
          </a:solidFill>
          <a:ln>
            <a:noFill/>
          </a:ln>
        </p:spPr>
      </p:sp>
      <p:sp>
        <p:nvSpPr>
          <p:cNvPr id="48" name="text-48"/>
          <p:cNvSpPr txBox="1"/>
          <p:nvPr/>
        </p:nvSpPr>
        <p:spPr>
          <a:xfrm>
            <a:off x="666750" y="3552825"/>
            <a:ext cx="4003548"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D · BiLSTM-attention</a:t>
            </a:r>
            <a:endParaRPr lang="fr-FR" sz="1125"/>
          </a:p>
        </p:txBody>
      </p:sp>
      <p:sp>
        <p:nvSpPr>
          <p:cNvPr id="49" name="text-49"/>
          <p:cNvSpPr txBox="1"/>
          <p:nvPr/>
        </p:nvSpPr>
        <p:spPr>
          <a:xfrm>
            <a:off x="4879848" y="3552825"/>
            <a:ext cx="1120902"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42</a:t>
            </a:r>
            <a:endParaRPr lang="fr-FR" sz="1125"/>
          </a:p>
        </p:txBody>
      </p:sp>
      <p:sp>
        <p:nvSpPr>
          <p:cNvPr id="50" name="text-50"/>
          <p:cNvSpPr txBox="1"/>
          <p:nvPr/>
        </p:nvSpPr>
        <p:spPr>
          <a:xfrm>
            <a:off x="6210300" y="3552825"/>
            <a:ext cx="1786128"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0,5962</a:t>
            </a:r>
            <a:endParaRPr lang="fr-FR" sz="1125"/>
          </a:p>
        </p:txBody>
      </p:sp>
      <p:sp>
        <p:nvSpPr>
          <p:cNvPr id="51" name="text-51"/>
          <p:cNvSpPr txBox="1"/>
          <p:nvPr/>
        </p:nvSpPr>
        <p:spPr>
          <a:xfrm>
            <a:off x="8205978" y="3552825"/>
            <a:ext cx="1564386"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0,7162</a:t>
            </a:r>
            <a:endParaRPr lang="fr-FR" sz="1125"/>
          </a:p>
        </p:txBody>
      </p:sp>
      <p:sp>
        <p:nvSpPr>
          <p:cNvPr id="52" name="text-52"/>
          <p:cNvSpPr txBox="1"/>
          <p:nvPr/>
        </p:nvSpPr>
        <p:spPr>
          <a:xfrm>
            <a:off x="9979914" y="3552825"/>
            <a:ext cx="1564386"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0,6293</a:t>
            </a:r>
            <a:endParaRPr lang="fr-FR" sz="1125"/>
          </a:p>
        </p:txBody>
      </p:sp>
      <p:sp>
        <p:nvSpPr>
          <p:cNvPr id="53" name="rect-53"/>
          <p:cNvSpPr txBox="1"/>
          <p:nvPr/>
        </p:nvSpPr>
        <p:spPr>
          <a:xfrm>
            <a:off x="552450" y="3762375"/>
            <a:ext cx="11087100" cy="238125"/>
          </a:xfrm>
          <a:prstGeom prst="rect">
            <a:avLst/>
          </a:prstGeom>
          <a:solidFill>
            <a:srgbClr val="EBEEE6"/>
          </a:solidFill>
          <a:ln>
            <a:noFill/>
          </a:ln>
        </p:spPr>
      </p:sp>
      <p:sp>
        <p:nvSpPr>
          <p:cNvPr id="54" name="text-54"/>
          <p:cNvSpPr txBox="1"/>
          <p:nvPr/>
        </p:nvSpPr>
        <p:spPr>
          <a:xfrm>
            <a:off x="666750" y="3790950"/>
            <a:ext cx="4003548"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D · BiLSTM-attention</a:t>
            </a:r>
            <a:endParaRPr lang="fr-FR" sz="1125"/>
          </a:p>
        </p:txBody>
      </p:sp>
      <p:sp>
        <p:nvSpPr>
          <p:cNvPr id="55" name="text-55"/>
          <p:cNvSpPr txBox="1"/>
          <p:nvPr/>
        </p:nvSpPr>
        <p:spPr>
          <a:xfrm>
            <a:off x="4879848" y="3790950"/>
            <a:ext cx="1120902"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43</a:t>
            </a:r>
            <a:endParaRPr lang="fr-FR" sz="1125"/>
          </a:p>
        </p:txBody>
      </p:sp>
      <p:sp>
        <p:nvSpPr>
          <p:cNvPr id="56" name="text-56"/>
          <p:cNvSpPr txBox="1"/>
          <p:nvPr/>
        </p:nvSpPr>
        <p:spPr>
          <a:xfrm>
            <a:off x="6210300" y="3790950"/>
            <a:ext cx="1786128"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0,6037</a:t>
            </a:r>
            <a:endParaRPr lang="fr-FR" sz="1125"/>
          </a:p>
        </p:txBody>
      </p:sp>
      <p:sp>
        <p:nvSpPr>
          <p:cNvPr id="57" name="text-57"/>
          <p:cNvSpPr txBox="1"/>
          <p:nvPr/>
        </p:nvSpPr>
        <p:spPr>
          <a:xfrm>
            <a:off x="8205978" y="3790950"/>
            <a:ext cx="1564386"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0,7218</a:t>
            </a:r>
            <a:endParaRPr lang="fr-FR" sz="1125"/>
          </a:p>
        </p:txBody>
      </p:sp>
      <p:sp>
        <p:nvSpPr>
          <p:cNvPr id="58" name="text-58"/>
          <p:cNvSpPr txBox="1"/>
          <p:nvPr/>
        </p:nvSpPr>
        <p:spPr>
          <a:xfrm>
            <a:off x="9979914" y="3790950"/>
            <a:ext cx="1564386"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0,6251</a:t>
            </a:r>
            <a:endParaRPr lang="fr-FR" sz="1125"/>
          </a:p>
        </p:txBody>
      </p:sp>
      <p:sp>
        <p:nvSpPr>
          <p:cNvPr id="59" name="rect-59"/>
          <p:cNvSpPr txBox="1"/>
          <p:nvPr/>
        </p:nvSpPr>
        <p:spPr>
          <a:xfrm>
            <a:off x="552450" y="4000500"/>
            <a:ext cx="11087100" cy="238125"/>
          </a:xfrm>
          <a:prstGeom prst="rect">
            <a:avLst/>
          </a:prstGeom>
          <a:solidFill>
            <a:srgbClr val="FFFFFF"/>
          </a:solidFill>
          <a:ln>
            <a:noFill/>
          </a:ln>
        </p:spPr>
      </p:sp>
      <p:sp>
        <p:nvSpPr>
          <p:cNvPr id="60" name="text-60"/>
          <p:cNvSpPr txBox="1"/>
          <p:nvPr/>
        </p:nvSpPr>
        <p:spPr>
          <a:xfrm>
            <a:off x="666750" y="4029075"/>
            <a:ext cx="4003548"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D · BiLSTM-attention</a:t>
            </a:r>
            <a:endParaRPr lang="fr-FR" sz="1125"/>
          </a:p>
        </p:txBody>
      </p:sp>
      <p:sp>
        <p:nvSpPr>
          <p:cNvPr id="61" name="text-61"/>
          <p:cNvSpPr txBox="1"/>
          <p:nvPr/>
        </p:nvSpPr>
        <p:spPr>
          <a:xfrm>
            <a:off x="4879848" y="4029075"/>
            <a:ext cx="1120902"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44</a:t>
            </a:r>
            <a:endParaRPr lang="fr-FR" sz="1125"/>
          </a:p>
        </p:txBody>
      </p:sp>
      <p:sp>
        <p:nvSpPr>
          <p:cNvPr id="62" name="text-62"/>
          <p:cNvSpPr txBox="1"/>
          <p:nvPr/>
        </p:nvSpPr>
        <p:spPr>
          <a:xfrm>
            <a:off x="6210300" y="4029075"/>
            <a:ext cx="1786128"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0,5799</a:t>
            </a:r>
            <a:endParaRPr lang="fr-FR" sz="1125"/>
          </a:p>
        </p:txBody>
      </p:sp>
      <p:sp>
        <p:nvSpPr>
          <p:cNvPr id="63" name="text-63"/>
          <p:cNvSpPr txBox="1"/>
          <p:nvPr/>
        </p:nvSpPr>
        <p:spPr>
          <a:xfrm>
            <a:off x="8205978" y="4029075"/>
            <a:ext cx="1564386"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0,7152</a:t>
            </a:r>
            <a:endParaRPr lang="fr-FR" sz="1125"/>
          </a:p>
        </p:txBody>
      </p:sp>
      <p:sp>
        <p:nvSpPr>
          <p:cNvPr id="64" name="text-64"/>
          <p:cNvSpPr txBox="1"/>
          <p:nvPr/>
        </p:nvSpPr>
        <p:spPr>
          <a:xfrm>
            <a:off x="9979914" y="4029075"/>
            <a:ext cx="1564386"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0,6217</a:t>
            </a:r>
            <a:endParaRPr lang="fr-FR" sz="1125"/>
          </a:p>
        </p:txBody>
      </p:sp>
      <p:sp>
        <p:nvSpPr>
          <p:cNvPr id="65" name="rect-65"/>
          <p:cNvSpPr txBox="1"/>
          <p:nvPr/>
        </p:nvSpPr>
        <p:spPr>
          <a:xfrm>
            <a:off x="552450" y="4238625"/>
            <a:ext cx="11087100" cy="238125"/>
          </a:xfrm>
          <a:prstGeom prst="rect">
            <a:avLst/>
          </a:prstGeom>
          <a:solidFill>
            <a:srgbClr val="EBEEE6"/>
          </a:solidFill>
          <a:ln>
            <a:noFill/>
          </a:ln>
        </p:spPr>
      </p:sp>
      <p:sp>
        <p:nvSpPr>
          <p:cNvPr id="66" name="text-66"/>
          <p:cNvSpPr txBox="1"/>
          <p:nvPr/>
        </p:nvSpPr>
        <p:spPr>
          <a:xfrm>
            <a:off x="666750" y="4267200"/>
            <a:ext cx="4003548"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E1 · AraBERT</a:t>
            </a:r>
            <a:endParaRPr lang="fr-FR" sz="1125"/>
          </a:p>
        </p:txBody>
      </p:sp>
      <p:sp>
        <p:nvSpPr>
          <p:cNvPr id="67" name="text-67"/>
          <p:cNvSpPr txBox="1"/>
          <p:nvPr/>
        </p:nvSpPr>
        <p:spPr>
          <a:xfrm>
            <a:off x="4879848" y="4267200"/>
            <a:ext cx="1120902"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42</a:t>
            </a:r>
            <a:endParaRPr lang="fr-FR" sz="1125"/>
          </a:p>
        </p:txBody>
      </p:sp>
      <p:sp>
        <p:nvSpPr>
          <p:cNvPr id="68" name="text-68"/>
          <p:cNvSpPr txBox="1"/>
          <p:nvPr/>
        </p:nvSpPr>
        <p:spPr>
          <a:xfrm>
            <a:off x="6210300" y="4267200"/>
            <a:ext cx="1786128"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0,6248</a:t>
            </a:r>
            <a:endParaRPr lang="fr-FR" sz="1125"/>
          </a:p>
        </p:txBody>
      </p:sp>
      <p:sp>
        <p:nvSpPr>
          <p:cNvPr id="69" name="text-69"/>
          <p:cNvSpPr txBox="1"/>
          <p:nvPr/>
        </p:nvSpPr>
        <p:spPr>
          <a:xfrm>
            <a:off x="8205978" y="4267200"/>
            <a:ext cx="1564386"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0,7300</a:t>
            </a:r>
            <a:endParaRPr lang="fr-FR" sz="1125"/>
          </a:p>
        </p:txBody>
      </p:sp>
      <p:sp>
        <p:nvSpPr>
          <p:cNvPr id="70" name="text-70"/>
          <p:cNvSpPr txBox="1"/>
          <p:nvPr/>
        </p:nvSpPr>
        <p:spPr>
          <a:xfrm>
            <a:off x="9979914" y="4267200"/>
            <a:ext cx="1564386"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0,6315</a:t>
            </a:r>
            <a:endParaRPr lang="fr-FR" sz="1125"/>
          </a:p>
        </p:txBody>
      </p:sp>
      <p:sp>
        <p:nvSpPr>
          <p:cNvPr id="71" name="rect-71"/>
          <p:cNvSpPr txBox="1"/>
          <p:nvPr/>
        </p:nvSpPr>
        <p:spPr>
          <a:xfrm>
            <a:off x="552450" y="4476750"/>
            <a:ext cx="11087100" cy="238125"/>
          </a:xfrm>
          <a:prstGeom prst="rect">
            <a:avLst/>
          </a:prstGeom>
          <a:solidFill>
            <a:srgbClr val="FFFFFF"/>
          </a:solidFill>
          <a:ln>
            <a:noFill/>
          </a:ln>
        </p:spPr>
      </p:sp>
      <p:sp>
        <p:nvSpPr>
          <p:cNvPr id="72" name="text-72"/>
          <p:cNvSpPr txBox="1"/>
          <p:nvPr/>
        </p:nvSpPr>
        <p:spPr>
          <a:xfrm>
            <a:off x="666750" y="4505325"/>
            <a:ext cx="4003548"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E1 · AraBERT</a:t>
            </a:r>
            <a:endParaRPr lang="fr-FR" sz="1125"/>
          </a:p>
        </p:txBody>
      </p:sp>
      <p:sp>
        <p:nvSpPr>
          <p:cNvPr id="73" name="text-73"/>
          <p:cNvSpPr txBox="1"/>
          <p:nvPr/>
        </p:nvSpPr>
        <p:spPr>
          <a:xfrm>
            <a:off x="4879848" y="4505325"/>
            <a:ext cx="1120902"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43</a:t>
            </a:r>
            <a:endParaRPr lang="fr-FR" sz="1125"/>
          </a:p>
        </p:txBody>
      </p:sp>
      <p:sp>
        <p:nvSpPr>
          <p:cNvPr id="74" name="text-74"/>
          <p:cNvSpPr txBox="1"/>
          <p:nvPr/>
        </p:nvSpPr>
        <p:spPr>
          <a:xfrm>
            <a:off x="6210300" y="4505325"/>
            <a:ext cx="1786128"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0,5839</a:t>
            </a:r>
            <a:endParaRPr lang="fr-FR" sz="1125"/>
          </a:p>
        </p:txBody>
      </p:sp>
      <p:sp>
        <p:nvSpPr>
          <p:cNvPr id="75" name="text-75"/>
          <p:cNvSpPr txBox="1"/>
          <p:nvPr/>
        </p:nvSpPr>
        <p:spPr>
          <a:xfrm>
            <a:off x="8205978" y="4505325"/>
            <a:ext cx="1564386"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0,7192</a:t>
            </a:r>
            <a:endParaRPr lang="fr-FR" sz="1125"/>
          </a:p>
        </p:txBody>
      </p:sp>
      <p:sp>
        <p:nvSpPr>
          <p:cNvPr id="76" name="text-76"/>
          <p:cNvSpPr txBox="1"/>
          <p:nvPr/>
        </p:nvSpPr>
        <p:spPr>
          <a:xfrm>
            <a:off x="9979914" y="4505325"/>
            <a:ext cx="1564386"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0,6532</a:t>
            </a:r>
            <a:endParaRPr lang="fr-FR" sz="1125"/>
          </a:p>
        </p:txBody>
      </p:sp>
      <p:sp>
        <p:nvSpPr>
          <p:cNvPr id="77" name="rect-77"/>
          <p:cNvSpPr txBox="1"/>
          <p:nvPr/>
        </p:nvSpPr>
        <p:spPr>
          <a:xfrm>
            <a:off x="552450" y="4714875"/>
            <a:ext cx="11087100" cy="238125"/>
          </a:xfrm>
          <a:prstGeom prst="rect">
            <a:avLst/>
          </a:prstGeom>
          <a:solidFill>
            <a:srgbClr val="EBEEE6"/>
          </a:solidFill>
          <a:ln>
            <a:noFill/>
          </a:ln>
        </p:spPr>
      </p:sp>
      <p:sp>
        <p:nvSpPr>
          <p:cNvPr id="78" name="text-78"/>
          <p:cNvSpPr txBox="1"/>
          <p:nvPr/>
        </p:nvSpPr>
        <p:spPr>
          <a:xfrm>
            <a:off x="666750" y="4743450"/>
            <a:ext cx="4003548"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E1 · AraBERT</a:t>
            </a:r>
            <a:endParaRPr lang="fr-FR" sz="1125"/>
          </a:p>
        </p:txBody>
      </p:sp>
      <p:sp>
        <p:nvSpPr>
          <p:cNvPr id="79" name="text-79"/>
          <p:cNvSpPr txBox="1"/>
          <p:nvPr/>
        </p:nvSpPr>
        <p:spPr>
          <a:xfrm>
            <a:off x="4879848" y="4743450"/>
            <a:ext cx="1120902"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44</a:t>
            </a:r>
            <a:endParaRPr lang="fr-FR" sz="1125"/>
          </a:p>
        </p:txBody>
      </p:sp>
      <p:sp>
        <p:nvSpPr>
          <p:cNvPr id="80" name="text-80"/>
          <p:cNvSpPr txBox="1"/>
          <p:nvPr/>
        </p:nvSpPr>
        <p:spPr>
          <a:xfrm>
            <a:off x="6210300" y="4743450"/>
            <a:ext cx="1786128"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0,6191</a:t>
            </a:r>
            <a:endParaRPr lang="fr-FR" sz="1125"/>
          </a:p>
        </p:txBody>
      </p:sp>
      <p:sp>
        <p:nvSpPr>
          <p:cNvPr id="81" name="text-81"/>
          <p:cNvSpPr txBox="1"/>
          <p:nvPr/>
        </p:nvSpPr>
        <p:spPr>
          <a:xfrm>
            <a:off x="8205978" y="4743450"/>
            <a:ext cx="1564386"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0,7228</a:t>
            </a:r>
            <a:endParaRPr lang="fr-FR" sz="1125"/>
          </a:p>
        </p:txBody>
      </p:sp>
      <p:sp>
        <p:nvSpPr>
          <p:cNvPr id="82" name="text-82"/>
          <p:cNvSpPr txBox="1"/>
          <p:nvPr/>
        </p:nvSpPr>
        <p:spPr>
          <a:xfrm>
            <a:off x="9979914" y="4743450"/>
            <a:ext cx="1564386"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0,6465</a:t>
            </a:r>
            <a:endParaRPr lang="fr-FR" sz="1125"/>
          </a:p>
        </p:txBody>
      </p:sp>
      <p:sp>
        <p:nvSpPr>
          <p:cNvPr id="83" name="rect-83"/>
          <p:cNvSpPr txBox="1"/>
          <p:nvPr/>
        </p:nvSpPr>
        <p:spPr>
          <a:xfrm>
            <a:off x="552450" y="4953000"/>
            <a:ext cx="11087100" cy="238125"/>
          </a:xfrm>
          <a:prstGeom prst="rect">
            <a:avLst/>
          </a:prstGeom>
          <a:solidFill>
            <a:srgbClr val="FFFFFF"/>
          </a:solidFill>
          <a:ln>
            <a:noFill/>
          </a:ln>
        </p:spPr>
      </p:sp>
      <p:sp>
        <p:nvSpPr>
          <p:cNvPr id="84" name="text-84"/>
          <p:cNvSpPr txBox="1"/>
          <p:nvPr/>
        </p:nvSpPr>
        <p:spPr>
          <a:xfrm>
            <a:off x="666750" y="4981575"/>
            <a:ext cx="4003548"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E2 · AraBERT λ 0,3</a:t>
            </a:r>
            <a:endParaRPr lang="fr-FR" sz="1125"/>
          </a:p>
        </p:txBody>
      </p:sp>
      <p:sp>
        <p:nvSpPr>
          <p:cNvPr id="85" name="text-85"/>
          <p:cNvSpPr txBox="1"/>
          <p:nvPr/>
        </p:nvSpPr>
        <p:spPr>
          <a:xfrm>
            <a:off x="4879848" y="4981575"/>
            <a:ext cx="1120902"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42</a:t>
            </a:r>
            <a:endParaRPr lang="fr-FR" sz="1125"/>
          </a:p>
        </p:txBody>
      </p:sp>
      <p:sp>
        <p:nvSpPr>
          <p:cNvPr id="86" name="text-86"/>
          <p:cNvSpPr txBox="1"/>
          <p:nvPr/>
        </p:nvSpPr>
        <p:spPr>
          <a:xfrm>
            <a:off x="6210300" y="4981575"/>
            <a:ext cx="1786128"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0,6239</a:t>
            </a:r>
            <a:endParaRPr lang="fr-FR" sz="1125"/>
          </a:p>
        </p:txBody>
      </p:sp>
      <p:sp>
        <p:nvSpPr>
          <p:cNvPr id="87" name="text-87"/>
          <p:cNvSpPr txBox="1"/>
          <p:nvPr/>
        </p:nvSpPr>
        <p:spPr>
          <a:xfrm>
            <a:off x="8205978" y="4981575"/>
            <a:ext cx="1564386"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0,7267</a:t>
            </a:r>
            <a:endParaRPr lang="fr-FR" sz="1125"/>
          </a:p>
        </p:txBody>
      </p:sp>
      <p:sp>
        <p:nvSpPr>
          <p:cNvPr id="88" name="text-88"/>
          <p:cNvSpPr txBox="1"/>
          <p:nvPr/>
        </p:nvSpPr>
        <p:spPr>
          <a:xfrm>
            <a:off x="9979914" y="4981575"/>
            <a:ext cx="1564386"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0,6355</a:t>
            </a:r>
            <a:endParaRPr lang="fr-FR" sz="1125"/>
          </a:p>
        </p:txBody>
      </p:sp>
      <p:sp>
        <p:nvSpPr>
          <p:cNvPr id="89" name="rect-89"/>
          <p:cNvSpPr txBox="1"/>
          <p:nvPr/>
        </p:nvSpPr>
        <p:spPr>
          <a:xfrm>
            <a:off x="552450" y="5191125"/>
            <a:ext cx="11087100" cy="238125"/>
          </a:xfrm>
          <a:prstGeom prst="rect">
            <a:avLst/>
          </a:prstGeom>
          <a:solidFill>
            <a:srgbClr val="EBEEE6"/>
          </a:solidFill>
          <a:ln>
            <a:noFill/>
          </a:ln>
        </p:spPr>
      </p:sp>
      <p:sp>
        <p:nvSpPr>
          <p:cNvPr id="90" name="text-90"/>
          <p:cNvSpPr txBox="1"/>
          <p:nvPr/>
        </p:nvSpPr>
        <p:spPr>
          <a:xfrm>
            <a:off x="666750" y="5219700"/>
            <a:ext cx="4003548"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E2 · AraBERT λ 0,3</a:t>
            </a:r>
            <a:endParaRPr lang="fr-FR" sz="1125"/>
          </a:p>
        </p:txBody>
      </p:sp>
      <p:sp>
        <p:nvSpPr>
          <p:cNvPr id="91" name="text-91"/>
          <p:cNvSpPr txBox="1"/>
          <p:nvPr/>
        </p:nvSpPr>
        <p:spPr>
          <a:xfrm>
            <a:off x="4879848" y="5219700"/>
            <a:ext cx="1120902"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43</a:t>
            </a:r>
            <a:endParaRPr lang="fr-FR" sz="1125"/>
          </a:p>
        </p:txBody>
      </p:sp>
      <p:sp>
        <p:nvSpPr>
          <p:cNvPr id="92" name="text-92"/>
          <p:cNvSpPr txBox="1"/>
          <p:nvPr/>
        </p:nvSpPr>
        <p:spPr>
          <a:xfrm>
            <a:off x="6210300" y="5219700"/>
            <a:ext cx="1786128"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0,5984</a:t>
            </a:r>
            <a:endParaRPr lang="fr-FR" sz="1125"/>
          </a:p>
        </p:txBody>
      </p:sp>
      <p:sp>
        <p:nvSpPr>
          <p:cNvPr id="93" name="text-93"/>
          <p:cNvSpPr txBox="1"/>
          <p:nvPr/>
        </p:nvSpPr>
        <p:spPr>
          <a:xfrm>
            <a:off x="8205978" y="5219700"/>
            <a:ext cx="1564386"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0,7255</a:t>
            </a:r>
            <a:endParaRPr lang="fr-FR" sz="1125"/>
          </a:p>
        </p:txBody>
      </p:sp>
      <p:sp>
        <p:nvSpPr>
          <p:cNvPr id="94" name="text-94"/>
          <p:cNvSpPr txBox="1"/>
          <p:nvPr/>
        </p:nvSpPr>
        <p:spPr>
          <a:xfrm>
            <a:off x="9979914" y="5219700"/>
            <a:ext cx="1564386"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0,6554</a:t>
            </a:r>
            <a:endParaRPr lang="fr-FR" sz="1125"/>
          </a:p>
        </p:txBody>
      </p:sp>
      <p:sp>
        <p:nvSpPr>
          <p:cNvPr id="95" name="rect-95"/>
          <p:cNvSpPr txBox="1"/>
          <p:nvPr/>
        </p:nvSpPr>
        <p:spPr>
          <a:xfrm>
            <a:off x="552450" y="5429250"/>
            <a:ext cx="11087100" cy="238125"/>
          </a:xfrm>
          <a:prstGeom prst="rect">
            <a:avLst/>
          </a:prstGeom>
          <a:solidFill>
            <a:srgbClr val="FFFFFF"/>
          </a:solidFill>
          <a:ln>
            <a:noFill/>
          </a:ln>
        </p:spPr>
      </p:sp>
      <p:sp>
        <p:nvSpPr>
          <p:cNvPr id="96" name="text-96"/>
          <p:cNvSpPr txBox="1"/>
          <p:nvPr/>
        </p:nvSpPr>
        <p:spPr>
          <a:xfrm>
            <a:off x="666750" y="5457825"/>
            <a:ext cx="4003548"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E2 · AraBERT λ 0,3</a:t>
            </a:r>
            <a:endParaRPr lang="fr-FR" sz="1125"/>
          </a:p>
        </p:txBody>
      </p:sp>
      <p:sp>
        <p:nvSpPr>
          <p:cNvPr id="97" name="text-97"/>
          <p:cNvSpPr txBox="1"/>
          <p:nvPr/>
        </p:nvSpPr>
        <p:spPr>
          <a:xfrm>
            <a:off x="4879848" y="5457825"/>
            <a:ext cx="1120902"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44</a:t>
            </a:r>
            <a:endParaRPr lang="fr-FR" sz="1125"/>
          </a:p>
        </p:txBody>
      </p:sp>
      <p:sp>
        <p:nvSpPr>
          <p:cNvPr id="98" name="text-98"/>
          <p:cNvSpPr txBox="1"/>
          <p:nvPr/>
        </p:nvSpPr>
        <p:spPr>
          <a:xfrm>
            <a:off x="6210300" y="5457825"/>
            <a:ext cx="1786128"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0,6065</a:t>
            </a:r>
            <a:endParaRPr lang="fr-FR" sz="1125"/>
          </a:p>
        </p:txBody>
      </p:sp>
      <p:sp>
        <p:nvSpPr>
          <p:cNvPr id="99" name="text-99"/>
          <p:cNvSpPr txBox="1"/>
          <p:nvPr/>
        </p:nvSpPr>
        <p:spPr>
          <a:xfrm>
            <a:off x="8205978" y="5457825"/>
            <a:ext cx="1564386"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0,7178</a:t>
            </a:r>
            <a:endParaRPr lang="fr-FR" sz="1125"/>
          </a:p>
        </p:txBody>
      </p:sp>
      <p:sp>
        <p:nvSpPr>
          <p:cNvPr id="100" name="text-100"/>
          <p:cNvSpPr txBox="1"/>
          <p:nvPr/>
        </p:nvSpPr>
        <p:spPr>
          <a:xfrm>
            <a:off x="9979914" y="5457825"/>
            <a:ext cx="1564386"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0,6446</a:t>
            </a:r>
            <a:endParaRPr lang="fr-FR" sz="1125"/>
          </a:p>
        </p:txBody>
      </p:sp>
      <p:sp>
        <p:nvSpPr>
          <p:cNvPr id="101" name="rect-101"/>
          <p:cNvSpPr txBox="1"/>
          <p:nvPr/>
        </p:nvSpPr>
        <p:spPr>
          <a:xfrm>
            <a:off x="552450" y="5667375"/>
            <a:ext cx="11087100" cy="238125"/>
          </a:xfrm>
          <a:prstGeom prst="rect">
            <a:avLst/>
          </a:prstGeom>
          <a:solidFill>
            <a:srgbClr val="EBEEE6"/>
          </a:solidFill>
          <a:ln>
            <a:noFill/>
          </a:ln>
        </p:spPr>
      </p:sp>
      <p:sp>
        <p:nvSpPr>
          <p:cNvPr id="102" name="text-102"/>
          <p:cNvSpPr txBox="1"/>
          <p:nvPr/>
        </p:nvSpPr>
        <p:spPr>
          <a:xfrm>
            <a:off x="666750" y="5695950"/>
            <a:ext cx="4003548"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B1 · NLI anglais</a:t>
            </a:r>
            <a:endParaRPr lang="fr-FR" sz="1125"/>
          </a:p>
        </p:txBody>
      </p:sp>
      <p:sp>
        <p:nvSpPr>
          <p:cNvPr id="103" name="text-103"/>
          <p:cNvSpPr txBox="1"/>
          <p:nvPr/>
        </p:nvSpPr>
        <p:spPr>
          <a:xfrm>
            <a:off x="4879848" y="5695950"/>
            <a:ext cx="1120902"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42</a:t>
            </a:r>
            <a:endParaRPr lang="fr-FR" sz="1125"/>
          </a:p>
        </p:txBody>
      </p:sp>
      <p:sp>
        <p:nvSpPr>
          <p:cNvPr id="104" name="text-104"/>
          <p:cNvSpPr txBox="1"/>
          <p:nvPr/>
        </p:nvSpPr>
        <p:spPr>
          <a:xfrm>
            <a:off x="6210300" y="5695950"/>
            <a:ext cx="1786128"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0,4625</a:t>
            </a:r>
            <a:endParaRPr lang="fr-FR" sz="1125"/>
          </a:p>
        </p:txBody>
      </p:sp>
      <p:sp>
        <p:nvSpPr>
          <p:cNvPr id="105" name="text-105"/>
          <p:cNvSpPr txBox="1"/>
          <p:nvPr/>
        </p:nvSpPr>
        <p:spPr>
          <a:xfrm>
            <a:off x="8205978" y="5695950"/>
            <a:ext cx="1564386"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0,5817</a:t>
            </a:r>
            <a:endParaRPr lang="fr-FR" sz="1125"/>
          </a:p>
        </p:txBody>
      </p:sp>
      <p:sp>
        <p:nvSpPr>
          <p:cNvPr id="106" name="text-106"/>
          <p:cNvSpPr txBox="1"/>
          <p:nvPr/>
        </p:nvSpPr>
        <p:spPr>
          <a:xfrm>
            <a:off x="9979914" y="5695950"/>
            <a:ext cx="1564386"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0,4077</a:t>
            </a:r>
            <a:endParaRPr lang="fr-FR" sz="1125"/>
          </a:p>
        </p:txBody>
      </p:sp>
      <p:sp>
        <p:nvSpPr>
          <p:cNvPr id="107" name="rect-107"/>
          <p:cNvSpPr txBox="1"/>
          <p:nvPr/>
        </p:nvSpPr>
        <p:spPr>
          <a:xfrm>
            <a:off x="552450" y="5905500"/>
            <a:ext cx="11087100" cy="238125"/>
          </a:xfrm>
          <a:prstGeom prst="rect">
            <a:avLst/>
          </a:prstGeom>
          <a:solidFill>
            <a:srgbClr val="FFFFFF"/>
          </a:solidFill>
          <a:ln>
            <a:noFill/>
          </a:ln>
        </p:spPr>
      </p:sp>
      <p:sp>
        <p:nvSpPr>
          <p:cNvPr id="108" name="text-108"/>
          <p:cNvSpPr txBox="1"/>
          <p:nvPr/>
        </p:nvSpPr>
        <p:spPr>
          <a:xfrm>
            <a:off x="666750" y="5934075"/>
            <a:ext cx="4003548"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B2 · Sentiment</a:t>
            </a:r>
            <a:endParaRPr lang="fr-FR" sz="1125"/>
          </a:p>
        </p:txBody>
      </p:sp>
      <p:sp>
        <p:nvSpPr>
          <p:cNvPr id="109" name="text-109"/>
          <p:cNvSpPr txBox="1"/>
          <p:nvPr/>
        </p:nvSpPr>
        <p:spPr>
          <a:xfrm>
            <a:off x="4879848" y="5934075"/>
            <a:ext cx="1120902"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42</a:t>
            </a:r>
            <a:endParaRPr lang="fr-FR" sz="1125"/>
          </a:p>
        </p:txBody>
      </p:sp>
      <p:sp>
        <p:nvSpPr>
          <p:cNvPr id="110" name="text-110"/>
          <p:cNvSpPr txBox="1"/>
          <p:nvPr/>
        </p:nvSpPr>
        <p:spPr>
          <a:xfrm>
            <a:off x="6210300" y="5934075"/>
            <a:ext cx="1786128"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0,5320</a:t>
            </a:r>
            <a:endParaRPr lang="fr-FR" sz="1125"/>
          </a:p>
        </p:txBody>
      </p:sp>
      <p:sp>
        <p:nvSpPr>
          <p:cNvPr id="111" name="text-111"/>
          <p:cNvSpPr txBox="1"/>
          <p:nvPr/>
        </p:nvSpPr>
        <p:spPr>
          <a:xfrm>
            <a:off x="8205978" y="5934075"/>
            <a:ext cx="1564386"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0,6114</a:t>
            </a:r>
            <a:endParaRPr lang="fr-FR" sz="1125"/>
          </a:p>
        </p:txBody>
      </p:sp>
      <p:sp>
        <p:nvSpPr>
          <p:cNvPr id="112" name="text-112"/>
          <p:cNvSpPr txBox="1"/>
          <p:nvPr/>
        </p:nvSpPr>
        <p:spPr>
          <a:xfrm>
            <a:off x="9979914" y="5934075"/>
            <a:ext cx="1564386" cy="209550"/>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203A32"/>
                </a:solidFill>
                <a:latin typeface="Segoe UI"/>
                <a:ea typeface="Segoe UI"/>
                <a:cs typeface="Tahoma"/>
              </a:rPr>
              <a:t xml:space="preserve">0,4928</a:t>
            </a:r>
            <a:endParaRPr lang="fr-FR" sz="1125"/>
          </a:p>
        </p:txBody>
      </p:sp>
      <p:sp>
        <p:nvSpPr>
          <p:cNvPr id="113" name="text-113"/>
          <p:cNvSpPr txBox="1"/>
          <p:nvPr/>
        </p:nvSpPr>
        <p:spPr>
          <a:xfrm>
            <a:off x="552450" y="6191250"/>
            <a:ext cx="11049000" cy="276225"/>
          </a:xfrm>
          <a:prstGeom prst="rect">
            <a:avLst/>
          </a:prstGeom>
          <a:noFill/>
          <a:ln>
            <a:noFill/>
          </a:ln>
        </p:spPr>
        <p:txBody>
          <a:bodyPr wrap="none" lIns="0" tIns="0" rIns="0" bIns="0" anchor="t"/>
          <a:lstStyle/>
          <a:p>
            <a:pPr algn="l">
              <a:lnSpc>
                <a:spcPts val="1406"/>
              </a:lnSpc>
              <a:spcBef>
                <a:spcPts val="0"/>
              </a:spcBef>
              <a:spcAft>
                <a:spcPts val="0"/>
              </a:spcAft>
            </a:pPr>
            <a:r>
              <a:rPr lang="fr-FR" sz="1125" b="0">
                <a:solidFill>
                  <a:srgbClr val="64736B"/>
                </a:solidFill>
                <a:latin typeface="Segoe UI"/>
                <a:ea typeface="Segoe UI"/>
                <a:cs typeface="Tahoma"/>
              </a:rPr>
              <a:t xml:space="preserve">17 évaluations : A/C/D/E sur trois graines, B1/B2 sur un passage. Les métriques proviennent des tableaux sauvegardés.</a:t>
            </a:r>
            <a:endParaRPr lang="fr-FR" sz="1125"/>
          </a:p>
        </p:txBody>
      </p:sp>
      <p:cxnSp>
        <p:nvCxnSpPr>
          <p:cNvPr id="114" name="line-114"/>
          <p:cNvCxnSpPr/>
          <p:nvPr/>
        </p:nvCxnSpPr>
        <p:spPr>
          <a:xfrm>
            <a:off x="552450" y="6505575"/>
            <a:ext cx="11087100" cy="0"/>
          </a:xfrm>
          <a:prstGeom prst="line">
            <a:avLst/>
          </a:prstGeom>
          <a:ln w="9525">
            <a:solidFill>
              <a:srgbClr val="D4DBCE"/>
            </a:solidFill>
          </a:ln>
        </p:spPr>
      </p:cxnSp>
      <p:sp>
        <p:nvSpPr>
          <p:cNvPr id="115" name="text-115"/>
          <p:cNvSpPr txBox="1"/>
          <p:nvPr/>
        </p:nvSpPr>
        <p:spPr>
          <a:xfrm>
            <a:off x="552450" y="6572250"/>
            <a:ext cx="8572500" cy="219075"/>
          </a:xfrm>
          <a:prstGeom prst="rect">
            <a:avLst/>
          </a:prstGeom>
          <a:noFill/>
          <a:ln>
            <a:noFill/>
          </a:ln>
        </p:spPr>
        <p:txBody>
          <a:bodyPr wrap="none" lIns="0" tIns="0" rIns="0" bIns="0" anchor="t"/>
          <a:lstStyle/>
          <a:p>
            <a:pPr algn="l">
              <a:lnSpc>
                <a:spcPts val="1125"/>
              </a:lnSpc>
              <a:spcBef>
                <a:spcPts val="0"/>
              </a:spcBef>
              <a:spcAft>
                <a:spcPts val="0"/>
              </a:spcAft>
            </a:pPr>
            <a:r>
              <a:rPr lang="fr-FR" sz="900" b="0">
                <a:solidFill>
                  <a:srgbClr val="64736B"/>
                </a:solidFill>
                <a:latin typeface="Segoe UI"/>
                <a:ea typeface="Segoe UI"/>
                <a:cs typeface="Tahoma"/>
              </a:rPr>
              <a:t xml:space="preserve">LMA3NA · Omar Elkhali · BDIOT</a:t>
            </a:r>
            <a:endParaRPr lang="fr-FR" sz="900"/>
          </a:p>
        </p:txBody>
      </p:sp>
      <p:sp>
        <p:nvSpPr>
          <p:cNvPr id="116" name="text-116"/>
          <p:cNvSpPr txBox="1"/>
          <p:nvPr/>
        </p:nvSpPr>
        <p:spPr>
          <a:xfrm>
            <a:off x="10763250" y="6572250"/>
            <a:ext cx="876300" cy="219075"/>
          </a:xfrm>
          <a:prstGeom prst="rect">
            <a:avLst/>
          </a:prstGeom>
          <a:noFill/>
          <a:ln>
            <a:noFill/>
          </a:ln>
        </p:spPr>
        <p:txBody>
          <a:bodyPr wrap="none" lIns="0" tIns="0" rIns="0" bIns="0" anchor="t"/>
          <a:lstStyle/>
          <a:p>
            <a:pPr algn="r">
              <a:lnSpc>
                <a:spcPts val="1125"/>
              </a:lnSpc>
              <a:spcBef>
                <a:spcPts val="0"/>
              </a:spcBef>
              <a:spcAft>
                <a:spcPts val="0"/>
              </a:spcAft>
            </a:pPr>
            <a:r>
              <a:rPr lang="fr-FR" sz="900" b="0">
                <a:solidFill>
                  <a:srgbClr val="64736B"/>
                </a:solidFill>
                <a:latin typeface="Segoe UI"/>
                <a:ea typeface="Segoe UI"/>
                <a:cs typeface="Tahoma"/>
              </a:rPr>
              <a:t xml:space="preserve">19 / 38</a:t>
            </a:r>
            <a:endParaRPr lang="fr-FR" sz="900"/>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5F4EE"/>
        </a:solidFill>
        <a:effectLst/>
      </p:bgPr>
    </p:bg>
    <p:spTree>
      <p:nvGrpSpPr>
        <p:cNvPr id="1" name=""/>
        <p:cNvGrpSpPr/>
        <p:nvPr/>
      </p:nvGrpSpPr>
      <p:grpSpPr>
        <a:xfrm>
          <a:off x="0" y="0"/>
          <a:ext cx="0" cy="0"/>
          <a:chOff x="0" y="0"/>
          <a:chExt cx="0" cy="0"/>
        </a:xfrm>
      </p:grpSpPr>
      <p:sp>
        <p:nvSpPr>
          <p:cNvPr id="2" name="rect-2"/>
          <p:cNvSpPr txBox="1"/>
          <p:nvPr/>
        </p:nvSpPr>
        <p:spPr>
          <a:xfrm>
            <a:off x="552450" y="361950"/>
            <a:ext cx="400050" cy="38100"/>
          </a:xfrm>
          <a:prstGeom prst="rect">
            <a:avLst/>
          </a:prstGeom>
          <a:solidFill>
            <a:srgbClr val="E6A477"/>
          </a:solidFill>
          <a:ln>
            <a:noFill/>
          </a:ln>
        </p:spPr>
      </p:sp>
      <p:sp>
        <p:nvSpPr>
          <p:cNvPr id="3" name="text-3"/>
          <p:cNvSpPr txBox="1"/>
          <p:nvPr/>
        </p:nvSpPr>
        <p:spPr>
          <a:xfrm>
            <a:off x="1066800" y="276225"/>
            <a:ext cx="10287000" cy="266700"/>
          </a:xfrm>
          <a:prstGeom prst="rect">
            <a:avLst/>
          </a:prstGeom>
          <a:noFill/>
          <a:ln>
            <a:noFill/>
          </a:ln>
        </p:spPr>
        <p:txBody>
          <a:bodyPr wrap="none" lIns="0" tIns="0" rIns="0" bIns="0" anchor="t"/>
          <a:lstStyle/>
          <a:p>
            <a:pPr algn="l">
              <a:lnSpc>
                <a:spcPts val="1406"/>
              </a:lnSpc>
              <a:spcBef>
                <a:spcPts val="0"/>
              </a:spcBef>
              <a:spcAft>
                <a:spcPts val="0"/>
              </a:spcAft>
            </a:pPr>
            <a:r>
              <a:rPr lang="fr-FR" sz="1125" b="1">
                <a:solidFill>
                  <a:srgbClr val="285D4B"/>
                </a:solidFill>
                <a:latin typeface="Segoe UI"/>
                <a:ea typeface="Segoe UI"/>
                <a:cs typeface="Tahoma"/>
              </a:rPr>
              <a:t xml:space="preserve">05 · ERREURS TEST</a:t>
            </a:r>
            <a:endParaRPr lang="fr-FR" sz="1125"/>
          </a:p>
        </p:txBody>
      </p:sp>
      <p:sp>
        <p:nvSpPr>
          <p:cNvPr id="4" name="text-4"/>
          <p:cNvSpPr txBox="1"/>
          <p:nvPr/>
        </p:nvSpPr>
        <p:spPr>
          <a:xfrm>
            <a:off x="552450" y="790575"/>
            <a:ext cx="11087100" cy="1066800"/>
          </a:xfrm>
          <a:prstGeom prst="rect">
            <a:avLst/>
          </a:prstGeom>
          <a:noFill/>
          <a:ln>
            <a:noFill/>
          </a:ln>
        </p:spPr>
        <p:txBody>
          <a:bodyPr wrap="none" lIns="0" tIns="0" rIns="0" bIns="0" anchor="t"/>
          <a:lstStyle/>
          <a:p>
            <a:pPr algn="l">
              <a:lnSpc>
                <a:spcPts val="4031"/>
              </a:lnSpc>
              <a:spcBef>
                <a:spcPts val="0"/>
              </a:spcBef>
              <a:spcAft>
                <a:spcPts val="0"/>
              </a:spcAft>
            </a:pPr>
            <a:r>
              <a:rPr lang="fr-FR" sz="3225" b="1">
                <a:solidFill>
                  <a:srgbClr val="203A32"/>
                </a:solidFill>
                <a:latin typeface="Segoe UI"/>
                <a:ea typeface="Segoe UI"/>
                <a:cs typeface="Tahoma"/>
              </a:rPr>
              <a:t xml:space="preserve">La matrice révèle encore 237 sarcasmes manqués</a:t>
            </a:r>
            <a:endParaRPr lang="fr-FR" sz="3225"/>
          </a:p>
        </p:txBody>
      </p:sp>
      <p:pic>
        <p:nvPicPr>
          <p:cNvPr id="5" name="image-5"/>
          <p:cNvPicPr>
            <a:picLocks noChangeAspect="1"/>
          </p:cNvPicPr>
          <p:nvPr/>
        </p:nvPicPr>
        <p:blipFill>
          <a:blip r:embed="rId3"/>
          <a:stretch>
            <a:fillRect/>
          </a:stretch>
        </p:blipFill>
        <p:spPr>
          <a:xfrm>
            <a:off x="1468261" y="1924050"/>
            <a:ext cx="4454878" cy="3667125"/>
          </a:xfrm>
          <a:prstGeom prst="rect">
            <a:avLst/>
          </a:prstGeom>
        </p:spPr>
      </p:pic>
      <p:sp>
        <p:nvSpPr>
          <p:cNvPr id="6" name="text-6"/>
          <p:cNvSpPr txBox="1"/>
          <p:nvPr/>
        </p:nvSpPr>
        <p:spPr>
          <a:xfrm>
            <a:off x="7286625" y="2047875"/>
            <a:ext cx="4333875" cy="714375"/>
          </a:xfrm>
          <a:prstGeom prst="rect">
            <a:avLst/>
          </a:prstGeom>
          <a:noFill/>
          <a:ln>
            <a:noFill/>
          </a:ln>
        </p:spPr>
        <p:txBody>
          <a:bodyPr wrap="none" lIns="0" tIns="0" rIns="0" bIns="0" anchor="t"/>
          <a:lstStyle/>
          <a:p>
            <a:pPr algn="l">
              <a:lnSpc>
                <a:spcPts val="2719"/>
              </a:lnSpc>
              <a:spcBef>
                <a:spcPts val="0"/>
              </a:spcBef>
              <a:spcAft>
                <a:spcPts val="0"/>
              </a:spcAft>
            </a:pPr>
            <a:r>
              <a:rPr lang="fr-FR" sz="2175" b="1">
                <a:solidFill>
                  <a:srgbClr val="285D4B"/>
                </a:solidFill>
                <a:latin typeface="Segoe UI"/>
                <a:ea typeface="Segoe UI"/>
                <a:cs typeface="Tahoma"/>
              </a:rPr>
              <a:t xml:space="preserve">E2 AraBERT · graine 42</a:t>
            </a:r>
            <a:endParaRPr lang="fr-FR" sz="2175"/>
          </a:p>
        </p:txBody>
      </p:sp>
      <p:sp>
        <p:nvSpPr>
          <p:cNvPr id="7" name="text-7"/>
          <p:cNvSpPr txBox="1"/>
          <p:nvPr/>
        </p:nvSpPr>
        <p:spPr>
          <a:xfrm>
            <a:off x="7286625" y="2914650"/>
            <a:ext cx="4286250" cy="2190750"/>
          </a:xfrm>
          <a:prstGeom prst="rect">
            <a:avLst/>
          </a:prstGeom>
          <a:noFill/>
          <a:ln>
            <a:noFill/>
          </a:ln>
        </p:spPr>
        <p:txBody>
          <a:bodyPr wrap="none" lIns="0" tIns="0" rIns="0" bIns="0" anchor="t"/>
          <a:lstStyle/>
          <a:p>
            <a:pPr algn="l">
              <a:lnSpc>
                <a:spcPts val="2344"/>
              </a:lnSpc>
              <a:spcBef>
                <a:spcPts val="0"/>
              </a:spcBef>
              <a:spcAft>
                <a:spcPts val="0"/>
              </a:spcAft>
            </a:pPr>
            <a:r>
              <a:rPr lang="fr-FR" sz="1875" b="0">
                <a:solidFill>
                  <a:srgbClr val="64736B"/>
                </a:solidFill>
                <a:latin typeface="Segoe UI"/>
                <a:ea typeface="Segoe UI"/>
                <a:cs typeface="Tahoma"/>
              </a:rPr>
              <a:t xml:space="preserve">Seuil validation : 0,490785</a:t>
            </a:r>
            <a:endParaRPr lang="fr-FR" sz="1875"/>
          </a:p>
          <a:p>
            <a:pPr algn="l">
              <a:lnSpc>
                <a:spcPts val="2344"/>
              </a:lnSpc>
              <a:spcBef>
                <a:spcPts val="0"/>
              </a:spcBef>
              <a:spcAft>
                <a:spcPts val="0"/>
              </a:spcAft>
            </a:pPr>
            <a:r>
              <a:rPr lang="fr-FR" sz="1875" b="0">
                <a:solidFill>
                  <a:srgbClr val="64736B"/>
                </a:solidFill>
                <a:latin typeface="Segoe UI"/>
                <a:ea typeface="Segoe UI"/>
                <a:cs typeface="Tahoma"/>
              </a:rPr>
              <a:t xml:space="preserve">584 vrais positifs</a:t>
            </a:r>
            <a:endParaRPr lang="fr-FR" sz="1875"/>
          </a:p>
          <a:p>
            <a:pPr algn="l">
              <a:lnSpc>
                <a:spcPts val="2344"/>
              </a:lnSpc>
              <a:spcBef>
                <a:spcPts val="0"/>
              </a:spcBef>
              <a:spcAft>
                <a:spcPts val="0"/>
              </a:spcAft>
            </a:pPr>
            <a:r>
              <a:rPr lang="fr-FR" sz="1875" b="0">
                <a:solidFill>
                  <a:srgbClr val="64736B"/>
                </a:solidFill>
                <a:latin typeface="Segoe UI"/>
                <a:ea typeface="Segoe UI"/>
                <a:cs typeface="Tahoma"/>
              </a:rPr>
              <a:t xml:space="preserve">467 faux positifs</a:t>
            </a:r>
            <a:endParaRPr lang="fr-FR" sz="1875"/>
          </a:p>
          <a:p>
            <a:pPr algn="l">
              <a:lnSpc>
                <a:spcPts val="2344"/>
              </a:lnSpc>
              <a:spcBef>
                <a:spcPts val="0"/>
              </a:spcBef>
              <a:spcAft>
                <a:spcPts val="0"/>
              </a:spcAft>
            </a:pPr>
            <a:r>
              <a:rPr lang="fr-FR" sz="1875" b="0">
                <a:solidFill>
                  <a:srgbClr val="64736B"/>
                </a:solidFill>
                <a:latin typeface="Segoe UI"/>
                <a:ea typeface="Segoe UI"/>
                <a:cs typeface="Tahoma"/>
              </a:rPr>
              <a:t xml:space="preserve">237 faux négatifs</a:t>
            </a:r>
            <a:endParaRPr lang="fr-FR" sz="1875"/>
          </a:p>
          <a:p>
            <a:pPr algn="l">
              <a:lnSpc>
                <a:spcPts val="2344"/>
              </a:lnSpc>
              <a:spcBef>
                <a:spcPts val="0"/>
              </a:spcBef>
              <a:spcAft>
                <a:spcPts val="0"/>
              </a:spcAft>
            </a:pPr>
            <a:r>
              <a:rPr lang="fr-FR" sz="1875" b="0">
                <a:solidFill>
                  <a:srgbClr val="64736B"/>
                </a:solidFill>
                <a:latin typeface="Segoe UI"/>
                <a:ea typeface="Segoe UI"/>
                <a:cs typeface="Tahoma"/>
              </a:rPr>
              <a:t xml:space="preserve">1 712 vrais négatifs</a:t>
            </a:r>
            <a:endParaRPr lang="fr-FR" sz="1875"/>
          </a:p>
        </p:txBody>
      </p:sp>
      <p:sp>
        <p:nvSpPr>
          <p:cNvPr id="8" name="rect-8"/>
          <p:cNvSpPr txBox="1"/>
          <p:nvPr/>
        </p:nvSpPr>
        <p:spPr>
          <a:xfrm>
            <a:off x="552450" y="5810250"/>
            <a:ext cx="11087100" cy="542925"/>
          </a:xfrm>
          <a:prstGeom prst="rect">
            <a:avLst/>
          </a:prstGeom>
          <a:solidFill>
            <a:srgbClr val="DDE7D6"/>
          </a:solidFill>
          <a:ln>
            <a:noFill/>
          </a:ln>
        </p:spPr>
      </p:sp>
      <p:sp>
        <p:nvSpPr>
          <p:cNvPr id="9" name="text-9"/>
          <p:cNvSpPr txBox="1"/>
          <p:nvPr/>
        </p:nvSpPr>
        <p:spPr>
          <a:xfrm>
            <a:off x="723900" y="5857875"/>
            <a:ext cx="10715625" cy="476250"/>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285D4B"/>
                </a:solidFill>
                <a:latin typeface="Segoe UI"/>
                <a:ea typeface="Segoe UI"/>
                <a:cs typeface="Tahoma"/>
              </a:rPr>
              <a:t xml:space="preserve">Précision 0,5557 ; rappel 0,7113 ; F1 0,6239. Ce run individuel diffère de la moyenne sur trois graines.</a:t>
            </a:r>
            <a:endParaRPr lang="fr-FR" sz="1350"/>
          </a:p>
        </p:txBody>
      </p:sp>
      <p:cxnSp>
        <p:nvCxnSpPr>
          <p:cNvPr id="10" name="line-10"/>
          <p:cNvCxnSpPr/>
          <p:nvPr/>
        </p:nvCxnSpPr>
        <p:spPr>
          <a:xfrm>
            <a:off x="552450" y="6505575"/>
            <a:ext cx="11087100" cy="0"/>
          </a:xfrm>
          <a:prstGeom prst="line">
            <a:avLst/>
          </a:prstGeom>
          <a:ln w="9525">
            <a:solidFill>
              <a:srgbClr val="D4DBCE"/>
            </a:solidFill>
          </a:ln>
        </p:spPr>
      </p:cxnSp>
      <p:sp>
        <p:nvSpPr>
          <p:cNvPr id="11" name="text-11"/>
          <p:cNvSpPr txBox="1"/>
          <p:nvPr/>
        </p:nvSpPr>
        <p:spPr>
          <a:xfrm>
            <a:off x="552450" y="6572250"/>
            <a:ext cx="8572500" cy="219075"/>
          </a:xfrm>
          <a:prstGeom prst="rect">
            <a:avLst/>
          </a:prstGeom>
          <a:noFill/>
          <a:ln>
            <a:noFill/>
          </a:ln>
        </p:spPr>
        <p:txBody>
          <a:bodyPr wrap="none" lIns="0" tIns="0" rIns="0" bIns="0" anchor="t"/>
          <a:lstStyle/>
          <a:p>
            <a:pPr algn="l">
              <a:lnSpc>
                <a:spcPts val="1125"/>
              </a:lnSpc>
              <a:spcBef>
                <a:spcPts val="0"/>
              </a:spcBef>
              <a:spcAft>
                <a:spcPts val="0"/>
              </a:spcAft>
            </a:pPr>
            <a:r>
              <a:rPr lang="fr-FR" sz="900" b="0">
                <a:solidFill>
                  <a:srgbClr val="64736B"/>
                </a:solidFill>
                <a:latin typeface="Segoe UI"/>
                <a:ea typeface="Segoe UI"/>
                <a:cs typeface="Tahoma"/>
              </a:rPr>
              <a:t xml:space="preserve">LMA3NA · Omar Elkhali · BDIOT</a:t>
            </a:r>
            <a:endParaRPr lang="fr-FR" sz="900"/>
          </a:p>
        </p:txBody>
      </p:sp>
      <p:sp>
        <p:nvSpPr>
          <p:cNvPr id="12" name="text-12"/>
          <p:cNvSpPr txBox="1"/>
          <p:nvPr/>
        </p:nvSpPr>
        <p:spPr>
          <a:xfrm>
            <a:off x="10763250" y="6572250"/>
            <a:ext cx="876300" cy="219075"/>
          </a:xfrm>
          <a:prstGeom prst="rect">
            <a:avLst/>
          </a:prstGeom>
          <a:noFill/>
          <a:ln>
            <a:noFill/>
          </a:ln>
        </p:spPr>
        <p:txBody>
          <a:bodyPr wrap="none" lIns="0" tIns="0" rIns="0" bIns="0" anchor="t"/>
          <a:lstStyle/>
          <a:p>
            <a:pPr algn="r">
              <a:lnSpc>
                <a:spcPts val="1125"/>
              </a:lnSpc>
              <a:spcBef>
                <a:spcPts val="0"/>
              </a:spcBef>
              <a:spcAft>
                <a:spcPts val="0"/>
              </a:spcAft>
            </a:pPr>
            <a:r>
              <a:rPr lang="fr-FR" sz="900" b="0">
                <a:solidFill>
                  <a:srgbClr val="64736B"/>
                </a:solidFill>
                <a:latin typeface="Segoe UI"/>
                <a:ea typeface="Segoe UI"/>
                <a:cs typeface="Tahoma"/>
              </a:rPr>
              <a:t xml:space="preserve">20 / 38</a:t>
            </a:r>
            <a:endParaRPr lang="fr-FR" sz="900"/>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5F4EE"/>
        </a:solidFill>
        <a:effectLst/>
      </p:bgPr>
    </p:bg>
    <p:spTree>
      <p:nvGrpSpPr>
        <p:cNvPr id="1" name=""/>
        <p:cNvGrpSpPr/>
        <p:nvPr/>
      </p:nvGrpSpPr>
      <p:grpSpPr>
        <a:xfrm>
          <a:off x="0" y="0"/>
          <a:ext cx="0" cy="0"/>
          <a:chOff x="0" y="0"/>
          <a:chExt cx="0" cy="0"/>
        </a:xfrm>
      </p:grpSpPr>
      <p:sp>
        <p:nvSpPr>
          <p:cNvPr id="2" name="rect-2"/>
          <p:cNvSpPr txBox="1"/>
          <p:nvPr/>
        </p:nvSpPr>
        <p:spPr>
          <a:xfrm>
            <a:off x="552450" y="361950"/>
            <a:ext cx="400050" cy="38100"/>
          </a:xfrm>
          <a:prstGeom prst="rect">
            <a:avLst/>
          </a:prstGeom>
          <a:solidFill>
            <a:srgbClr val="E6A477"/>
          </a:solidFill>
          <a:ln>
            <a:noFill/>
          </a:ln>
        </p:spPr>
      </p:sp>
      <p:sp>
        <p:nvSpPr>
          <p:cNvPr id="3" name="text-3"/>
          <p:cNvSpPr txBox="1"/>
          <p:nvPr/>
        </p:nvSpPr>
        <p:spPr>
          <a:xfrm>
            <a:off x="1066800" y="276225"/>
            <a:ext cx="10287000" cy="266700"/>
          </a:xfrm>
          <a:prstGeom prst="rect">
            <a:avLst/>
          </a:prstGeom>
          <a:noFill/>
          <a:ln>
            <a:noFill/>
          </a:ln>
        </p:spPr>
        <p:txBody>
          <a:bodyPr wrap="none" lIns="0" tIns="0" rIns="0" bIns="0" anchor="t"/>
          <a:lstStyle/>
          <a:p>
            <a:pPr algn="l">
              <a:lnSpc>
                <a:spcPts val="1406"/>
              </a:lnSpc>
              <a:spcBef>
                <a:spcPts val="0"/>
              </a:spcBef>
              <a:spcAft>
                <a:spcPts val="0"/>
              </a:spcAft>
            </a:pPr>
            <a:r>
              <a:rPr lang="fr-FR" sz="1125" b="1">
                <a:solidFill>
                  <a:srgbClr val="285D4B"/>
                </a:solidFill>
                <a:latin typeface="Segoe UI"/>
                <a:ea typeface="Segoe UI"/>
                <a:cs typeface="Tahoma"/>
              </a:rPr>
              <a:t xml:space="preserve">05 · QUALITÉ ET COÛT</a:t>
            </a:r>
            <a:endParaRPr lang="fr-FR" sz="1125"/>
          </a:p>
        </p:txBody>
      </p:sp>
      <p:sp>
        <p:nvSpPr>
          <p:cNvPr id="4" name="text-4"/>
          <p:cNvSpPr txBox="1"/>
          <p:nvPr/>
        </p:nvSpPr>
        <p:spPr>
          <a:xfrm>
            <a:off x="552450" y="790575"/>
            <a:ext cx="11087100" cy="1066800"/>
          </a:xfrm>
          <a:prstGeom prst="rect">
            <a:avLst/>
          </a:prstGeom>
          <a:noFill/>
          <a:ln>
            <a:noFill/>
          </a:ln>
        </p:spPr>
        <p:txBody>
          <a:bodyPr wrap="none" lIns="0" tIns="0" rIns="0" bIns="0" anchor="t"/>
          <a:lstStyle/>
          <a:p>
            <a:pPr algn="l">
              <a:lnSpc>
                <a:spcPts val="4031"/>
              </a:lnSpc>
              <a:spcBef>
                <a:spcPts val="0"/>
              </a:spcBef>
              <a:spcAft>
                <a:spcPts val="0"/>
              </a:spcAft>
            </a:pPr>
            <a:r>
              <a:rPr lang="fr-FR" sz="3225" b="1">
                <a:solidFill>
                  <a:srgbClr val="203A32"/>
                </a:solidFill>
                <a:latin typeface="Segoe UI"/>
                <a:ea typeface="Segoe UI"/>
                <a:cs typeface="Tahoma"/>
              </a:rPr>
              <a:t xml:space="preserve">TF-IDF reste un compromis intéressant sur CPU</a:t>
            </a:r>
            <a:endParaRPr lang="fr-FR" sz="3225"/>
          </a:p>
        </p:txBody>
      </p:sp>
      <p:pic>
        <p:nvPicPr>
          <p:cNvPr id="5" name="image-5"/>
          <p:cNvPicPr>
            <a:picLocks noChangeAspect="1"/>
          </p:cNvPicPr>
          <p:nvPr/>
        </p:nvPicPr>
        <p:blipFill>
          <a:blip r:embed="rId3"/>
          <a:stretch>
            <a:fillRect/>
          </a:stretch>
        </p:blipFill>
        <p:spPr>
          <a:xfrm>
            <a:off x="1343025" y="1952625"/>
            <a:ext cx="5562600" cy="3476625"/>
          </a:xfrm>
          <a:prstGeom prst="rect">
            <a:avLst/>
          </a:prstGeom>
        </p:spPr>
      </p:pic>
      <p:sp>
        <p:nvSpPr>
          <p:cNvPr id="6" name="text-6"/>
          <p:cNvSpPr txBox="1"/>
          <p:nvPr/>
        </p:nvSpPr>
        <p:spPr>
          <a:xfrm>
            <a:off x="8115300" y="2143125"/>
            <a:ext cx="3524250" cy="952500"/>
          </a:xfrm>
          <a:prstGeom prst="rect">
            <a:avLst/>
          </a:prstGeom>
          <a:noFill/>
          <a:ln>
            <a:noFill/>
          </a:ln>
        </p:spPr>
        <p:txBody>
          <a:bodyPr wrap="none" lIns="0" tIns="0" rIns="0" bIns="0" anchor="t"/>
          <a:lstStyle/>
          <a:p>
            <a:pPr algn="l">
              <a:lnSpc>
                <a:spcPts val="2906"/>
              </a:lnSpc>
              <a:spcBef>
                <a:spcPts val="0"/>
              </a:spcBef>
              <a:spcAft>
                <a:spcPts val="0"/>
              </a:spcAft>
            </a:pPr>
            <a:r>
              <a:rPr lang="fr-FR" sz="2325" b="1">
                <a:solidFill>
                  <a:srgbClr val="285D4B"/>
                </a:solidFill>
                <a:latin typeface="Segoe UI"/>
                <a:ea typeface="Segoe UI"/>
                <a:cs typeface="Tahoma"/>
              </a:rPr>
              <a:t xml:space="preserve">2,15 ms contre 116,63</a:t>
            </a:r>
            <a:endParaRPr lang="fr-FR" sz="2325"/>
          </a:p>
          <a:p>
            <a:pPr algn="l">
              <a:lnSpc>
                <a:spcPts val="2906"/>
              </a:lnSpc>
              <a:spcBef>
                <a:spcPts val="0"/>
              </a:spcBef>
              <a:spcAft>
                <a:spcPts val="0"/>
              </a:spcAft>
            </a:pPr>
            <a:r>
              <a:rPr lang="fr-FR" sz="2325" b="1">
                <a:solidFill>
                  <a:srgbClr val="285D4B"/>
                </a:solidFill>
                <a:latin typeface="Segoe UI"/>
                <a:ea typeface="Segoe UI"/>
                <a:cs typeface="Tahoma"/>
              </a:rPr>
              <a:t xml:space="preserve">ms</a:t>
            </a:r>
            <a:endParaRPr lang="fr-FR" sz="2325"/>
          </a:p>
        </p:txBody>
      </p:sp>
      <p:sp>
        <p:nvSpPr>
          <p:cNvPr id="7" name="text-7"/>
          <p:cNvSpPr txBox="1"/>
          <p:nvPr/>
        </p:nvSpPr>
        <p:spPr>
          <a:xfrm>
            <a:off x="8115300" y="3305175"/>
            <a:ext cx="3524250" cy="2057400"/>
          </a:xfrm>
          <a:prstGeom prst="rect">
            <a:avLst/>
          </a:prstGeom>
          <a:noFill/>
          <a:ln>
            <a:noFill/>
          </a:ln>
        </p:spPr>
        <p:txBody>
          <a:bodyPr wrap="none" lIns="0" tIns="0" rIns="0" bIns="0" anchor="t"/>
          <a:lstStyle/>
          <a:p>
            <a:pPr algn="l">
              <a:lnSpc>
                <a:spcPts val="2344"/>
              </a:lnSpc>
              <a:spcBef>
                <a:spcPts val="0"/>
              </a:spcBef>
              <a:spcAft>
                <a:spcPts val="0"/>
              </a:spcAft>
            </a:pPr>
            <a:r>
              <a:rPr lang="fr-FR" sz="1875" b="0">
                <a:solidFill>
                  <a:srgbClr val="64736B"/>
                </a:solidFill>
                <a:latin typeface="Segoe UI"/>
                <a:ea typeface="Segoe UI"/>
                <a:cs typeface="Tahoma"/>
              </a:rPr>
              <a:t xml:space="preserve">TF-IDF : F1 0,5369</a:t>
            </a:r>
            <a:endParaRPr lang="fr-FR" sz="1875"/>
          </a:p>
          <a:p>
            <a:pPr algn="l">
              <a:lnSpc>
                <a:spcPts val="2344"/>
              </a:lnSpc>
              <a:spcBef>
                <a:spcPts val="0"/>
              </a:spcBef>
              <a:spcAft>
                <a:spcPts val="0"/>
              </a:spcAft>
            </a:pPr>
            <a:r>
              <a:rPr lang="fr-FR" sz="1875" b="0">
                <a:solidFill>
                  <a:srgbClr val="64736B"/>
                </a:solidFill>
                <a:latin typeface="Segoe UI"/>
                <a:ea typeface="Segoe UI"/>
                <a:cs typeface="Tahoma"/>
              </a:rPr>
              <a:t xml:space="preserve">Poids 5,84 Mo</a:t>
            </a:r>
            <a:endParaRPr lang="fr-FR" sz="1875"/>
          </a:p>
          <a:p>
            <a:pPr algn="l">
              <a:lnSpc>
                <a:spcPts val="2344"/>
              </a:lnSpc>
              <a:spcBef>
                <a:spcPts val="0"/>
              </a:spcBef>
              <a:spcAft>
                <a:spcPts val="0"/>
              </a:spcAft>
            </a:pPr>
            <a:r>
              <a:rPr lang="fr-FR" sz="1875" b="0">
                <a:solidFill>
                  <a:srgbClr val="64736B"/>
                </a:solidFill>
                <a:latin typeface="Segoe UI"/>
                <a:ea typeface="Segoe UI"/>
                <a:cs typeface="Tahoma"/>
              </a:rPr>
              <a:t xml:space="preserve"/>
            </a:r>
            <a:endParaRPr lang="fr-FR" sz="1875"/>
          </a:p>
          <a:p>
            <a:pPr algn="l">
              <a:lnSpc>
                <a:spcPts val="2344"/>
              </a:lnSpc>
              <a:spcBef>
                <a:spcPts val="0"/>
              </a:spcBef>
              <a:spcAft>
                <a:spcPts val="0"/>
              </a:spcAft>
            </a:pPr>
            <a:r>
              <a:rPr lang="fr-FR" sz="1875" b="0">
                <a:solidFill>
                  <a:srgbClr val="64736B"/>
                </a:solidFill>
                <a:latin typeface="Segoe UI"/>
                <a:ea typeface="Segoe UI"/>
                <a:cs typeface="Tahoma"/>
              </a:rPr>
              <a:t xml:space="preserve">E2 : F1 0,6096</a:t>
            </a:r>
            <a:endParaRPr lang="fr-FR" sz="1875"/>
          </a:p>
          <a:p>
            <a:pPr algn="l">
              <a:lnSpc>
                <a:spcPts val="2344"/>
              </a:lnSpc>
              <a:spcBef>
                <a:spcPts val="0"/>
              </a:spcBef>
              <a:spcAft>
                <a:spcPts val="0"/>
              </a:spcAft>
            </a:pPr>
            <a:r>
              <a:rPr lang="fr-FR" sz="1875" b="0">
                <a:solidFill>
                  <a:srgbClr val="64736B"/>
                </a:solidFill>
                <a:latin typeface="Segoe UI"/>
                <a:ea typeface="Segoe UI"/>
                <a:cs typeface="Tahoma"/>
              </a:rPr>
              <a:t xml:space="preserve">Poids 540,88 Mo</a:t>
            </a:r>
            <a:endParaRPr lang="fr-FR" sz="1875"/>
          </a:p>
        </p:txBody>
      </p:sp>
      <p:sp>
        <p:nvSpPr>
          <p:cNvPr id="8" name="rect-8"/>
          <p:cNvSpPr txBox="1"/>
          <p:nvPr/>
        </p:nvSpPr>
        <p:spPr>
          <a:xfrm>
            <a:off x="552450" y="5810250"/>
            <a:ext cx="11087100" cy="542925"/>
          </a:xfrm>
          <a:prstGeom prst="rect">
            <a:avLst/>
          </a:prstGeom>
          <a:solidFill>
            <a:srgbClr val="DDE7D6"/>
          </a:solidFill>
          <a:ln>
            <a:noFill/>
          </a:ln>
        </p:spPr>
      </p:sp>
      <p:sp>
        <p:nvSpPr>
          <p:cNvPr id="9" name="text-9"/>
          <p:cNvSpPr txBox="1"/>
          <p:nvPr/>
        </p:nvSpPr>
        <p:spPr>
          <a:xfrm>
            <a:off x="723900" y="5857875"/>
            <a:ext cx="10715625" cy="476250"/>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285D4B"/>
                </a:solidFill>
                <a:latin typeface="Segoe UI"/>
                <a:ea typeface="Segoe UI"/>
                <a:cs typeface="Tahoma"/>
              </a:rPr>
              <a:t xml:space="preserve">Latence historique sur CPU Colab, batch 1 après chauffe. Ces valeurs ne décrivent pas le Ryzen local ni un service en charge.</a:t>
            </a:r>
            <a:endParaRPr lang="fr-FR" sz="1350"/>
          </a:p>
        </p:txBody>
      </p:sp>
      <p:cxnSp>
        <p:nvCxnSpPr>
          <p:cNvPr id="10" name="line-10"/>
          <p:cNvCxnSpPr/>
          <p:nvPr/>
        </p:nvCxnSpPr>
        <p:spPr>
          <a:xfrm>
            <a:off x="552450" y="6505575"/>
            <a:ext cx="11087100" cy="0"/>
          </a:xfrm>
          <a:prstGeom prst="line">
            <a:avLst/>
          </a:prstGeom>
          <a:ln w="9525">
            <a:solidFill>
              <a:srgbClr val="D4DBCE"/>
            </a:solidFill>
          </a:ln>
        </p:spPr>
      </p:cxnSp>
      <p:sp>
        <p:nvSpPr>
          <p:cNvPr id="11" name="text-11"/>
          <p:cNvSpPr txBox="1"/>
          <p:nvPr/>
        </p:nvSpPr>
        <p:spPr>
          <a:xfrm>
            <a:off x="552450" y="6572250"/>
            <a:ext cx="8572500" cy="219075"/>
          </a:xfrm>
          <a:prstGeom prst="rect">
            <a:avLst/>
          </a:prstGeom>
          <a:noFill/>
          <a:ln>
            <a:noFill/>
          </a:ln>
        </p:spPr>
        <p:txBody>
          <a:bodyPr wrap="none" lIns="0" tIns="0" rIns="0" bIns="0" anchor="t"/>
          <a:lstStyle/>
          <a:p>
            <a:pPr algn="l">
              <a:lnSpc>
                <a:spcPts val="1125"/>
              </a:lnSpc>
              <a:spcBef>
                <a:spcPts val="0"/>
              </a:spcBef>
              <a:spcAft>
                <a:spcPts val="0"/>
              </a:spcAft>
            </a:pPr>
            <a:r>
              <a:rPr lang="fr-FR" sz="900" b="0">
                <a:solidFill>
                  <a:srgbClr val="64736B"/>
                </a:solidFill>
                <a:latin typeface="Segoe UI"/>
                <a:ea typeface="Segoe UI"/>
                <a:cs typeface="Tahoma"/>
              </a:rPr>
              <a:t xml:space="preserve">LMA3NA · Omar Elkhali · BDIOT</a:t>
            </a:r>
            <a:endParaRPr lang="fr-FR" sz="900"/>
          </a:p>
        </p:txBody>
      </p:sp>
      <p:sp>
        <p:nvSpPr>
          <p:cNvPr id="12" name="text-12"/>
          <p:cNvSpPr txBox="1"/>
          <p:nvPr/>
        </p:nvSpPr>
        <p:spPr>
          <a:xfrm>
            <a:off x="10763250" y="6572250"/>
            <a:ext cx="876300" cy="219075"/>
          </a:xfrm>
          <a:prstGeom prst="rect">
            <a:avLst/>
          </a:prstGeom>
          <a:noFill/>
          <a:ln>
            <a:noFill/>
          </a:ln>
        </p:spPr>
        <p:txBody>
          <a:bodyPr wrap="none" lIns="0" tIns="0" rIns="0" bIns="0" anchor="t"/>
          <a:lstStyle/>
          <a:p>
            <a:pPr algn="r">
              <a:lnSpc>
                <a:spcPts val="1125"/>
              </a:lnSpc>
              <a:spcBef>
                <a:spcPts val="0"/>
              </a:spcBef>
              <a:spcAft>
                <a:spcPts val="0"/>
              </a:spcAft>
            </a:pPr>
            <a:r>
              <a:rPr lang="fr-FR" sz="900" b="0">
                <a:solidFill>
                  <a:srgbClr val="64736B"/>
                </a:solidFill>
                <a:latin typeface="Segoe UI"/>
                <a:ea typeface="Segoe UI"/>
                <a:cs typeface="Tahoma"/>
              </a:rPr>
              <a:t xml:space="preserve">21 / 38</a:t>
            </a:r>
            <a:endParaRPr lang="fr-FR" sz="900"/>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5F4EE"/>
        </a:solidFill>
        <a:effectLst/>
      </p:bgPr>
    </p:bg>
    <p:spTree>
      <p:nvGrpSpPr>
        <p:cNvPr id="1" name=""/>
        <p:cNvGrpSpPr/>
        <p:nvPr/>
      </p:nvGrpSpPr>
      <p:grpSpPr>
        <a:xfrm>
          <a:off x="0" y="0"/>
          <a:ext cx="0" cy="0"/>
          <a:chOff x="0" y="0"/>
          <a:chExt cx="0" cy="0"/>
        </a:xfrm>
      </p:grpSpPr>
      <p:sp>
        <p:nvSpPr>
          <p:cNvPr id="2" name="rect-2"/>
          <p:cNvSpPr txBox="1"/>
          <p:nvPr/>
        </p:nvSpPr>
        <p:spPr>
          <a:xfrm>
            <a:off x="552450" y="361950"/>
            <a:ext cx="400050" cy="38100"/>
          </a:xfrm>
          <a:prstGeom prst="rect">
            <a:avLst/>
          </a:prstGeom>
          <a:solidFill>
            <a:srgbClr val="E6A477"/>
          </a:solidFill>
          <a:ln>
            <a:noFill/>
          </a:ln>
        </p:spPr>
      </p:sp>
      <p:sp>
        <p:nvSpPr>
          <p:cNvPr id="3" name="text-3"/>
          <p:cNvSpPr txBox="1"/>
          <p:nvPr/>
        </p:nvSpPr>
        <p:spPr>
          <a:xfrm>
            <a:off x="1066800" y="276225"/>
            <a:ext cx="10287000" cy="266700"/>
          </a:xfrm>
          <a:prstGeom prst="rect">
            <a:avLst/>
          </a:prstGeom>
          <a:noFill/>
          <a:ln>
            <a:noFill/>
          </a:ln>
        </p:spPr>
        <p:txBody>
          <a:bodyPr wrap="none" lIns="0" tIns="0" rIns="0" bIns="0" anchor="t"/>
          <a:lstStyle/>
          <a:p>
            <a:pPr algn="l">
              <a:lnSpc>
                <a:spcPts val="1406"/>
              </a:lnSpc>
              <a:spcBef>
                <a:spcPts val="0"/>
              </a:spcBef>
              <a:spcAft>
                <a:spcPts val="0"/>
              </a:spcAft>
            </a:pPr>
            <a:r>
              <a:rPr lang="fr-FR" sz="1125" b="1">
                <a:solidFill>
                  <a:srgbClr val="285D4B"/>
                </a:solidFill>
                <a:latin typeface="Segoe UI"/>
                <a:ea typeface="Segoe UI"/>
                <a:cs typeface="Tahoma"/>
              </a:rPr>
              <a:t xml:space="preserve">06 · GÉNÉRALISATION</a:t>
            </a:r>
            <a:endParaRPr lang="fr-FR" sz="1125"/>
          </a:p>
        </p:txBody>
      </p:sp>
      <p:sp>
        <p:nvSpPr>
          <p:cNvPr id="4" name="text-4"/>
          <p:cNvSpPr txBox="1"/>
          <p:nvPr/>
        </p:nvSpPr>
        <p:spPr>
          <a:xfrm>
            <a:off x="552450" y="790575"/>
            <a:ext cx="11087100" cy="1066800"/>
          </a:xfrm>
          <a:prstGeom prst="rect">
            <a:avLst/>
          </a:prstGeom>
          <a:noFill/>
          <a:ln>
            <a:noFill/>
          </a:ln>
        </p:spPr>
        <p:txBody>
          <a:bodyPr wrap="none" lIns="0" tIns="0" rIns="0" bIns="0" anchor="t"/>
          <a:lstStyle/>
          <a:p>
            <a:pPr algn="l">
              <a:lnSpc>
                <a:spcPts val="4031"/>
              </a:lnSpc>
              <a:spcBef>
                <a:spcPts val="0"/>
              </a:spcBef>
              <a:spcAft>
                <a:spcPts val="0"/>
              </a:spcAft>
            </a:pPr>
            <a:r>
              <a:rPr lang="fr-FR" sz="3225" b="1">
                <a:solidFill>
                  <a:srgbClr val="203A32"/>
                </a:solidFill>
                <a:latin typeface="Segoe UI"/>
                <a:ea typeface="Segoe UI"/>
                <a:cs typeface="Tahoma"/>
              </a:rPr>
              <a:t xml:space="preserve">Le taux de sarcasme change entre validation et test</a:t>
            </a:r>
            <a:endParaRPr lang="fr-FR" sz="3225"/>
          </a:p>
        </p:txBody>
      </p:sp>
      <p:pic>
        <p:nvPicPr>
          <p:cNvPr id="5" name="image-5"/>
          <p:cNvPicPr>
            <a:picLocks noChangeAspect="1"/>
          </p:cNvPicPr>
          <p:nvPr/>
        </p:nvPicPr>
        <p:blipFill>
          <a:blip r:embed="rId3"/>
          <a:stretch>
            <a:fillRect/>
          </a:stretch>
        </p:blipFill>
        <p:spPr>
          <a:xfrm>
            <a:off x="766066" y="1933575"/>
            <a:ext cx="7097518" cy="3505200"/>
          </a:xfrm>
          <a:prstGeom prst="rect">
            <a:avLst/>
          </a:prstGeom>
        </p:spPr>
      </p:pic>
      <p:sp>
        <p:nvSpPr>
          <p:cNvPr id="6" name="text-6"/>
          <p:cNvSpPr txBox="1"/>
          <p:nvPr/>
        </p:nvSpPr>
        <p:spPr>
          <a:xfrm>
            <a:off x="8420100" y="2038350"/>
            <a:ext cx="3219450" cy="933450"/>
          </a:xfrm>
          <a:prstGeom prst="rect">
            <a:avLst/>
          </a:prstGeom>
          <a:noFill/>
          <a:ln>
            <a:noFill/>
          </a:ln>
        </p:spPr>
        <p:txBody>
          <a:bodyPr wrap="none" lIns="0" tIns="0" rIns="0" bIns="0" anchor="t"/>
          <a:lstStyle/>
          <a:p>
            <a:pPr algn="l">
              <a:lnSpc>
                <a:spcPts val="2812"/>
              </a:lnSpc>
              <a:spcBef>
                <a:spcPts val="0"/>
              </a:spcBef>
              <a:spcAft>
                <a:spcPts val="0"/>
              </a:spcAft>
            </a:pPr>
            <a:r>
              <a:rPr lang="fr-FR" sz="2250" b="1">
                <a:solidFill>
                  <a:srgbClr val="285D4B"/>
                </a:solidFill>
                <a:latin typeface="Segoe UI"/>
                <a:ea typeface="Segoe UI"/>
                <a:cs typeface="Tahoma"/>
              </a:rPr>
              <a:t xml:space="preserve">+10,08 points</a:t>
            </a:r>
            <a:endParaRPr lang="fr-FR" sz="2250"/>
          </a:p>
        </p:txBody>
      </p:sp>
      <p:sp>
        <p:nvSpPr>
          <p:cNvPr id="7" name="text-7"/>
          <p:cNvSpPr txBox="1"/>
          <p:nvPr/>
        </p:nvSpPr>
        <p:spPr>
          <a:xfrm>
            <a:off x="8420100" y="3143250"/>
            <a:ext cx="3219450" cy="2333625"/>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64736B"/>
                </a:solidFill>
                <a:latin typeface="Segoe UI"/>
                <a:ea typeface="Segoe UI"/>
                <a:cs typeface="Tahoma"/>
              </a:rPr>
              <a:t xml:space="preserve">Le prior passe de 17,29 % sur</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validation à 27,37 % sur test. Les</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dialectes, thèmes et indices de</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surface changent également.</a:t>
            </a:r>
            <a:endParaRPr lang="fr-FR" sz="1725"/>
          </a:p>
        </p:txBody>
      </p:sp>
      <p:sp>
        <p:nvSpPr>
          <p:cNvPr id="8" name="rect-8"/>
          <p:cNvSpPr txBox="1"/>
          <p:nvPr/>
        </p:nvSpPr>
        <p:spPr>
          <a:xfrm>
            <a:off x="552450" y="5810250"/>
            <a:ext cx="11087100" cy="542925"/>
          </a:xfrm>
          <a:prstGeom prst="rect">
            <a:avLst/>
          </a:prstGeom>
          <a:solidFill>
            <a:srgbClr val="DDE7D6"/>
          </a:solidFill>
          <a:ln>
            <a:noFill/>
          </a:ln>
        </p:spPr>
      </p:sp>
      <p:sp>
        <p:nvSpPr>
          <p:cNvPr id="9" name="text-9"/>
          <p:cNvSpPr txBox="1"/>
          <p:nvPr/>
        </p:nvSpPr>
        <p:spPr>
          <a:xfrm>
            <a:off x="723900" y="5857875"/>
            <a:ext cx="10715625" cy="476250"/>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285D4B"/>
                </a:solidFill>
                <a:latin typeface="Segoe UI"/>
                <a:ea typeface="Segoe UI"/>
                <a:cs typeface="Tahoma"/>
              </a:rPr>
              <a:t xml:space="preserve">Les seuils optimisés a posteriori sur test servent au diagnostic. Ils ne deviennent pas des seuils déployables.</a:t>
            </a:r>
            <a:endParaRPr lang="fr-FR" sz="1350"/>
          </a:p>
        </p:txBody>
      </p:sp>
      <p:cxnSp>
        <p:nvCxnSpPr>
          <p:cNvPr id="10" name="line-10"/>
          <p:cNvCxnSpPr/>
          <p:nvPr/>
        </p:nvCxnSpPr>
        <p:spPr>
          <a:xfrm>
            <a:off x="552450" y="6505575"/>
            <a:ext cx="11087100" cy="0"/>
          </a:xfrm>
          <a:prstGeom prst="line">
            <a:avLst/>
          </a:prstGeom>
          <a:ln w="9525">
            <a:solidFill>
              <a:srgbClr val="D4DBCE"/>
            </a:solidFill>
          </a:ln>
        </p:spPr>
      </p:cxnSp>
      <p:sp>
        <p:nvSpPr>
          <p:cNvPr id="11" name="text-11"/>
          <p:cNvSpPr txBox="1"/>
          <p:nvPr/>
        </p:nvSpPr>
        <p:spPr>
          <a:xfrm>
            <a:off x="552450" y="6572250"/>
            <a:ext cx="8572500" cy="219075"/>
          </a:xfrm>
          <a:prstGeom prst="rect">
            <a:avLst/>
          </a:prstGeom>
          <a:noFill/>
          <a:ln>
            <a:noFill/>
          </a:ln>
        </p:spPr>
        <p:txBody>
          <a:bodyPr wrap="none" lIns="0" tIns="0" rIns="0" bIns="0" anchor="t"/>
          <a:lstStyle/>
          <a:p>
            <a:pPr algn="l">
              <a:lnSpc>
                <a:spcPts val="1125"/>
              </a:lnSpc>
              <a:spcBef>
                <a:spcPts val="0"/>
              </a:spcBef>
              <a:spcAft>
                <a:spcPts val="0"/>
              </a:spcAft>
            </a:pPr>
            <a:r>
              <a:rPr lang="fr-FR" sz="900" b="0">
                <a:solidFill>
                  <a:srgbClr val="64736B"/>
                </a:solidFill>
                <a:latin typeface="Segoe UI"/>
                <a:ea typeface="Segoe UI"/>
                <a:cs typeface="Tahoma"/>
              </a:rPr>
              <a:t xml:space="preserve">LMA3NA · Omar Elkhali · BDIOT</a:t>
            </a:r>
            <a:endParaRPr lang="fr-FR" sz="900"/>
          </a:p>
        </p:txBody>
      </p:sp>
      <p:sp>
        <p:nvSpPr>
          <p:cNvPr id="12" name="text-12"/>
          <p:cNvSpPr txBox="1"/>
          <p:nvPr/>
        </p:nvSpPr>
        <p:spPr>
          <a:xfrm>
            <a:off x="10763250" y="6572250"/>
            <a:ext cx="876300" cy="219075"/>
          </a:xfrm>
          <a:prstGeom prst="rect">
            <a:avLst/>
          </a:prstGeom>
          <a:noFill/>
          <a:ln>
            <a:noFill/>
          </a:ln>
        </p:spPr>
        <p:txBody>
          <a:bodyPr wrap="none" lIns="0" tIns="0" rIns="0" bIns="0" anchor="t"/>
          <a:lstStyle/>
          <a:p>
            <a:pPr algn="r">
              <a:lnSpc>
                <a:spcPts val="1125"/>
              </a:lnSpc>
              <a:spcBef>
                <a:spcPts val="0"/>
              </a:spcBef>
              <a:spcAft>
                <a:spcPts val="0"/>
              </a:spcAft>
            </a:pPr>
            <a:r>
              <a:rPr lang="fr-FR" sz="900" b="0">
                <a:solidFill>
                  <a:srgbClr val="64736B"/>
                </a:solidFill>
                <a:latin typeface="Segoe UI"/>
                <a:ea typeface="Segoe UI"/>
                <a:cs typeface="Tahoma"/>
              </a:rPr>
              <a:t xml:space="preserve">22 / 38</a:t>
            </a:r>
            <a:endParaRPr lang="fr-FR" sz="900"/>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5F4EE"/>
        </a:solidFill>
        <a:effectLst/>
      </p:bgPr>
    </p:bg>
    <p:spTree>
      <p:nvGrpSpPr>
        <p:cNvPr id="1" name=""/>
        <p:cNvGrpSpPr/>
        <p:nvPr/>
      </p:nvGrpSpPr>
      <p:grpSpPr>
        <a:xfrm>
          <a:off x="0" y="0"/>
          <a:ext cx="0" cy="0"/>
          <a:chOff x="0" y="0"/>
          <a:chExt cx="0" cy="0"/>
        </a:xfrm>
      </p:grpSpPr>
      <p:sp>
        <p:nvSpPr>
          <p:cNvPr id="2" name="rect-2"/>
          <p:cNvSpPr txBox="1"/>
          <p:nvPr/>
        </p:nvSpPr>
        <p:spPr>
          <a:xfrm>
            <a:off x="552450" y="361950"/>
            <a:ext cx="400050" cy="38100"/>
          </a:xfrm>
          <a:prstGeom prst="rect">
            <a:avLst/>
          </a:prstGeom>
          <a:solidFill>
            <a:srgbClr val="E6A477"/>
          </a:solidFill>
          <a:ln>
            <a:noFill/>
          </a:ln>
        </p:spPr>
      </p:sp>
      <p:sp>
        <p:nvSpPr>
          <p:cNvPr id="3" name="text-3"/>
          <p:cNvSpPr txBox="1"/>
          <p:nvPr/>
        </p:nvSpPr>
        <p:spPr>
          <a:xfrm>
            <a:off x="1066800" y="276225"/>
            <a:ext cx="10287000" cy="266700"/>
          </a:xfrm>
          <a:prstGeom prst="rect">
            <a:avLst/>
          </a:prstGeom>
          <a:noFill/>
          <a:ln>
            <a:noFill/>
          </a:ln>
        </p:spPr>
        <p:txBody>
          <a:bodyPr wrap="none" lIns="0" tIns="0" rIns="0" bIns="0" anchor="t"/>
          <a:lstStyle/>
          <a:p>
            <a:pPr algn="l">
              <a:lnSpc>
                <a:spcPts val="1406"/>
              </a:lnSpc>
              <a:spcBef>
                <a:spcPts val="0"/>
              </a:spcBef>
              <a:spcAft>
                <a:spcPts val="0"/>
              </a:spcAft>
            </a:pPr>
            <a:r>
              <a:rPr lang="fr-FR" sz="1125" b="1">
                <a:solidFill>
                  <a:srgbClr val="285D4B"/>
                </a:solidFill>
                <a:latin typeface="Segoe UI"/>
                <a:ea typeface="Segoe UI"/>
                <a:cs typeface="Tahoma"/>
              </a:rPr>
              <a:t xml:space="preserve">06 · ROBUSTESSE</a:t>
            </a:r>
            <a:endParaRPr lang="fr-FR" sz="1125"/>
          </a:p>
        </p:txBody>
      </p:sp>
      <p:sp>
        <p:nvSpPr>
          <p:cNvPr id="4" name="text-4"/>
          <p:cNvSpPr txBox="1"/>
          <p:nvPr/>
        </p:nvSpPr>
        <p:spPr>
          <a:xfrm>
            <a:off x="552450" y="790575"/>
            <a:ext cx="11087100" cy="1066800"/>
          </a:xfrm>
          <a:prstGeom prst="rect">
            <a:avLst/>
          </a:prstGeom>
          <a:noFill/>
          <a:ln>
            <a:noFill/>
          </a:ln>
        </p:spPr>
        <p:txBody>
          <a:bodyPr wrap="none" lIns="0" tIns="0" rIns="0" bIns="0" anchor="t"/>
          <a:lstStyle/>
          <a:p>
            <a:pPr algn="l">
              <a:lnSpc>
                <a:spcPts val="4031"/>
              </a:lnSpc>
              <a:spcBef>
                <a:spcPts val="0"/>
              </a:spcBef>
              <a:spcAft>
                <a:spcPts val="0"/>
              </a:spcAft>
            </a:pPr>
            <a:r>
              <a:rPr lang="fr-FR" sz="3225" b="1">
                <a:solidFill>
                  <a:srgbClr val="203A32"/>
                </a:solidFill>
                <a:latin typeface="Segoe UI"/>
                <a:ea typeface="Segoe UI"/>
                <a:cs typeface="Tahoma"/>
              </a:rPr>
              <a:t xml:space="preserve">Les sous-groupes URL ont des distributions différentes</a:t>
            </a:r>
            <a:endParaRPr lang="fr-FR" sz="3225"/>
          </a:p>
        </p:txBody>
      </p:sp>
      <p:sp>
        <p:nvSpPr>
          <p:cNvPr id="5" name="rect-5"/>
          <p:cNvSpPr txBox="1"/>
          <p:nvPr/>
        </p:nvSpPr>
        <p:spPr>
          <a:xfrm>
            <a:off x="552450" y="2028825"/>
            <a:ext cx="11087100" cy="542925"/>
          </a:xfrm>
          <a:prstGeom prst="rect">
            <a:avLst/>
          </a:prstGeom>
          <a:solidFill>
            <a:srgbClr val="285D4B"/>
          </a:solidFill>
          <a:ln>
            <a:noFill/>
          </a:ln>
        </p:spPr>
      </p:sp>
      <p:sp>
        <p:nvSpPr>
          <p:cNvPr id="6" name="text-6"/>
          <p:cNvSpPr txBox="1"/>
          <p:nvPr/>
        </p:nvSpPr>
        <p:spPr>
          <a:xfrm>
            <a:off x="666750" y="2057400"/>
            <a:ext cx="3116580" cy="514350"/>
          </a:xfrm>
          <a:prstGeom prst="rect">
            <a:avLst/>
          </a:prstGeom>
          <a:noFill/>
          <a:ln>
            <a:noFill/>
          </a:ln>
        </p:spPr>
        <p:txBody>
          <a:bodyPr wrap="none" lIns="0" tIns="0" rIns="0" bIns="0" anchor="t"/>
          <a:lstStyle/>
          <a:p>
            <a:pPr algn="l">
              <a:lnSpc>
                <a:spcPts val="2250"/>
              </a:lnSpc>
              <a:spcBef>
                <a:spcPts val="0"/>
              </a:spcBef>
              <a:spcAft>
                <a:spcPts val="0"/>
              </a:spcAft>
            </a:pPr>
            <a:r>
              <a:rPr lang="fr-FR" sz="1800" b="1">
                <a:solidFill>
                  <a:srgbClr val="FFFFFF"/>
                </a:solidFill>
                <a:latin typeface="Segoe UI"/>
                <a:ea typeface="Segoe UI"/>
                <a:cs typeface="Tahoma"/>
              </a:rPr>
              <a:t xml:space="preserve">Famille</a:t>
            </a:r>
            <a:endParaRPr lang="fr-FR" sz="1800"/>
          </a:p>
        </p:txBody>
      </p:sp>
      <p:sp>
        <p:nvSpPr>
          <p:cNvPr id="7" name="text-7"/>
          <p:cNvSpPr txBox="1"/>
          <p:nvPr/>
        </p:nvSpPr>
        <p:spPr>
          <a:xfrm>
            <a:off x="3992880" y="2057400"/>
            <a:ext cx="3670935" cy="514350"/>
          </a:xfrm>
          <a:prstGeom prst="rect">
            <a:avLst/>
          </a:prstGeom>
          <a:noFill/>
          <a:ln>
            <a:noFill/>
          </a:ln>
        </p:spPr>
        <p:txBody>
          <a:bodyPr wrap="none" lIns="0" tIns="0" rIns="0" bIns="0" anchor="t"/>
          <a:lstStyle/>
          <a:p>
            <a:pPr algn="l">
              <a:lnSpc>
                <a:spcPts val="2250"/>
              </a:lnSpc>
              <a:spcBef>
                <a:spcPts val="0"/>
              </a:spcBef>
              <a:spcAft>
                <a:spcPts val="0"/>
              </a:spcAft>
            </a:pPr>
            <a:r>
              <a:rPr lang="fr-FR" sz="1800" b="1">
                <a:solidFill>
                  <a:srgbClr val="FFFFFF"/>
                </a:solidFill>
                <a:latin typeface="Segoe UI"/>
                <a:ea typeface="Segoe UI"/>
                <a:cs typeface="Tahoma"/>
              </a:rPr>
              <a:t xml:space="preserve">F1 sans URL</a:t>
            </a:r>
            <a:endParaRPr lang="fr-FR" sz="1800"/>
          </a:p>
        </p:txBody>
      </p:sp>
      <p:sp>
        <p:nvSpPr>
          <p:cNvPr id="8" name="text-8"/>
          <p:cNvSpPr txBox="1"/>
          <p:nvPr/>
        </p:nvSpPr>
        <p:spPr>
          <a:xfrm>
            <a:off x="7873365" y="2057400"/>
            <a:ext cx="3670935" cy="514350"/>
          </a:xfrm>
          <a:prstGeom prst="rect">
            <a:avLst/>
          </a:prstGeom>
          <a:noFill/>
          <a:ln>
            <a:noFill/>
          </a:ln>
        </p:spPr>
        <p:txBody>
          <a:bodyPr wrap="none" lIns="0" tIns="0" rIns="0" bIns="0" anchor="t"/>
          <a:lstStyle/>
          <a:p>
            <a:pPr algn="l">
              <a:lnSpc>
                <a:spcPts val="2250"/>
              </a:lnSpc>
              <a:spcBef>
                <a:spcPts val="0"/>
              </a:spcBef>
              <a:spcAft>
                <a:spcPts val="0"/>
              </a:spcAft>
            </a:pPr>
            <a:r>
              <a:rPr lang="fr-FR" sz="1800" b="1">
                <a:solidFill>
                  <a:srgbClr val="FFFFFF"/>
                </a:solidFill>
                <a:latin typeface="Segoe UI"/>
                <a:ea typeface="Segoe UI"/>
                <a:cs typeface="Tahoma"/>
              </a:rPr>
              <a:t xml:space="preserve">F1 avec URL</a:t>
            </a:r>
            <a:endParaRPr lang="fr-FR" sz="1800"/>
          </a:p>
        </p:txBody>
      </p:sp>
      <p:sp>
        <p:nvSpPr>
          <p:cNvPr id="9" name="rect-9"/>
          <p:cNvSpPr txBox="1"/>
          <p:nvPr/>
        </p:nvSpPr>
        <p:spPr>
          <a:xfrm>
            <a:off x="552450" y="2571750"/>
            <a:ext cx="11087100" cy="542925"/>
          </a:xfrm>
          <a:prstGeom prst="rect">
            <a:avLst/>
          </a:prstGeom>
          <a:solidFill>
            <a:srgbClr val="FFFFFF"/>
          </a:solidFill>
          <a:ln>
            <a:noFill/>
          </a:ln>
        </p:spPr>
      </p:sp>
      <p:sp>
        <p:nvSpPr>
          <p:cNvPr id="10" name="text-10"/>
          <p:cNvSpPr txBox="1"/>
          <p:nvPr/>
        </p:nvSpPr>
        <p:spPr>
          <a:xfrm>
            <a:off x="666750" y="2600325"/>
            <a:ext cx="3116580" cy="514350"/>
          </a:xfrm>
          <a:prstGeom prst="rect">
            <a:avLst/>
          </a:prstGeom>
          <a:noFill/>
          <a:ln>
            <a:noFill/>
          </a:ln>
        </p:spPr>
        <p:txBody>
          <a:bodyPr wrap="none" lIns="0" tIns="0" rIns="0" bIns="0" anchor="t"/>
          <a:lstStyle/>
          <a:p>
            <a:pPr algn="l">
              <a:lnSpc>
                <a:spcPts val="2250"/>
              </a:lnSpc>
              <a:spcBef>
                <a:spcPts val="0"/>
              </a:spcBef>
              <a:spcAft>
                <a:spcPts val="0"/>
              </a:spcAft>
            </a:pPr>
            <a:r>
              <a:rPr lang="fr-FR" sz="1800" b="0">
                <a:solidFill>
                  <a:srgbClr val="203A32"/>
                </a:solidFill>
                <a:latin typeface="Segoe UI"/>
                <a:ea typeface="Segoe UI"/>
                <a:cs typeface="Tahoma"/>
              </a:rPr>
              <a:t xml:space="preserve">A</a:t>
            </a:r>
            <a:endParaRPr lang="fr-FR" sz="1800"/>
          </a:p>
        </p:txBody>
      </p:sp>
      <p:sp>
        <p:nvSpPr>
          <p:cNvPr id="11" name="text-11"/>
          <p:cNvSpPr txBox="1"/>
          <p:nvPr/>
        </p:nvSpPr>
        <p:spPr>
          <a:xfrm>
            <a:off x="3992880" y="2600325"/>
            <a:ext cx="3670935" cy="514350"/>
          </a:xfrm>
          <a:prstGeom prst="rect">
            <a:avLst/>
          </a:prstGeom>
          <a:noFill/>
          <a:ln>
            <a:noFill/>
          </a:ln>
        </p:spPr>
        <p:txBody>
          <a:bodyPr wrap="none" lIns="0" tIns="0" rIns="0" bIns="0" anchor="t"/>
          <a:lstStyle/>
          <a:p>
            <a:pPr algn="l">
              <a:lnSpc>
                <a:spcPts val="2250"/>
              </a:lnSpc>
              <a:spcBef>
                <a:spcPts val="0"/>
              </a:spcBef>
              <a:spcAft>
                <a:spcPts val="0"/>
              </a:spcAft>
            </a:pPr>
            <a:r>
              <a:rPr lang="fr-FR" sz="1800" b="0">
                <a:solidFill>
                  <a:srgbClr val="203A32"/>
                </a:solidFill>
                <a:latin typeface="Segoe UI"/>
                <a:ea typeface="Segoe UI"/>
                <a:cs typeface="Tahoma"/>
              </a:rPr>
              <a:t xml:space="preserve">0,5437</a:t>
            </a:r>
            <a:endParaRPr lang="fr-FR" sz="1800"/>
          </a:p>
        </p:txBody>
      </p:sp>
      <p:sp>
        <p:nvSpPr>
          <p:cNvPr id="12" name="text-12"/>
          <p:cNvSpPr txBox="1"/>
          <p:nvPr/>
        </p:nvSpPr>
        <p:spPr>
          <a:xfrm>
            <a:off x="7873365" y="2600325"/>
            <a:ext cx="3670935" cy="514350"/>
          </a:xfrm>
          <a:prstGeom prst="rect">
            <a:avLst/>
          </a:prstGeom>
          <a:noFill/>
          <a:ln>
            <a:noFill/>
          </a:ln>
        </p:spPr>
        <p:txBody>
          <a:bodyPr wrap="none" lIns="0" tIns="0" rIns="0" bIns="0" anchor="t"/>
          <a:lstStyle/>
          <a:p>
            <a:pPr algn="l">
              <a:lnSpc>
                <a:spcPts val="2250"/>
              </a:lnSpc>
              <a:spcBef>
                <a:spcPts val="0"/>
              </a:spcBef>
              <a:spcAft>
                <a:spcPts val="0"/>
              </a:spcAft>
            </a:pPr>
            <a:r>
              <a:rPr lang="fr-FR" sz="1800" b="0">
                <a:solidFill>
                  <a:srgbClr val="203A32"/>
                </a:solidFill>
                <a:latin typeface="Segoe UI"/>
                <a:ea typeface="Segoe UI"/>
                <a:cs typeface="Tahoma"/>
              </a:rPr>
              <a:t xml:space="preserve">0,0769</a:t>
            </a:r>
            <a:endParaRPr lang="fr-FR" sz="1800"/>
          </a:p>
        </p:txBody>
      </p:sp>
      <p:sp>
        <p:nvSpPr>
          <p:cNvPr id="13" name="rect-13"/>
          <p:cNvSpPr txBox="1"/>
          <p:nvPr/>
        </p:nvSpPr>
        <p:spPr>
          <a:xfrm>
            <a:off x="552450" y="3114675"/>
            <a:ext cx="11087100" cy="542925"/>
          </a:xfrm>
          <a:prstGeom prst="rect">
            <a:avLst/>
          </a:prstGeom>
          <a:solidFill>
            <a:srgbClr val="EBEEE6"/>
          </a:solidFill>
          <a:ln>
            <a:noFill/>
          </a:ln>
        </p:spPr>
      </p:sp>
      <p:sp>
        <p:nvSpPr>
          <p:cNvPr id="14" name="text-14"/>
          <p:cNvSpPr txBox="1"/>
          <p:nvPr/>
        </p:nvSpPr>
        <p:spPr>
          <a:xfrm>
            <a:off x="666750" y="3143250"/>
            <a:ext cx="3116580" cy="514350"/>
          </a:xfrm>
          <a:prstGeom prst="rect">
            <a:avLst/>
          </a:prstGeom>
          <a:noFill/>
          <a:ln>
            <a:noFill/>
          </a:ln>
        </p:spPr>
        <p:txBody>
          <a:bodyPr wrap="none" lIns="0" tIns="0" rIns="0" bIns="0" anchor="t"/>
          <a:lstStyle/>
          <a:p>
            <a:pPr algn="l">
              <a:lnSpc>
                <a:spcPts val="2250"/>
              </a:lnSpc>
              <a:spcBef>
                <a:spcPts val="0"/>
              </a:spcBef>
              <a:spcAft>
                <a:spcPts val="0"/>
              </a:spcAft>
            </a:pPr>
            <a:r>
              <a:rPr lang="fr-FR" sz="1800" b="0">
                <a:solidFill>
                  <a:srgbClr val="203A32"/>
                </a:solidFill>
                <a:latin typeface="Segoe UI"/>
                <a:ea typeface="Segoe UI"/>
                <a:cs typeface="Tahoma"/>
              </a:rPr>
              <a:t xml:space="preserve">C</a:t>
            </a:r>
            <a:endParaRPr lang="fr-FR" sz="1800"/>
          </a:p>
        </p:txBody>
      </p:sp>
      <p:sp>
        <p:nvSpPr>
          <p:cNvPr id="15" name="text-15"/>
          <p:cNvSpPr txBox="1"/>
          <p:nvPr/>
        </p:nvSpPr>
        <p:spPr>
          <a:xfrm>
            <a:off x="3992880" y="3143250"/>
            <a:ext cx="3670935" cy="514350"/>
          </a:xfrm>
          <a:prstGeom prst="rect">
            <a:avLst/>
          </a:prstGeom>
          <a:noFill/>
          <a:ln>
            <a:noFill/>
          </a:ln>
        </p:spPr>
        <p:txBody>
          <a:bodyPr wrap="none" lIns="0" tIns="0" rIns="0" bIns="0" anchor="t"/>
          <a:lstStyle/>
          <a:p>
            <a:pPr algn="l">
              <a:lnSpc>
                <a:spcPts val="2250"/>
              </a:lnSpc>
              <a:spcBef>
                <a:spcPts val="0"/>
              </a:spcBef>
              <a:spcAft>
                <a:spcPts val="0"/>
              </a:spcAft>
            </a:pPr>
            <a:r>
              <a:rPr lang="fr-FR" sz="1800" b="0">
                <a:solidFill>
                  <a:srgbClr val="203A32"/>
                </a:solidFill>
                <a:latin typeface="Segoe UI"/>
                <a:ea typeface="Segoe UI"/>
                <a:cs typeface="Tahoma"/>
              </a:rPr>
              <a:t xml:space="preserve">0,5591</a:t>
            </a:r>
            <a:endParaRPr lang="fr-FR" sz="1800"/>
          </a:p>
        </p:txBody>
      </p:sp>
      <p:sp>
        <p:nvSpPr>
          <p:cNvPr id="16" name="text-16"/>
          <p:cNvSpPr txBox="1"/>
          <p:nvPr/>
        </p:nvSpPr>
        <p:spPr>
          <a:xfrm>
            <a:off x="7873365" y="3143250"/>
            <a:ext cx="3670935" cy="514350"/>
          </a:xfrm>
          <a:prstGeom prst="rect">
            <a:avLst/>
          </a:prstGeom>
          <a:noFill/>
          <a:ln>
            <a:noFill/>
          </a:ln>
        </p:spPr>
        <p:txBody>
          <a:bodyPr wrap="none" lIns="0" tIns="0" rIns="0" bIns="0" anchor="t"/>
          <a:lstStyle/>
          <a:p>
            <a:pPr algn="l">
              <a:lnSpc>
                <a:spcPts val="2250"/>
              </a:lnSpc>
              <a:spcBef>
                <a:spcPts val="0"/>
              </a:spcBef>
              <a:spcAft>
                <a:spcPts val="0"/>
              </a:spcAft>
            </a:pPr>
            <a:r>
              <a:rPr lang="fr-FR" sz="1800" b="0">
                <a:solidFill>
                  <a:srgbClr val="203A32"/>
                </a:solidFill>
                <a:latin typeface="Segoe UI"/>
                <a:ea typeface="Segoe UI"/>
                <a:cs typeface="Tahoma"/>
              </a:rPr>
              <a:t xml:space="preserve">0,1538</a:t>
            </a:r>
            <a:endParaRPr lang="fr-FR" sz="1800"/>
          </a:p>
        </p:txBody>
      </p:sp>
      <p:sp>
        <p:nvSpPr>
          <p:cNvPr id="17" name="rect-17"/>
          <p:cNvSpPr txBox="1"/>
          <p:nvPr/>
        </p:nvSpPr>
        <p:spPr>
          <a:xfrm>
            <a:off x="552450" y="3657600"/>
            <a:ext cx="11087100" cy="542925"/>
          </a:xfrm>
          <a:prstGeom prst="rect">
            <a:avLst/>
          </a:prstGeom>
          <a:solidFill>
            <a:srgbClr val="FFFFFF"/>
          </a:solidFill>
          <a:ln>
            <a:noFill/>
          </a:ln>
        </p:spPr>
      </p:sp>
      <p:sp>
        <p:nvSpPr>
          <p:cNvPr id="18" name="text-18"/>
          <p:cNvSpPr txBox="1"/>
          <p:nvPr/>
        </p:nvSpPr>
        <p:spPr>
          <a:xfrm>
            <a:off x="666750" y="3686175"/>
            <a:ext cx="3116580" cy="514350"/>
          </a:xfrm>
          <a:prstGeom prst="rect">
            <a:avLst/>
          </a:prstGeom>
          <a:noFill/>
          <a:ln>
            <a:noFill/>
          </a:ln>
        </p:spPr>
        <p:txBody>
          <a:bodyPr wrap="none" lIns="0" tIns="0" rIns="0" bIns="0" anchor="t"/>
          <a:lstStyle/>
          <a:p>
            <a:pPr algn="l">
              <a:lnSpc>
                <a:spcPts val="2250"/>
              </a:lnSpc>
              <a:spcBef>
                <a:spcPts val="0"/>
              </a:spcBef>
              <a:spcAft>
                <a:spcPts val="0"/>
              </a:spcAft>
            </a:pPr>
            <a:r>
              <a:rPr lang="fr-FR" sz="1800" b="0">
                <a:solidFill>
                  <a:srgbClr val="203A32"/>
                </a:solidFill>
                <a:latin typeface="Segoe UI"/>
                <a:ea typeface="Segoe UI"/>
                <a:cs typeface="Tahoma"/>
              </a:rPr>
              <a:t xml:space="preserve">D</a:t>
            </a:r>
            <a:endParaRPr lang="fr-FR" sz="1800"/>
          </a:p>
        </p:txBody>
      </p:sp>
      <p:sp>
        <p:nvSpPr>
          <p:cNvPr id="19" name="text-19"/>
          <p:cNvSpPr txBox="1"/>
          <p:nvPr/>
        </p:nvSpPr>
        <p:spPr>
          <a:xfrm>
            <a:off x="3992880" y="3686175"/>
            <a:ext cx="3670935" cy="514350"/>
          </a:xfrm>
          <a:prstGeom prst="rect">
            <a:avLst/>
          </a:prstGeom>
          <a:noFill/>
          <a:ln>
            <a:noFill/>
          </a:ln>
        </p:spPr>
        <p:txBody>
          <a:bodyPr wrap="none" lIns="0" tIns="0" rIns="0" bIns="0" anchor="t"/>
          <a:lstStyle/>
          <a:p>
            <a:pPr algn="l">
              <a:lnSpc>
                <a:spcPts val="2250"/>
              </a:lnSpc>
              <a:spcBef>
                <a:spcPts val="0"/>
              </a:spcBef>
              <a:spcAft>
                <a:spcPts val="0"/>
              </a:spcAft>
            </a:pPr>
            <a:r>
              <a:rPr lang="fr-FR" sz="1800" b="0">
                <a:solidFill>
                  <a:srgbClr val="203A32"/>
                </a:solidFill>
                <a:latin typeface="Segoe UI"/>
                <a:ea typeface="Segoe UI"/>
                <a:cs typeface="Tahoma"/>
              </a:rPr>
              <a:t xml:space="preserve">0,6035</a:t>
            </a:r>
            <a:endParaRPr lang="fr-FR" sz="1800"/>
          </a:p>
        </p:txBody>
      </p:sp>
      <p:sp>
        <p:nvSpPr>
          <p:cNvPr id="20" name="text-20"/>
          <p:cNvSpPr txBox="1"/>
          <p:nvPr/>
        </p:nvSpPr>
        <p:spPr>
          <a:xfrm>
            <a:off x="7873365" y="3686175"/>
            <a:ext cx="3670935" cy="514350"/>
          </a:xfrm>
          <a:prstGeom prst="rect">
            <a:avLst/>
          </a:prstGeom>
          <a:noFill/>
          <a:ln>
            <a:noFill/>
          </a:ln>
        </p:spPr>
        <p:txBody>
          <a:bodyPr wrap="none" lIns="0" tIns="0" rIns="0" bIns="0" anchor="t"/>
          <a:lstStyle/>
          <a:p>
            <a:pPr algn="l">
              <a:lnSpc>
                <a:spcPts val="2250"/>
              </a:lnSpc>
              <a:spcBef>
                <a:spcPts val="0"/>
              </a:spcBef>
              <a:spcAft>
                <a:spcPts val="0"/>
              </a:spcAft>
            </a:pPr>
            <a:r>
              <a:rPr lang="fr-FR" sz="1800" b="0">
                <a:solidFill>
                  <a:srgbClr val="203A32"/>
                </a:solidFill>
                <a:latin typeface="Segoe UI"/>
                <a:ea typeface="Segoe UI"/>
                <a:cs typeface="Tahoma"/>
              </a:rPr>
              <a:t xml:space="preserve">0,1935</a:t>
            </a:r>
            <a:endParaRPr lang="fr-FR" sz="1800"/>
          </a:p>
        </p:txBody>
      </p:sp>
      <p:sp>
        <p:nvSpPr>
          <p:cNvPr id="21" name="rect-21"/>
          <p:cNvSpPr txBox="1"/>
          <p:nvPr/>
        </p:nvSpPr>
        <p:spPr>
          <a:xfrm>
            <a:off x="552450" y="4200525"/>
            <a:ext cx="11087100" cy="542925"/>
          </a:xfrm>
          <a:prstGeom prst="rect">
            <a:avLst/>
          </a:prstGeom>
          <a:solidFill>
            <a:srgbClr val="EBEEE6"/>
          </a:solidFill>
          <a:ln>
            <a:noFill/>
          </a:ln>
        </p:spPr>
      </p:sp>
      <p:sp>
        <p:nvSpPr>
          <p:cNvPr id="22" name="text-22"/>
          <p:cNvSpPr txBox="1"/>
          <p:nvPr/>
        </p:nvSpPr>
        <p:spPr>
          <a:xfrm>
            <a:off x="666750" y="4229100"/>
            <a:ext cx="3116580" cy="514350"/>
          </a:xfrm>
          <a:prstGeom prst="rect">
            <a:avLst/>
          </a:prstGeom>
          <a:noFill/>
          <a:ln>
            <a:noFill/>
          </a:ln>
        </p:spPr>
        <p:txBody>
          <a:bodyPr wrap="none" lIns="0" tIns="0" rIns="0" bIns="0" anchor="t"/>
          <a:lstStyle/>
          <a:p>
            <a:pPr algn="l">
              <a:lnSpc>
                <a:spcPts val="2250"/>
              </a:lnSpc>
              <a:spcBef>
                <a:spcPts val="0"/>
              </a:spcBef>
              <a:spcAft>
                <a:spcPts val="0"/>
              </a:spcAft>
            </a:pPr>
            <a:r>
              <a:rPr lang="fr-FR" sz="1800" b="0">
                <a:solidFill>
                  <a:srgbClr val="203A32"/>
                </a:solidFill>
                <a:latin typeface="Segoe UI"/>
                <a:ea typeface="Segoe UI"/>
                <a:cs typeface="Tahoma"/>
              </a:rPr>
              <a:t xml:space="preserve">E1</a:t>
            </a:r>
            <a:endParaRPr lang="fr-FR" sz="1800"/>
          </a:p>
        </p:txBody>
      </p:sp>
      <p:sp>
        <p:nvSpPr>
          <p:cNvPr id="23" name="text-23"/>
          <p:cNvSpPr txBox="1"/>
          <p:nvPr/>
        </p:nvSpPr>
        <p:spPr>
          <a:xfrm>
            <a:off x="3992880" y="4229100"/>
            <a:ext cx="3670935" cy="514350"/>
          </a:xfrm>
          <a:prstGeom prst="rect">
            <a:avLst/>
          </a:prstGeom>
          <a:noFill/>
          <a:ln>
            <a:noFill/>
          </a:ln>
        </p:spPr>
        <p:txBody>
          <a:bodyPr wrap="none" lIns="0" tIns="0" rIns="0" bIns="0" anchor="t"/>
          <a:lstStyle/>
          <a:p>
            <a:pPr algn="l">
              <a:lnSpc>
                <a:spcPts val="2250"/>
              </a:lnSpc>
              <a:spcBef>
                <a:spcPts val="0"/>
              </a:spcBef>
              <a:spcAft>
                <a:spcPts val="0"/>
              </a:spcAft>
            </a:pPr>
            <a:r>
              <a:rPr lang="fr-FR" sz="1800" b="0">
                <a:solidFill>
                  <a:srgbClr val="203A32"/>
                </a:solidFill>
                <a:latin typeface="Segoe UI"/>
                <a:ea typeface="Segoe UI"/>
                <a:cs typeface="Tahoma"/>
              </a:rPr>
              <a:t xml:space="preserve">0,6318</a:t>
            </a:r>
            <a:endParaRPr lang="fr-FR" sz="1800"/>
          </a:p>
        </p:txBody>
      </p:sp>
      <p:sp>
        <p:nvSpPr>
          <p:cNvPr id="24" name="text-24"/>
          <p:cNvSpPr txBox="1"/>
          <p:nvPr/>
        </p:nvSpPr>
        <p:spPr>
          <a:xfrm>
            <a:off x="7873365" y="4229100"/>
            <a:ext cx="3670935" cy="514350"/>
          </a:xfrm>
          <a:prstGeom prst="rect">
            <a:avLst/>
          </a:prstGeom>
          <a:noFill/>
          <a:ln>
            <a:noFill/>
          </a:ln>
        </p:spPr>
        <p:txBody>
          <a:bodyPr wrap="none" lIns="0" tIns="0" rIns="0" bIns="0" anchor="t"/>
          <a:lstStyle/>
          <a:p>
            <a:pPr algn="l">
              <a:lnSpc>
                <a:spcPts val="2250"/>
              </a:lnSpc>
              <a:spcBef>
                <a:spcPts val="0"/>
              </a:spcBef>
              <a:spcAft>
                <a:spcPts val="0"/>
              </a:spcAft>
            </a:pPr>
            <a:r>
              <a:rPr lang="fr-FR" sz="1800" b="0">
                <a:solidFill>
                  <a:srgbClr val="203A32"/>
                </a:solidFill>
                <a:latin typeface="Segoe UI"/>
                <a:ea typeface="Segoe UI"/>
                <a:cs typeface="Tahoma"/>
              </a:rPr>
              <a:t xml:space="preserve">0,2424</a:t>
            </a:r>
            <a:endParaRPr lang="fr-FR" sz="1800"/>
          </a:p>
        </p:txBody>
      </p:sp>
      <p:sp>
        <p:nvSpPr>
          <p:cNvPr id="25" name="rect-25"/>
          <p:cNvSpPr txBox="1"/>
          <p:nvPr/>
        </p:nvSpPr>
        <p:spPr>
          <a:xfrm>
            <a:off x="552450" y="4743450"/>
            <a:ext cx="11087100" cy="542925"/>
          </a:xfrm>
          <a:prstGeom prst="rect">
            <a:avLst/>
          </a:prstGeom>
          <a:solidFill>
            <a:srgbClr val="FFFFFF"/>
          </a:solidFill>
          <a:ln>
            <a:noFill/>
          </a:ln>
        </p:spPr>
      </p:sp>
      <p:sp>
        <p:nvSpPr>
          <p:cNvPr id="26" name="text-26"/>
          <p:cNvSpPr txBox="1"/>
          <p:nvPr/>
        </p:nvSpPr>
        <p:spPr>
          <a:xfrm>
            <a:off x="666750" y="4772025"/>
            <a:ext cx="3116580" cy="514350"/>
          </a:xfrm>
          <a:prstGeom prst="rect">
            <a:avLst/>
          </a:prstGeom>
          <a:noFill/>
          <a:ln>
            <a:noFill/>
          </a:ln>
        </p:spPr>
        <p:txBody>
          <a:bodyPr wrap="none" lIns="0" tIns="0" rIns="0" bIns="0" anchor="t"/>
          <a:lstStyle/>
          <a:p>
            <a:pPr algn="l">
              <a:lnSpc>
                <a:spcPts val="2250"/>
              </a:lnSpc>
              <a:spcBef>
                <a:spcPts val="0"/>
              </a:spcBef>
              <a:spcAft>
                <a:spcPts val="0"/>
              </a:spcAft>
            </a:pPr>
            <a:r>
              <a:rPr lang="fr-FR" sz="1800" b="0">
                <a:solidFill>
                  <a:srgbClr val="203A32"/>
                </a:solidFill>
                <a:latin typeface="Segoe UI"/>
                <a:ea typeface="Segoe UI"/>
                <a:cs typeface="Tahoma"/>
              </a:rPr>
              <a:t xml:space="preserve">E2</a:t>
            </a:r>
            <a:endParaRPr lang="fr-FR" sz="1800"/>
          </a:p>
        </p:txBody>
      </p:sp>
      <p:sp>
        <p:nvSpPr>
          <p:cNvPr id="27" name="text-27"/>
          <p:cNvSpPr txBox="1"/>
          <p:nvPr/>
        </p:nvSpPr>
        <p:spPr>
          <a:xfrm>
            <a:off x="3992880" y="4772025"/>
            <a:ext cx="3670935" cy="514350"/>
          </a:xfrm>
          <a:prstGeom prst="rect">
            <a:avLst/>
          </a:prstGeom>
          <a:noFill/>
          <a:ln>
            <a:noFill/>
          </a:ln>
        </p:spPr>
        <p:txBody>
          <a:bodyPr wrap="none" lIns="0" tIns="0" rIns="0" bIns="0" anchor="t"/>
          <a:lstStyle/>
          <a:p>
            <a:pPr algn="l">
              <a:lnSpc>
                <a:spcPts val="2250"/>
              </a:lnSpc>
              <a:spcBef>
                <a:spcPts val="0"/>
              </a:spcBef>
              <a:spcAft>
                <a:spcPts val="0"/>
              </a:spcAft>
            </a:pPr>
            <a:r>
              <a:rPr lang="fr-FR" sz="1800" b="0">
                <a:solidFill>
                  <a:srgbClr val="203A32"/>
                </a:solidFill>
                <a:latin typeface="Segoe UI"/>
                <a:ea typeface="Segoe UI"/>
                <a:cs typeface="Tahoma"/>
              </a:rPr>
              <a:t xml:space="preserve">0,6301</a:t>
            </a:r>
            <a:endParaRPr lang="fr-FR" sz="1800"/>
          </a:p>
        </p:txBody>
      </p:sp>
      <p:sp>
        <p:nvSpPr>
          <p:cNvPr id="28" name="text-28"/>
          <p:cNvSpPr txBox="1"/>
          <p:nvPr/>
        </p:nvSpPr>
        <p:spPr>
          <a:xfrm>
            <a:off x="7873365" y="4772025"/>
            <a:ext cx="3670935" cy="514350"/>
          </a:xfrm>
          <a:prstGeom prst="rect">
            <a:avLst/>
          </a:prstGeom>
          <a:noFill/>
          <a:ln>
            <a:noFill/>
          </a:ln>
        </p:spPr>
        <p:txBody>
          <a:bodyPr wrap="none" lIns="0" tIns="0" rIns="0" bIns="0" anchor="t"/>
          <a:lstStyle/>
          <a:p>
            <a:pPr algn="l">
              <a:lnSpc>
                <a:spcPts val="2250"/>
              </a:lnSpc>
              <a:spcBef>
                <a:spcPts val="0"/>
              </a:spcBef>
              <a:spcAft>
                <a:spcPts val="0"/>
              </a:spcAft>
            </a:pPr>
            <a:r>
              <a:rPr lang="fr-FR" sz="1800" b="0">
                <a:solidFill>
                  <a:srgbClr val="203A32"/>
                </a:solidFill>
                <a:latin typeface="Segoe UI"/>
                <a:ea typeface="Segoe UI"/>
                <a:cs typeface="Tahoma"/>
              </a:rPr>
              <a:t xml:space="preserve">0,2581</a:t>
            </a:r>
            <a:endParaRPr lang="fr-FR" sz="1800"/>
          </a:p>
        </p:txBody>
      </p:sp>
      <p:sp>
        <p:nvSpPr>
          <p:cNvPr id="29" name="rect-29"/>
          <p:cNvSpPr txBox="1"/>
          <p:nvPr/>
        </p:nvSpPr>
        <p:spPr>
          <a:xfrm>
            <a:off x="552450" y="5810250"/>
            <a:ext cx="11087100" cy="542925"/>
          </a:xfrm>
          <a:prstGeom prst="rect">
            <a:avLst/>
          </a:prstGeom>
          <a:solidFill>
            <a:srgbClr val="DDE7D6"/>
          </a:solidFill>
          <a:ln>
            <a:noFill/>
          </a:ln>
        </p:spPr>
      </p:sp>
      <p:sp>
        <p:nvSpPr>
          <p:cNvPr id="30" name="text-30"/>
          <p:cNvSpPr txBox="1"/>
          <p:nvPr/>
        </p:nvSpPr>
        <p:spPr>
          <a:xfrm>
            <a:off x="723900" y="5857875"/>
            <a:ext cx="10715625" cy="476250"/>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285D4B"/>
                </a:solidFill>
                <a:latin typeface="Segoe UI"/>
                <a:ea typeface="Segoe UI"/>
                <a:cs typeface="Tahoma"/>
              </a:rPr>
              <a:t xml:space="preserve">Avec URL : 16 positifs / 440 tweets. Sans URL : 805 / 2 560. Ce contraste ne mesure pas un effet causal isolé des URL.</a:t>
            </a:r>
            <a:endParaRPr lang="fr-FR" sz="1350"/>
          </a:p>
        </p:txBody>
      </p:sp>
      <p:cxnSp>
        <p:nvCxnSpPr>
          <p:cNvPr id="31" name="line-31"/>
          <p:cNvCxnSpPr/>
          <p:nvPr/>
        </p:nvCxnSpPr>
        <p:spPr>
          <a:xfrm>
            <a:off x="552450" y="6505575"/>
            <a:ext cx="11087100" cy="0"/>
          </a:xfrm>
          <a:prstGeom prst="line">
            <a:avLst/>
          </a:prstGeom>
          <a:ln w="9525">
            <a:solidFill>
              <a:srgbClr val="D4DBCE"/>
            </a:solidFill>
          </a:ln>
        </p:spPr>
      </p:cxnSp>
      <p:sp>
        <p:nvSpPr>
          <p:cNvPr id="32" name="text-32"/>
          <p:cNvSpPr txBox="1"/>
          <p:nvPr/>
        </p:nvSpPr>
        <p:spPr>
          <a:xfrm>
            <a:off x="552450" y="6572250"/>
            <a:ext cx="8572500" cy="219075"/>
          </a:xfrm>
          <a:prstGeom prst="rect">
            <a:avLst/>
          </a:prstGeom>
          <a:noFill/>
          <a:ln>
            <a:noFill/>
          </a:ln>
        </p:spPr>
        <p:txBody>
          <a:bodyPr wrap="none" lIns="0" tIns="0" rIns="0" bIns="0" anchor="t"/>
          <a:lstStyle/>
          <a:p>
            <a:pPr algn="l">
              <a:lnSpc>
                <a:spcPts val="1125"/>
              </a:lnSpc>
              <a:spcBef>
                <a:spcPts val="0"/>
              </a:spcBef>
              <a:spcAft>
                <a:spcPts val="0"/>
              </a:spcAft>
            </a:pPr>
            <a:r>
              <a:rPr lang="fr-FR" sz="900" b="0">
                <a:solidFill>
                  <a:srgbClr val="64736B"/>
                </a:solidFill>
                <a:latin typeface="Segoe UI"/>
                <a:ea typeface="Segoe UI"/>
                <a:cs typeface="Tahoma"/>
              </a:rPr>
              <a:t xml:space="preserve">LMA3NA · Omar Elkhali · BDIOT</a:t>
            </a:r>
            <a:endParaRPr lang="fr-FR" sz="900"/>
          </a:p>
        </p:txBody>
      </p:sp>
      <p:sp>
        <p:nvSpPr>
          <p:cNvPr id="33" name="text-33"/>
          <p:cNvSpPr txBox="1"/>
          <p:nvPr/>
        </p:nvSpPr>
        <p:spPr>
          <a:xfrm>
            <a:off x="10763250" y="6572250"/>
            <a:ext cx="876300" cy="219075"/>
          </a:xfrm>
          <a:prstGeom prst="rect">
            <a:avLst/>
          </a:prstGeom>
          <a:noFill/>
          <a:ln>
            <a:noFill/>
          </a:ln>
        </p:spPr>
        <p:txBody>
          <a:bodyPr wrap="none" lIns="0" tIns="0" rIns="0" bIns="0" anchor="t"/>
          <a:lstStyle/>
          <a:p>
            <a:pPr algn="r">
              <a:lnSpc>
                <a:spcPts val="1125"/>
              </a:lnSpc>
              <a:spcBef>
                <a:spcPts val="0"/>
              </a:spcBef>
              <a:spcAft>
                <a:spcPts val="0"/>
              </a:spcAft>
            </a:pPr>
            <a:r>
              <a:rPr lang="fr-FR" sz="900" b="0">
                <a:solidFill>
                  <a:srgbClr val="64736B"/>
                </a:solidFill>
                <a:latin typeface="Segoe UI"/>
                <a:ea typeface="Segoe UI"/>
                <a:cs typeface="Tahoma"/>
              </a:rPr>
              <a:t xml:space="preserve">23 / 38</a:t>
            </a:r>
            <a:endParaRPr lang="fr-FR" sz="900"/>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5F4EE"/>
        </a:solidFill>
        <a:effectLst/>
      </p:bgPr>
    </p:bg>
    <p:spTree>
      <p:nvGrpSpPr>
        <p:cNvPr id="1" name=""/>
        <p:cNvGrpSpPr/>
        <p:nvPr/>
      </p:nvGrpSpPr>
      <p:grpSpPr>
        <a:xfrm>
          <a:off x="0" y="0"/>
          <a:ext cx="0" cy="0"/>
          <a:chOff x="0" y="0"/>
          <a:chExt cx="0" cy="0"/>
        </a:xfrm>
      </p:grpSpPr>
      <p:sp>
        <p:nvSpPr>
          <p:cNvPr id="2" name="rect-2"/>
          <p:cNvSpPr txBox="1"/>
          <p:nvPr/>
        </p:nvSpPr>
        <p:spPr>
          <a:xfrm>
            <a:off x="552450" y="361950"/>
            <a:ext cx="400050" cy="38100"/>
          </a:xfrm>
          <a:prstGeom prst="rect">
            <a:avLst/>
          </a:prstGeom>
          <a:solidFill>
            <a:srgbClr val="E6A477"/>
          </a:solidFill>
          <a:ln>
            <a:noFill/>
          </a:ln>
        </p:spPr>
      </p:sp>
      <p:sp>
        <p:nvSpPr>
          <p:cNvPr id="3" name="text-3"/>
          <p:cNvSpPr txBox="1"/>
          <p:nvPr/>
        </p:nvSpPr>
        <p:spPr>
          <a:xfrm>
            <a:off x="1066800" y="276225"/>
            <a:ext cx="10287000" cy="266700"/>
          </a:xfrm>
          <a:prstGeom prst="rect">
            <a:avLst/>
          </a:prstGeom>
          <a:noFill/>
          <a:ln>
            <a:noFill/>
          </a:ln>
        </p:spPr>
        <p:txBody>
          <a:bodyPr wrap="none" lIns="0" tIns="0" rIns="0" bIns="0" anchor="t"/>
          <a:lstStyle/>
          <a:p>
            <a:pPr algn="l">
              <a:lnSpc>
                <a:spcPts val="1406"/>
              </a:lnSpc>
              <a:spcBef>
                <a:spcPts val="0"/>
              </a:spcBef>
              <a:spcAft>
                <a:spcPts val="0"/>
              </a:spcAft>
            </a:pPr>
            <a:r>
              <a:rPr lang="fr-FR" sz="1125" b="1">
                <a:solidFill>
                  <a:srgbClr val="285D4B"/>
                </a:solidFill>
                <a:latin typeface="Segoe UI"/>
                <a:ea typeface="Segoe UI"/>
                <a:cs typeface="Tahoma"/>
              </a:rPr>
              <a:t xml:space="preserve">06 · ABLATIONS</a:t>
            </a:r>
            <a:endParaRPr lang="fr-FR" sz="1125"/>
          </a:p>
        </p:txBody>
      </p:sp>
      <p:sp>
        <p:nvSpPr>
          <p:cNvPr id="4" name="text-4"/>
          <p:cNvSpPr txBox="1"/>
          <p:nvPr/>
        </p:nvSpPr>
        <p:spPr>
          <a:xfrm>
            <a:off x="552450" y="790575"/>
            <a:ext cx="11087100" cy="1066800"/>
          </a:xfrm>
          <a:prstGeom prst="rect">
            <a:avLst/>
          </a:prstGeom>
          <a:noFill/>
          <a:ln>
            <a:noFill/>
          </a:ln>
        </p:spPr>
        <p:txBody>
          <a:bodyPr wrap="none" lIns="0" tIns="0" rIns="0" bIns="0" anchor="t"/>
          <a:lstStyle/>
          <a:p>
            <a:pPr algn="l">
              <a:lnSpc>
                <a:spcPts val="4031"/>
              </a:lnSpc>
              <a:spcBef>
                <a:spcPts val="0"/>
              </a:spcBef>
              <a:spcAft>
                <a:spcPts val="0"/>
              </a:spcAft>
            </a:pPr>
            <a:r>
              <a:rPr lang="fr-FR" sz="3225" b="1">
                <a:solidFill>
                  <a:srgbClr val="203A32"/>
                </a:solidFill>
                <a:latin typeface="Segoe UI"/>
                <a:ea typeface="Segoe UI"/>
                <a:cs typeface="Tahoma"/>
              </a:rPr>
              <a:t xml:space="preserve">Retirer les indices ne garantit pas de meilleurs résultats</a:t>
            </a:r>
            <a:endParaRPr lang="fr-FR" sz="3225"/>
          </a:p>
        </p:txBody>
      </p:sp>
      <p:pic>
        <p:nvPicPr>
          <p:cNvPr id="5" name="image-5"/>
          <p:cNvPicPr>
            <a:picLocks noChangeAspect="1"/>
          </p:cNvPicPr>
          <p:nvPr/>
        </p:nvPicPr>
        <p:blipFill>
          <a:blip r:embed="rId3"/>
          <a:stretch>
            <a:fillRect/>
          </a:stretch>
        </p:blipFill>
        <p:spPr>
          <a:xfrm>
            <a:off x="781440" y="1933575"/>
            <a:ext cx="7066770" cy="3505200"/>
          </a:xfrm>
          <a:prstGeom prst="rect">
            <a:avLst/>
          </a:prstGeom>
        </p:spPr>
      </p:pic>
      <p:sp>
        <p:nvSpPr>
          <p:cNvPr id="6" name="text-6"/>
          <p:cNvSpPr txBox="1"/>
          <p:nvPr/>
        </p:nvSpPr>
        <p:spPr>
          <a:xfrm>
            <a:off x="8420100" y="2038350"/>
            <a:ext cx="3219450" cy="933450"/>
          </a:xfrm>
          <a:prstGeom prst="rect">
            <a:avLst/>
          </a:prstGeom>
          <a:noFill/>
          <a:ln>
            <a:noFill/>
          </a:ln>
        </p:spPr>
        <p:txBody>
          <a:bodyPr wrap="none" lIns="0" tIns="0" rIns="0" bIns="0" anchor="t"/>
          <a:lstStyle/>
          <a:p>
            <a:pPr algn="l">
              <a:lnSpc>
                <a:spcPts val="2812"/>
              </a:lnSpc>
              <a:spcBef>
                <a:spcPts val="0"/>
              </a:spcBef>
              <a:spcAft>
                <a:spcPts val="0"/>
              </a:spcAft>
            </a:pPr>
            <a:r>
              <a:rPr lang="fr-FR" sz="2250" b="1">
                <a:solidFill>
                  <a:srgbClr val="285D4B"/>
                </a:solidFill>
                <a:latin typeface="Segoe UI"/>
                <a:ea typeface="Segoe UI"/>
                <a:cs typeface="Tahoma"/>
              </a:rPr>
              <a:t xml:space="preserve">E2 sans liens : 0,6199</a:t>
            </a:r>
            <a:endParaRPr lang="fr-FR" sz="2250"/>
          </a:p>
        </p:txBody>
      </p:sp>
      <p:sp>
        <p:nvSpPr>
          <p:cNvPr id="7" name="text-7"/>
          <p:cNvSpPr txBox="1"/>
          <p:nvPr/>
        </p:nvSpPr>
        <p:spPr>
          <a:xfrm>
            <a:off x="8420100" y="3143250"/>
            <a:ext cx="3219450" cy="2333625"/>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64736B"/>
                </a:solidFill>
                <a:latin typeface="Segoe UI"/>
                <a:ea typeface="Segoe UI"/>
                <a:cs typeface="Tahoma"/>
              </a:rPr>
              <a:t xml:space="preserve">La référence E2 graine 42</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obtient 0,6239. Le</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réentraînement sans URL et</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mentions ne montre pas de gain</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dans cette expérience.</a:t>
            </a:r>
            <a:endParaRPr lang="fr-FR" sz="1725"/>
          </a:p>
        </p:txBody>
      </p:sp>
      <p:sp>
        <p:nvSpPr>
          <p:cNvPr id="8" name="rect-8"/>
          <p:cNvSpPr txBox="1"/>
          <p:nvPr/>
        </p:nvSpPr>
        <p:spPr>
          <a:xfrm>
            <a:off x="552450" y="5810250"/>
            <a:ext cx="11087100" cy="542925"/>
          </a:xfrm>
          <a:prstGeom prst="rect">
            <a:avLst/>
          </a:prstGeom>
          <a:solidFill>
            <a:srgbClr val="DDE7D6"/>
          </a:solidFill>
          <a:ln>
            <a:noFill/>
          </a:ln>
        </p:spPr>
      </p:sp>
      <p:sp>
        <p:nvSpPr>
          <p:cNvPr id="9" name="text-9"/>
          <p:cNvSpPr txBox="1"/>
          <p:nvPr/>
        </p:nvSpPr>
        <p:spPr>
          <a:xfrm>
            <a:off x="723900" y="5857875"/>
            <a:ext cx="10715625" cy="476250"/>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285D4B"/>
                </a:solidFill>
                <a:latin typeface="Segoe UI"/>
                <a:ea typeface="Segoe UI"/>
                <a:cs typeface="Tahoma"/>
              </a:rPr>
              <a:t xml:space="preserve">Sans égyptien : 8 522 tweets train. E2 sur les 306 tweets égyptiens test passe de 0,7736 à 0,7674.</a:t>
            </a:r>
            <a:endParaRPr lang="fr-FR" sz="1350"/>
          </a:p>
        </p:txBody>
      </p:sp>
      <p:cxnSp>
        <p:nvCxnSpPr>
          <p:cNvPr id="10" name="line-10"/>
          <p:cNvCxnSpPr/>
          <p:nvPr/>
        </p:nvCxnSpPr>
        <p:spPr>
          <a:xfrm>
            <a:off x="552450" y="6505575"/>
            <a:ext cx="11087100" cy="0"/>
          </a:xfrm>
          <a:prstGeom prst="line">
            <a:avLst/>
          </a:prstGeom>
          <a:ln w="9525">
            <a:solidFill>
              <a:srgbClr val="D4DBCE"/>
            </a:solidFill>
          </a:ln>
        </p:spPr>
      </p:cxnSp>
      <p:sp>
        <p:nvSpPr>
          <p:cNvPr id="11" name="text-11"/>
          <p:cNvSpPr txBox="1"/>
          <p:nvPr/>
        </p:nvSpPr>
        <p:spPr>
          <a:xfrm>
            <a:off x="552450" y="6572250"/>
            <a:ext cx="8572500" cy="219075"/>
          </a:xfrm>
          <a:prstGeom prst="rect">
            <a:avLst/>
          </a:prstGeom>
          <a:noFill/>
          <a:ln>
            <a:noFill/>
          </a:ln>
        </p:spPr>
        <p:txBody>
          <a:bodyPr wrap="none" lIns="0" tIns="0" rIns="0" bIns="0" anchor="t"/>
          <a:lstStyle/>
          <a:p>
            <a:pPr algn="l">
              <a:lnSpc>
                <a:spcPts val="1125"/>
              </a:lnSpc>
              <a:spcBef>
                <a:spcPts val="0"/>
              </a:spcBef>
              <a:spcAft>
                <a:spcPts val="0"/>
              </a:spcAft>
            </a:pPr>
            <a:r>
              <a:rPr lang="fr-FR" sz="900" b="0">
                <a:solidFill>
                  <a:srgbClr val="64736B"/>
                </a:solidFill>
                <a:latin typeface="Segoe UI"/>
                <a:ea typeface="Segoe UI"/>
                <a:cs typeface="Tahoma"/>
              </a:rPr>
              <a:t xml:space="preserve">LMA3NA · Omar Elkhali · BDIOT</a:t>
            </a:r>
            <a:endParaRPr lang="fr-FR" sz="900"/>
          </a:p>
        </p:txBody>
      </p:sp>
      <p:sp>
        <p:nvSpPr>
          <p:cNvPr id="12" name="text-12"/>
          <p:cNvSpPr txBox="1"/>
          <p:nvPr/>
        </p:nvSpPr>
        <p:spPr>
          <a:xfrm>
            <a:off x="10763250" y="6572250"/>
            <a:ext cx="876300" cy="219075"/>
          </a:xfrm>
          <a:prstGeom prst="rect">
            <a:avLst/>
          </a:prstGeom>
          <a:noFill/>
          <a:ln>
            <a:noFill/>
          </a:ln>
        </p:spPr>
        <p:txBody>
          <a:bodyPr wrap="none" lIns="0" tIns="0" rIns="0" bIns="0" anchor="t"/>
          <a:lstStyle/>
          <a:p>
            <a:pPr algn="r">
              <a:lnSpc>
                <a:spcPts val="1125"/>
              </a:lnSpc>
              <a:spcBef>
                <a:spcPts val="0"/>
              </a:spcBef>
              <a:spcAft>
                <a:spcPts val="0"/>
              </a:spcAft>
            </a:pPr>
            <a:r>
              <a:rPr lang="fr-FR" sz="900" b="0">
                <a:solidFill>
                  <a:srgbClr val="64736B"/>
                </a:solidFill>
                <a:latin typeface="Segoe UI"/>
                <a:ea typeface="Segoe UI"/>
                <a:cs typeface="Tahoma"/>
              </a:rPr>
              <a:t xml:space="preserve">24 / 38</a:t>
            </a:r>
            <a:endParaRPr lang="fr-FR" sz="900"/>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5F4EE"/>
        </a:solidFill>
        <a:effectLst/>
      </p:bgPr>
    </p:bg>
    <p:spTree>
      <p:nvGrpSpPr>
        <p:cNvPr id="1" name=""/>
        <p:cNvGrpSpPr/>
        <p:nvPr/>
      </p:nvGrpSpPr>
      <p:grpSpPr>
        <a:xfrm>
          <a:off x="0" y="0"/>
          <a:ext cx="0" cy="0"/>
          <a:chOff x="0" y="0"/>
          <a:chExt cx="0" cy="0"/>
        </a:xfrm>
      </p:grpSpPr>
      <p:sp>
        <p:nvSpPr>
          <p:cNvPr id="2" name="rect-2"/>
          <p:cNvSpPr txBox="1"/>
          <p:nvPr/>
        </p:nvSpPr>
        <p:spPr>
          <a:xfrm>
            <a:off x="552450" y="361950"/>
            <a:ext cx="400050" cy="38100"/>
          </a:xfrm>
          <a:prstGeom prst="rect">
            <a:avLst/>
          </a:prstGeom>
          <a:solidFill>
            <a:srgbClr val="E6A477"/>
          </a:solidFill>
          <a:ln>
            <a:noFill/>
          </a:ln>
        </p:spPr>
      </p:sp>
      <p:sp>
        <p:nvSpPr>
          <p:cNvPr id="3" name="text-3"/>
          <p:cNvSpPr txBox="1"/>
          <p:nvPr/>
        </p:nvSpPr>
        <p:spPr>
          <a:xfrm>
            <a:off x="1066800" y="276225"/>
            <a:ext cx="10287000" cy="266700"/>
          </a:xfrm>
          <a:prstGeom prst="rect">
            <a:avLst/>
          </a:prstGeom>
          <a:noFill/>
          <a:ln>
            <a:noFill/>
          </a:ln>
        </p:spPr>
        <p:txBody>
          <a:bodyPr wrap="none" lIns="0" tIns="0" rIns="0" bIns="0" anchor="t"/>
          <a:lstStyle/>
          <a:p>
            <a:pPr algn="l">
              <a:lnSpc>
                <a:spcPts val="1406"/>
              </a:lnSpc>
              <a:spcBef>
                <a:spcPts val="0"/>
              </a:spcBef>
              <a:spcAft>
                <a:spcPts val="0"/>
              </a:spcAft>
            </a:pPr>
            <a:r>
              <a:rPr lang="fr-FR" sz="1125" b="1">
                <a:solidFill>
                  <a:srgbClr val="285D4B"/>
                </a:solidFill>
                <a:latin typeface="Segoe UI"/>
                <a:ea typeface="Segoe UI"/>
                <a:cs typeface="Tahoma"/>
              </a:rPr>
              <a:t xml:space="preserve">06 · DIALECTES</a:t>
            </a:r>
            <a:endParaRPr lang="fr-FR" sz="1125"/>
          </a:p>
        </p:txBody>
      </p:sp>
      <p:sp>
        <p:nvSpPr>
          <p:cNvPr id="4" name="text-4"/>
          <p:cNvSpPr txBox="1"/>
          <p:nvPr/>
        </p:nvSpPr>
        <p:spPr>
          <a:xfrm>
            <a:off x="552450" y="790575"/>
            <a:ext cx="11087100" cy="1066800"/>
          </a:xfrm>
          <a:prstGeom prst="rect">
            <a:avLst/>
          </a:prstGeom>
          <a:noFill/>
          <a:ln>
            <a:noFill/>
          </a:ln>
        </p:spPr>
        <p:txBody>
          <a:bodyPr wrap="none" lIns="0" tIns="0" rIns="0" bIns="0" anchor="t"/>
          <a:lstStyle/>
          <a:p>
            <a:pPr algn="l">
              <a:lnSpc>
                <a:spcPts val="4031"/>
              </a:lnSpc>
              <a:spcBef>
                <a:spcPts val="0"/>
              </a:spcBef>
              <a:spcAft>
                <a:spcPts val="0"/>
              </a:spcAft>
            </a:pPr>
            <a:r>
              <a:rPr lang="fr-FR" sz="3225" b="1">
                <a:solidFill>
                  <a:srgbClr val="203A32"/>
                </a:solidFill>
                <a:latin typeface="Segoe UI"/>
                <a:ea typeface="Segoe UI"/>
                <a:cs typeface="Tahoma"/>
              </a:rPr>
              <a:t xml:space="preserve">Les dialectes rares limitent les conclusions de</a:t>
            </a:r>
            <a:endParaRPr lang="fr-FR" sz="3225"/>
          </a:p>
          <a:p>
            <a:pPr algn="l">
              <a:lnSpc>
                <a:spcPts val="4031"/>
              </a:lnSpc>
              <a:spcBef>
                <a:spcPts val="0"/>
              </a:spcBef>
              <a:spcAft>
                <a:spcPts val="0"/>
              </a:spcAft>
            </a:pPr>
            <a:r>
              <a:rPr lang="fr-FR" sz="3225" b="1">
                <a:solidFill>
                  <a:srgbClr val="203A32"/>
                </a:solidFill>
                <a:latin typeface="Segoe UI"/>
                <a:ea typeface="Segoe UI"/>
                <a:cs typeface="Tahoma"/>
              </a:rPr>
              <a:t xml:space="preserve">déploiement</a:t>
            </a:r>
            <a:endParaRPr lang="fr-FR" sz="3225"/>
          </a:p>
        </p:txBody>
      </p:sp>
      <p:sp>
        <p:nvSpPr>
          <p:cNvPr id="5" name="rect-5"/>
          <p:cNvSpPr txBox="1"/>
          <p:nvPr/>
        </p:nvSpPr>
        <p:spPr>
          <a:xfrm>
            <a:off x="552450" y="2028825"/>
            <a:ext cx="11087100" cy="542925"/>
          </a:xfrm>
          <a:prstGeom prst="rect">
            <a:avLst/>
          </a:prstGeom>
          <a:solidFill>
            <a:srgbClr val="285D4B"/>
          </a:solidFill>
          <a:ln>
            <a:noFill/>
          </a:ln>
        </p:spPr>
      </p:sp>
      <p:sp>
        <p:nvSpPr>
          <p:cNvPr id="6" name="text-6"/>
          <p:cNvSpPr txBox="1"/>
          <p:nvPr/>
        </p:nvSpPr>
        <p:spPr>
          <a:xfrm>
            <a:off x="666750" y="2057400"/>
            <a:ext cx="3560064" cy="514350"/>
          </a:xfrm>
          <a:prstGeom prst="rect">
            <a:avLst/>
          </a:prstGeom>
          <a:noFill/>
          <a:ln>
            <a:noFill/>
          </a:ln>
        </p:spPr>
        <p:txBody>
          <a:bodyPr wrap="none" lIns="0" tIns="0" rIns="0" bIns="0" anchor="t"/>
          <a:lstStyle/>
          <a:p>
            <a:pPr algn="l">
              <a:lnSpc>
                <a:spcPts val="2250"/>
              </a:lnSpc>
              <a:spcBef>
                <a:spcPts val="0"/>
              </a:spcBef>
              <a:spcAft>
                <a:spcPts val="0"/>
              </a:spcAft>
            </a:pPr>
            <a:r>
              <a:rPr lang="fr-FR" sz="1800" b="1">
                <a:solidFill>
                  <a:srgbClr val="FFFFFF"/>
                </a:solidFill>
                <a:latin typeface="Segoe UI"/>
                <a:ea typeface="Segoe UI"/>
                <a:cs typeface="Tahoma"/>
              </a:rPr>
              <a:t xml:space="preserve">Dialecte</a:t>
            </a:r>
            <a:endParaRPr lang="fr-FR" sz="1800"/>
          </a:p>
        </p:txBody>
      </p:sp>
      <p:sp>
        <p:nvSpPr>
          <p:cNvPr id="7" name="text-7"/>
          <p:cNvSpPr txBox="1"/>
          <p:nvPr/>
        </p:nvSpPr>
        <p:spPr>
          <a:xfrm>
            <a:off x="4436364" y="2057400"/>
            <a:ext cx="2229612" cy="514350"/>
          </a:xfrm>
          <a:prstGeom prst="rect">
            <a:avLst/>
          </a:prstGeom>
          <a:noFill/>
          <a:ln>
            <a:noFill/>
          </a:ln>
        </p:spPr>
        <p:txBody>
          <a:bodyPr wrap="none" lIns="0" tIns="0" rIns="0" bIns="0" anchor="t"/>
          <a:lstStyle/>
          <a:p>
            <a:pPr algn="l">
              <a:lnSpc>
                <a:spcPts val="2250"/>
              </a:lnSpc>
              <a:spcBef>
                <a:spcPts val="0"/>
              </a:spcBef>
              <a:spcAft>
                <a:spcPts val="0"/>
              </a:spcAft>
            </a:pPr>
            <a:r>
              <a:rPr lang="fr-FR" sz="1800" b="1">
                <a:solidFill>
                  <a:srgbClr val="FFFFFF"/>
                </a:solidFill>
                <a:latin typeface="Segoe UI"/>
                <a:ea typeface="Segoe UI"/>
                <a:cs typeface="Tahoma"/>
              </a:rPr>
              <a:t xml:space="preserve">Train nettoyé</a:t>
            </a:r>
            <a:endParaRPr lang="fr-FR" sz="1800"/>
          </a:p>
        </p:txBody>
      </p:sp>
      <p:sp>
        <p:nvSpPr>
          <p:cNvPr id="8" name="text-8"/>
          <p:cNvSpPr txBox="1"/>
          <p:nvPr/>
        </p:nvSpPr>
        <p:spPr>
          <a:xfrm>
            <a:off x="6875526" y="2057400"/>
            <a:ext cx="2229612" cy="514350"/>
          </a:xfrm>
          <a:prstGeom prst="rect">
            <a:avLst/>
          </a:prstGeom>
          <a:noFill/>
          <a:ln>
            <a:noFill/>
          </a:ln>
        </p:spPr>
        <p:txBody>
          <a:bodyPr wrap="none" lIns="0" tIns="0" rIns="0" bIns="0" anchor="t"/>
          <a:lstStyle/>
          <a:p>
            <a:pPr algn="l">
              <a:lnSpc>
                <a:spcPts val="2250"/>
              </a:lnSpc>
              <a:spcBef>
                <a:spcPts val="0"/>
              </a:spcBef>
              <a:spcAft>
                <a:spcPts val="0"/>
              </a:spcAft>
            </a:pPr>
            <a:r>
              <a:rPr lang="fr-FR" sz="1800" b="1">
                <a:solidFill>
                  <a:srgbClr val="FFFFFF"/>
                </a:solidFill>
                <a:latin typeface="Segoe UI"/>
                <a:ea typeface="Segoe UI"/>
                <a:cs typeface="Tahoma"/>
              </a:rPr>
              <a:t xml:space="preserve">Validation</a:t>
            </a:r>
            <a:endParaRPr lang="fr-FR" sz="1800"/>
          </a:p>
        </p:txBody>
      </p:sp>
      <p:sp>
        <p:nvSpPr>
          <p:cNvPr id="9" name="text-9"/>
          <p:cNvSpPr txBox="1"/>
          <p:nvPr/>
        </p:nvSpPr>
        <p:spPr>
          <a:xfrm>
            <a:off x="9314688" y="2057400"/>
            <a:ext cx="2229612" cy="514350"/>
          </a:xfrm>
          <a:prstGeom prst="rect">
            <a:avLst/>
          </a:prstGeom>
          <a:noFill/>
          <a:ln>
            <a:noFill/>
          </a:ln>
        </p:spPr>
        <p:txBody>
          <a:bodyPr wrap="none" lIns="0" tIns="0" rIns="0" bIns="0" anchor="t"/>
          <a:lstStyle/>
          <a:p>
            <a:pPr algn="l">
              <a:lnSpc>
                <a:spcPts val="2250"/>
              </a:lnSpc>
              <a:spcBef>
                <a:spcPts val="0"/>
              </a:spcBef>
              <a:spcAft>
                <a:spcPts val="0"/>
              </a:spcAft>
            </a:pPr>
            <a:r>
              <a:rPr lang="fr-FR" sz="1800" b="1">
                <a:solidFill>
                  <a:srgbClr val="FFFFFF"/>
                </a:solidFill>
                <a:latin typeface="Segoe UI"/>
                <a:ea typeface="Segoe UI"/>
                <a:cs typeface="Tahoma"/>
              </a:rPr>
              <a:t xml:space="preserve">Test</a:t>
            </a:r>
            <a:endParaRPr lang="fr-FR" sz="1800"/>
          </a:p>
        </p:txBody>
      </p:sp>
      <p:sp>
        <p:nvSpPr>
          <p:cNvPr id="10" name="rect-10"/>
          <p:cNvSpPr txBox="1"/>
          <p:nvPr/>
        </p:nvSpPr>
        <p:spPr>
          <a:xfrm>
            <a:off x="552450" y="2571750"/>
            <a:ext cx="11087100" cy="542925"/>
          </a:xfrm>
          <a:prstGeom prst="rect">
            <a:avLst/>
          </a:prstGeom>
          <a:solidFill>
            <a:srgbClr val="FFFFFF"/>
          </a:solidFill>
          <a:ln>
            <a:noFill/>
          </a:ln>
        </p:spPr>
      </p:sp>
      <p:sp>
        <p:nvSpPr>
          <p:cNvPr id="11" name="text-11"/>
          <p:cNvSpPr txBox="1"/>
          <p:nvPr/>
        </p:nvSpPr>
        <p:spPr>
          <a:xfrm>
            <a:off x="666750" y="2600325"/>
            <a:ext cx="3560064" cy="514350"/>
          </a:xfrm>
          <a:prstGeom prst="rect">
            <a:avLst/>
          </a:prstGeom>
          <a:noFill/>
          <a:ln>
            <a:noFill/>
          </a:ln>
        </p:spPr>
        <p:txBody>
          <a:bodyPr wrap="none" lIns="0" tIns="0" rIns="0" bIns="0" anchor="t"/>
          <a:lstStyle/>
          <a:p>
            <a:pPr algn="l">
              <a:lnSpc>
                <a:spcPts val="2250"/>
              </a:lnSpc>
              <a:spcBef>
                <a:spcPts val="0"/>
              </a:spcBef>
              <a:spcAft>
                <a:spcPts val="0"/>
              </a:spcAft>
            </a:pPr>
            <a:r>
              <a:rPr lang="fr-FR" sz="1800" b="0">
                <a:solidFill>
                  <a:srgbClr val="203A32"/>
                </a:solidFill>
                <a:latin typeface="Segoe UI"/>
                <a:ea typeface="Segoe UI"/>
                <a:cs typeface="Tahoma"/>
              </a:rPr>
              <a:t xml:space="preserve">Égyptien</a:t>
            </a:r>
            <a:endParaRPr lang="fr-FR" sz="1800"/>
          </a:p>
        </p:txBody>
      </p:sp>
      <p:sp>
        <p:nvSpPr>
          <p:cNvPr id="12" name="text-12"/>
          <p:cNvSpPr txBox="1"/>
          <p:nvPr/>
        </p:nvSpPr>
        <p:spPr>
          <a:xfrm>
            <a:off x="4436364" y="2600325"/>
            <a:ext cx="2229612" cy="514350"/>
          </a:xfrm>
          <a:prstGeom prst="rect">
            <a:avLst/>
          </a:prstGeom>
          <a:noFill/>
          <a:ln>
            <a:noFill/>
          </a:ln>
        </p:spPr>
        <p:txBody>
          <a:bodyPr wrap="none" lIns="0" tIns="0" rIns="0" bIns="0" anchor="t"/>
          <a:lstStyle/>
          <a:p>
            <a:pPr algn="l">
              <a:lnSpc>
                <a:spcPts val="2250"/>
              </a:lnSpc>
              <a:spcBef>
                <a:spcPts val="0"/>
              </a:spcBef>
              <a:spcAft>
                <a:spcPts val="0"/>
              </a:spcAft>
            </a:pPr>
            <a:r>
              <a:rPr lang="fr-FR" sz="1800" b="0">
                <a:solidFill>
                  <a:srgbClr val="203A32"/>
                </a:solidFill>
                <a:latin typeface="Segoe UI"/>
                <a:ea typeface="Segoe UI"/>
                <a:cs typeface="Tahoma"/>
              </a:rPr>
              <a:t xml:space="preserve">2 320</a:t>
            </a:r>
            <a:endParaRPr lang="fr-FR" sz="1800"/>
          </a:p>
        </p:txBody>
      </p:sp>
      <p:sp>
        <p:nvSpPr>
          <p:cNvPr id="13" name="text-13"/>
          <p:cNvSpPr txBox="1"/>
          <p:nvPr/>
        </p:nvSpPr>
        <p:spPr>
          <a:xfrm>
            <a:off x="6875526" y="2600325"/>
            <a:ext cx="2229612" cy="514350"/>
          </a:xfrm>
          <a:prstGeom prst="rect">
            <a:avLst/>
          </a:prstGeom>
          <a:noFill/>
          <a:ln>
            <a:noFill/>
          </a:ln>
        </p:spPr>
        <p:txBody>
          <a:bodyPr wrap="none" lIns="0" tIns="0" rIns="0" bIns="0" anchor="t"/>
          <a:lstStyle/>
          <a:p>
            <a:pPr algn="l">
              <a:lnSpc>
                <a:spcPts val="2250"/>
              </a:lnSpc>
              <a:spcBef>
                <a:spcPts val="0"/>
              </a:spcBef>
              <a:spcAft>
                <a:spcPts val="0"/>
              </a:spcAft>
            </a:pPr>
            <a:r>
              <a:rPr lang="fr-FR" sz="1800" b="0">
                <a:solidFill>
                  <a:srgbClr val="203A32"/>
                </a:solidFill>
                <a:latin typeface="Segoe UI"/>
                <a:ea typeface="Segoe UI"/>
                <a:cs typeface="Tahoma"/>
              </a:rPr>
              <a:t xml:space="preserve">260</a:t>
            </a:r>
            <a:endParaRPr lang="fr-FR" sz="1800"/>
          </a:p>
        </p:txBody>
      </p:sp>
      <p:sp>
        <p:nvSpPr>
          <p:cNvPr id="14" name="text-14"/>
          <p:cNvSpPr txBox="1"/>
          <p:nvPr/>
        </p:nvSpPr>
        <p:spPr>
          <a:xfrm>
            <a:off x="9314688" y="2600325"/>
            <a:ext cx="2229612" cy="514350"/>
          </a:xfrm>
          <a:prstGeom prst="rect">
            <a:avLst/>
          </a:prstGeom>
          <a:noFill/>
          <a:ln>
            <a:noFill/>
          </a:ln>
        </p:spPr>
        <p:txBody>
          <a:bodyPr wrap="none" lIns="0" tIns="0" rIns="0" bIns="0" anchor="t"/>
          <a:lstStyle/>
          <a:p>
            <a:pPr algn="l">
              <a:lnSpc>
                <a:spcPts val="2250"/>
              </a:lnSpc>
              <a:spcBef>
                <a:spcPts val="0"/>
              </a:spcBef>
              <a:spcAft>
                <a:spcPts val="0"/>
              </a:spcAft>
            </a:pPr>
            <a:r>
              <a:rPr lang="fr-FR" sz="1800" b="0">
                <a:solidFill>
                  <a:srgbClr val="203A32"/>
                </a:solidFill>
                <a:latin typeface="Segoe UI"/>
                <a:ea typeface="Segoe UI"/>
                <a:cs typeface="Tahoma"/>
              </a:rPr>
              <a:t xml:space="preserve">306</a:t>
            </a:r>
            <a:endParaRPr lang="fr-FR" sz="1800"/>
          </a:p>
        </p:txBody>
      </p:sp>
      <p:sp>
        <p:nvSpPr>
          <p:cNvPr id="15" name="rect-15"/>
          <p:cNvSpPr txBox="1"/>
          <p:nvPr/>
        </p:nvSpPr>
        <p:spPr>
          <a:xfrm>
            <a:off x="552450" y="3114675"/>
            <a:ext cx="11087100" cy="542925"/>
          </a:xfrm>
          <a:prstGeom prst="rect">
            <a:avLst/>
          </a:prstGeom>
          <a:solidFill>
            <a:srgbClr val="EBEEE6"/>
          </a:solidFill>
          <a:ln>
            <a:noFill/>
          </a:ln>
        </p:spPr>
      </p:sp>
      <p:sp>
        <p:nvSpPr>
          <p:cNvPr id="16" name="text-16"/>
          <p:cNvSpPr txBox="1"/>
          <p:nvPr/>
        </p:nvSpPr>
        <p:spPr>
          <a:xfrm>
            <a:off x="666750" y="3143250"/>
            <a:ext cx="3560064" cy="514350"/>
          </a:xfrm>
          <a:prstGeom prst="rect">
            <a:avLst/>
          </a:prstGeom>
          <a:noFill/>
          <a:ln>
            <a:noFill/>
          </a:ln>
        </p:spPr>
        <p:txBody>
          <a:bodyPr wrap="none" lIns="0" tIns="0" rIns="0" bIns="0" anchor="t"/>
          <a:lstStyle/>
          <a:p>
            <a:pPr algn="l">
              <a:lnSpc>
                <a:spcPts val="2250"/>
              </a:lnSpc>
              <a:spcBef>
                <a:spcPts val="0"/>
              </a:spcBef>
              <a:spcAft>
                <a:spcPts val="0"/>
              </a:spcAft>
            </a:pPr>
            <a:r>
              <a:rPr lang="fr-FR" sz="1800" b="0">
                <a:solidFill>
                  <a:srgbClr val="203A32"/>
                </a:solidFill>
                <a:latin typeface="Segoe UI"/>
                <a:ea typeface="Segoe UI"/>
                <a:cs typeface="Tahoma"/>
              </a:rPr>
              <a:t xml:space="preserve">Golfe</a:t>
            </a:r>
            <a:endParaRPr lang="fr-FR" sz="1800"/>
          </a:p>
        </p:txBody>
      </p:sp>
      <p:sp>
        <p:nvSpPr>
          <p:cNvPr id="17" name="text-17"/>
          <p:cNvSpPr txBox="1"/>
          <p:nvPr/>
        </p:nvSpPr>
        <p:spPr>
          <a:xfrm>
            <a:off x="4436364" y="3143250"/>
            <a:ext cx="2229612" cy="514350"/>
          </a:xfrm>
          <a:prstGeom prst="rect">
            <a:avLst/>
          </a:prstGeom>
          <a:noFill/>
          <a:ln>
            <a:noFill/>
          </a:ln>
        </p:spPr>
        <p:txBody>
          <a:bodyPr wrap="none" lIns="0" tIns="0" rIns="0" bIns="0" anchor="t"/>
          <a:lstStyle/>
          <a:p>
            <a:pPr algn="l">
              <a:lnSpc>
                <a:spcPts val="2250"/>
              </a:lnSpc>
              <a:spcBef>
                <a:spcPts val="0"/>
              </a:spcBef>
              <a:spcAft>
                <a:spcPts val="0"/>
              </a:spcAft>
            </a:pPr>
            <a:r>
              <a:rPr lang="fr-FR" sz="1800" b="0">
                <a:solidFill>
                  <a:srgbClr val="203A32"/>
                </a:solidFill>
                <a:latin typeface="Segoe UI"/>
                <a:ea typeface="Segoe UI"/>
                <a:cs typeface="Tahoma"/>
              </a:rPr>
              <a:t xml:space="preserve">511</a:t>
            </a:r>
            <a:endParaRPr lang="fr-FR" sz="1800"/>
          </a:p>
        </p:txBody>
      </p:sp>
      <p:sp>
        <p:nvSpPr>
          <p:cNvPr id="18" name="text-18"/>
          <p:cNvSpPr txBox="1"/>
          <p:nvPr/>
        </p:nvSpPr>
        <p:spPr>
          <a:xfrm>
            <a:off x="6875526" y="3143250"/>
            <a:ext cx="2229612" cy="514350"/>
          </a:xfrm>
          <a:prstGeom prst="rect">
            <a:avLst/>
          </a:prstGeom>
          <a:noFill/>
          <a:ln>
            <a:noFill/>
          </a:ln>
        </p:spPr>
        <p:txBody>
          <a:bodyPr wrap="none" lIns="0" tIns="0" rIns="0" bIns="0" anchor="t"/>
          <a:lstStyle/>
          <a:p>
            <a:pPr algn="l">
              <a:lnSpc>
                <a:spcPts val="2250"/>
              </a:lnSpc>
              <a:spcBef>
                <a:spcPts val="0"/>
              </a:spcBef>
              <a:spcAft>
                <a:spcPts val="0"/>
              </a:spcAft>
            </a:pPr>
            <a:r>
              <a:rPr lang="fr-FR" sz="1800" b="0">
                <a:solidFill>
                  <a:srgbClr val="203A32"/>
                </a:solidFill>
                <a:latin typeface="Segoe UI"/>
                <a:ea typeface="Segoe UI"/>
                <a:cs typeface="Tahoma"/>
              </a:rPr>
              <a:t xml:space="preserve">68</a:t>
            </a:r>
            <a:endParaRPr lang="fr-FR" sz="1800"/>
          </a:p>
        </p:txBody>
      </p:sp>
      <p:sp>
        <p:nvSpPr>
          <p:cNvPr id="19" name="text-19"/>
          <p:cNvSpPr txBox="1"/>
          <p:nvPr/>
        </p:nvSpPr>
        <p:spPr>
          <a:xfrm>
            <a:off x="9314688" y="3143250"/>
            <a:ext cx="2229612" cy="514350"/>
          </a:xfrm>
          <a:prstGeom prst="rect">
            <a:avLst/>
          </a:prstGeom>
          <a:noFill/>
          <a:ln>
            <a:noFill/>
          </a:ln>
        </p:spPr>
        <p:txBody>
          <a:bodyPr wrap="none" lIns="0" tIns="0" rIns="0" bIns="0" anchor="t"/>
          <a:lstStyle/>
          <a:p>
            <a:pPr algn="l">
              <a:lnSpc>
                <a:spcPts val="2250"/>
              </a:lnSpc>
              <a:spcBef>
                <a:spcPts val="0"/>
              </a:spcBef>
              <a:spcAft>
                <a:spcPts val="0"/>
              </a:spcAft>
            </a:pPr>
            <a:r>
              <a:rPr lang="fr-FR" sz="1800" b="0">
                <a:solidFill>
                  <a:srgbClr val="203A32"/>
                </a:solidFill>
                <a:latin typeface="Segoe UI"/>
                <a:ea typeface="Segoe UI"/>
                <a:cs typeface="Tahoma"/>
              </a:rPr>
              <a:t xml:space="preserve">322</a:t>
            </a:r>
            <a:endParaRPr lang="fr-FR" sz="1800"/>
          </a:p>
        </p:txBody>
      </p:sp>
      <p:sp>
        <p:nvSpPr>
          <p:cNvPr id="20" name="rect-20"/>
          <p:cNvSpPr txBox="1"/>
          <p:nvPr/>
        </p:nvSpPr>
        <p:spPr>
          <a:xfrm>
            <a:off x="552450" y="3657600"/>
            <a:ext cx="11087100" cy="542925"/>
          </a:xfrm>
          <a:prstGeom prst="rect">
            <a:avLst/>
          </a:prstGeom>
          <a:solidFill>
            <a:srgbClr val="FFFFFF"/>
          </a:solidFill>
          <a:ln>
            <a:noFill/>
          </a:ln>
        </p:spPr>
      </p:sp>
      <p:sp>
        <p:nvSpPr>
          <p:cNvPr id="21" name="text-21"/>
          <p:cNvSpPr txBox="1"/>
          <p:nvPr/>
        </p:nvSpPr>
        <p:spPr>
          <a:xfrm>
            <a:off x="666750" y="3686175"/>
            <a:ext cx="3560064" cy="514350"/>
          </a:xfrm>
          <a:prstGeom prst="rect">
            <a:avLst/>
          </a:prstGeom>
          <a:noFill/>
          <a:ln>
            <a:noFill/>
          </a:ln>
        </p:spPr>
        <p:txBody>
          <a:bodyPr wrap="none" lIns="0" tIns="0" rIns="0" bIns="0" anchor="t"/>
          <a:lstStyle/>
          <a:p>
            <a:pPr algn="l">
              <a:lnSpc>
                <a:spcPts val="2250"/>
              </a:lnSpc>
              <a:spcBef>
                <a:spcPts val="0"/>
              </a:spcBef>
              <a:spcAft>
                <a:spcPts val="0"/>
              </a:spcAft>
            </a:pPr>
            <a:r>
              <a:rPr lang="fr-FR" sz="1800" b="0">
                <a:solidFill>
                  <a:srgbClr val="203A32"/>
                </a:solidFill>
                <a:latin typeface="Segoe UI"/>
                <a:ea typeface="Segoe UI"/>
                <a:cs typeface="Tahoma"/>
              </a:rPr>
              <a:t xml:space="preserve">Levantin</a:t>
            </a:r>
            <a:endParaRPr lang="fr-FR" sz="1800"/>
          </a:p>
        </p:txBody>
      </p:sp>
      <p:sp>
        <p:nvSpPr>
          <p:cNvPr id="22" name="text-22"/>
          <p:cNvSpPr txBox="1"/>
          <p:nvPr/>
        </p:nvSpPr>
        <p:spPr>
          <a:xfrm>
            <a:off x="4436364" y="3686175"/>
            <a:ext cx="2229612" cy="514350"/>
          </a:xfrm>
          <a:prstGeom prst="rect">
            <a:avLst/>
          </a:prstGeom>
          <a:noFill/>
          <a:ln>
            <a:noFill/>
          </a:ln>
        </p:spPr>
        <p:txBody>
          <a:bodyPr wrap="none" lIns="0" tIns="0" rIns="0" bIns="0" anchor="t"/>
          <a:lstStyle/>
          <a:p>
            <a:pPr algn="l">
              <a:lnSpc>
                <a:spcPts val="2250"/>
              </a:lnSpc>
              <a:spcBef>
                <a:spcPts val="0"/>
              </a:spcBef>
              <a:spcAft>
                <a:spcPts val="0"/>
              </a:spcAft>
            </a:pPr>
            <a:r>
              <a:rPr lang="fr-FR" sz="1800" b="0">
                <a:solidFill>
                  <a:srgbClr val="203A32"/>
                </a:solidFill>
                <a:latin typeface="Segoe UI"/>
                <a:ea typeface="Segoe UI"/>
                <a:cs typeface="Tahoma"/>
              </a:rPr>
              <a:t xml:space="preserve">549</a:t>
            </a:r>
            <a:endParaRPr lang="fr-FR" sz="1800"/>
          </a:p>
        </p:txBody>
      </p:sp>
      <p:sp>
        <p:nvSpPr>
          <p:cNvPr id="23" name="text-23"/>
          <p:cNvSpPr txBox="1"/>
          <p:nvPr/>
        </p:nvSpPr>
        <p:spPr>
          <a:xfrm>
            <a:off x="6875526" y="3686175"/>
            <a:ext cx="2229612" cy="514350"/>
          </a:xfrm>
          <a:prstGeom prst="rect">
            <a:avLst/>
          </a:prstGeom>
          <a:noFill/>
          <a:ln>
            <a:noFill/>
          </a:ln>
        </p:spPr>
        <p:txBody>
          <a:bodyPr wrap="none" lIns="0" tIns="0" rIns="0" bIns="0" anchor="t"/>
          <a:lstStyle/>
          <a:p>
            <a:pPr algn="l">
              <a:lnSpc>
                <a:spcPts val="2250"/>
              </a:lnSpc>
              <a:spcBef>
                <a:spcPts val="0"/>
              </a:spcBef>
              <a:spcAft>
                <a:spcPts val="0"/>
              </a:spcAft>
            </a:pPr>
            <a:r>
              <a:rPr lang="fr-FR" sz="1800" b="0">
                <a:solidFill>
                  <a:srgbClr val="203A32"/>
                </a:solidFill>
                <a:latin typeface="Segoe UI"/>
                <a:ea typeface="Segoe UI"/>
                <a:cs typeface="Tahoma"/>
              </a:rPr>
              <a:t xml:space="preserve">55</a:t>
            </a:r>
            <a:endParaRPr lang="fr-FR" sz="1800"/>
          </a:p>
        </p:txBody>
      </p:sp>
      <p:sp>
        <p:nvSpPr>
          <p:cNvPr id="24" name="text-24"/>
          <p:cNvSpPr txBox="1"/>
          <p:nvPr/>
        </p:nvSpPr>
        <p:spPr>
          <a:xfrm>
            <a:off x="9314688" y="3686175"/>
            <a:ext cx="2229612" cy="514350"/>
          </a:xfrm>
          <a:prstGeom prst="rect">
            <a:avLst/>
          </a:prstGeom>
          <a:noFill/>
          <a:ln>
            <a:noFill/>
          </a:ln>
        </p:spPr>
        <p:txBody>
          <a:bodyPr wrap="none" lIns="0" tIns="0" rIns="0" bIns="0" anchor="t"/>
          <a:lstStyle/>
          <a:p>
            <a:pPr algn="l">
              <a:lnSpc>
                <a:spcPts val="2250"/>
              </a:lnSpc>
              <a:spcBef>
                <a:spcPts val="0"/>
              </a:spcBef>
              <a:spcAft>
                <a:spcPts val="0"/>
              </a:spcAft>
            </a:pPr>
            <a:r>
              <a:rPr lang="fr-FR" sz="1800" b="0">
                <a:solidFill>
                  <a:srgbClr val="203A32"/>
                </a:solidFill>
                <a:latin typeface="Segoe UI"/>
                <a:ea typeface="Segoe UI"/>
                <a:cs typeface="Tahoma"/>
              </a:rPr>
              <a:t xml:space="preserve">47</a:t>
            </a:r>
            <a:endParaRPr lang="fr-FR" sz="1800"/>
          </a:p>
        </p:txBody>
      </p:sp>
      <p:sp>
        <p:nvSpPr>
          <p:cNvPr id="25" name="rect-25"/>
          <p:cNvSpPr txBox="1"/>
          <p:nvPr/>
        </p:nvSpPr>
        <p:spPr>
          <a:xfrm>
            <a:off x="552450" y="4200525"/>
            <a:ext cx="11087100" cy="542925"/>
          </a:xfrm>
          <a:prstGeom prst="rect">
            <a:avLst/>
          </a:prstGeom>
          <a:solidFill>
            <a:srgbClr val="EBEEE6"/>
          </a:solidFill>
          <a:ln>
            <a:noFill/>
          </a:ln>
        </p:spPr>
      </p:sp>
      <p:sp>
        <p:nvSpPr>
          <p:cNvPr id="26" name="text-26"/>
          <p:cNvSpPr txBox="1"/>
          <p:nvPr/>
        </p:nvSpPr>
        <p:spPr>
          <a:xfrm>
            <a:off x="666750" y="4229100"/>
            <a:ext cx="3560064" cy="514350"/>
          </a:xfrm>
          <a:prstGeom prst="rect">
            <a:avLst/>
          </a:prstGeom>
          <a:noFill/>
          <a:ln>
            <a:noFill/>
          </a:ln>
        </p:spPr>
        <p:txBody>
          <a:bodyPr wrap="none" lIns="0" tIns="0" rIns="0" bIns="0" anchor="t"/>
          <a:lstStyle/>
          <a:p>
            <a:pPr algn="l">
              <a:lnSpc>
                <a:spcPts val="2250"/>
              </a:lnSpc>
              <a:spcBef>
                <a:spcPts val="0"/>
              </a:spcBef>
              <a:spcAft>
                <a:spcPts val="0"/>
              </a:spcAft>
            </a:pPr>
            <a:r>
              <a:rPr lang="fr-FR" sz="1800" b="0">
                <a:solidFill>
                  <a:srgbClr val="203A32"/>
                </a:solidFill>
                <a:latin typeface="Segoe UI"/>
                <a:ea typeface="Segoe UI"/>
                <a:cs typeface="Tahoma"/>
              </a:rPr>
              <a:t xml:space="preserve">Maghrébin</a:t>
            </a:r>
            <a:endParaRPr lang="fr-FR" sz="1800"/>
          </a:p>
        </p:txBody>
      </p:sp>
      <p:sp>
        <p:nvSpPr>
          <p:cNvPr id="27" name="text-27"/>
          <p:cNvSpPr txBox="1"/>
          <p:nvPr/>
        </p:nvSpPr>
        <p:spPr>
          <a:xfrm>
            <a:off x="4436364" y="4229100"/>
            <a:ext cx="2229612" cy="514350"/>
          </a:xfrm>
          <a:prstGeom prst="rect">
            <a:avLst/>
          </a:prstGeom>
          <a:noFill/>
          <a:ln>
            <a:noFill/>
          </a:ln>
        </p:spPr>
        <p:txBody>
          <a:bodyPr wrap="none" lIns="0" tIns="0" rIns="0" bIns="0" anchor="t"/>
          <a:lstStyle/>
          <a:p>
            <a:pPr algn="l">
              <a:lnSpc>
                <a:spcPts val="2250"/>
              </a:lnSpc>
              <a:spcBef>
                <a:spcPts val="0"/>
              </a:spcBef>
              <a:spcAft>
                <a:spcPts val="0"/>
              </a:spcAft>
            </a:pPr>
            <a:r>
              <a:rPr lang="fr-FR" sz="1800" b="0">
                <a:solidFill>
                  <a:srgbClr val="203A32"/>
                </a:solidFill>
                <a:latin typeface="Segoe UI"/>
                <a:ea typeface="Segoe UI"/>
                <a:cs typeface="Tahoma"/>
              </a:rPr>
              <a:t xml:space="preserve">35</a:t>
            </a:r>
            <a:endParaRPr lang="fr-FR" sz="1800"/>
          </a:p>
        </p:txBody>
      </p:sp>
      <p:sp>
        <p:nvSpPr>
          <p:cNvPr id="28" name="text-28"/>
          <p:cNvSpPr txBox="1"/>
          <p:nvPr/>
        </p:nvSpPr>
        <p:spPr>
          <a:xfrm>
            <a:off x="6875526" y="4229100"/>
            <a:ext cx="2229612" cy="514350"/>
          </a:xfrm>
          <a:prstGeom prst="rect">
            <a:avLst/>
          </a:prstGeom>
          <a:noFill/>
          <a:ln>
            <a:noFill/>
          </a:ln>
        </p:spPr>
        <p:txBody>
          <a:bodyPr wrap="none" lIns="0" tIns="0" rIns="0" bIns="0" anchor="t"/>
          <a:lstStyle/>
          <a:p>
            <a:pPr algn="l">
              <a:lnSpc>
                <a:spcPts val="2250"/>
              </a:lnSpc>
              <a:spcBef>
                <a:spcPts val="0"/>
              </a:spcBef>
              <a:spcAft>
                <a:spcPts val="0"/>
              </a:spcAft>
            </a:pPr>
            <a:r>
              <a:rPr lang="fr-FR" sz="1800" b="0">
                <a:solidFill>
                  <a:srgbClr val="203A32"/>
                </a:solidFill>
                <a:latin typeface="Segoe UI"/>
                <a:ea typeface="Segoe UI"/>
                <a:cs typeface="Tahoma"/>
              </a:rPr>
              <a:t xml:space="preserve">5</a:t>
            </a:r>
            <a:endParaRPr lang="fr-FR" sz="1800"/>
          </a:p>
        </p:txBody>
      </p:sp>
      <p:sp>
        <p:nvSpPr>
          <p:cNvPr id="29" name="text-29"/>
          <p:cNvSpPr txBox="1"/>
          <p:nvPr/>
        </p:nvSpPr>
        <p:spPr>
          <a:xfrm>
            <a:off x="9314688" y="4229100"/>
            <a:ext cx="2229612" cy="514350"/>
          </a:xfrm>
          <a:prstGeom prst="rect">
            <a:avLst/>
          </a:prstGeom>
          <a:noFill/>
          <a:ln>
            <a:noFill/>
          </a:ln>
        </p:spPr>
        <p:txBody>
          <a:bodyPr wrap="none" lIns="0" tIns="0" rIns="0" bIns="0" anchor="t"/>
          <a:lstStyle/>
          <a:p>
            <a:pPr algn="l">
              <a:lnSpc>
                <a:spcPts val="2250"/>
              </a:lnSpc>
              <a:spcBef>
                <a:spcPts val="0"/>
              </a:spcBef>
              <a:spcAft>
                <a:spcPts val="0"/>
              </a:spcAft>
            </a:pPr>
            <a:r>
              <a:rPr lang="fr-FR" sz="1800" b="0">
                <a:solidFill>
                  <a:srgbClr val="203A32"/>
                </a:solidFill>
                <a:latin typeface="Segoe UI"/>
                <a:ea typeface="Segoe UI"/>
                <a:cs typeface="Tahoma"/>
              </a:rPr>
              <a:t xml:space="preserve">2</a:t>
            </a:r>
            <a:endParaRPr lang="fr-FR" sz="1800"/>
          </a:p>
        </p:txBody>
      </p:sp>
      <p:sp>
        <p:nvSpPr>
          <p:cNvPr id="30" name="rect-30"/>
          <p:cNvSpPr txBox="1"/>
          <p:nvPr/>
        </p:nvSpPr>
        <p:spPr>
          <a:xfrm>
            <a:off x="552450" y="4743450"/>
            <a:ext cx="11087100" cy="542925"/>
          </a:xfrm>
          <a:prstGeom prst="rect">
            <a:avLst/>
          </a:prstGeom>
          <a:solidFill>
            <a:srgbClr val="FFFFFF"/>
          </a:solidFill>
          <a:ln>
            <a:noFill/>
          </a:ln>
        </p:spPr>
      </p:sp>
      <p:sp>
        <p:nvSpPr>
          <p:cNvPr id="31" name="text-31"/>
          <p:cNvSpPr txBox="1"/>
          <p:nvPr/>
        </p:nvSpPr>
        <p:spPr>
          <a:xfrm>
            <a:off x="666750" y="4772025"/>
            <a:ext cx="3560064" cy="514350"/>
          </a:xfrm>
          <a:prstGeom prst="rect">
            <a:avLst/>
          </a:prstGeom>
          <a:noFill/>
          <a:ln>
            <a:noFill/>
          </a:ln>
        </p:spPr>
        <p:txBody>
          <a:bodyPr wrap="none" lIns="0" tIns="0" rIns="0" bIns="0" anchor="t"/>
          <a:lstStyle/>
          <a:p>
            <a:pPr algn="l">
              <a:lnSpc>
                <a:spcPts val="2250"/>
              </a:lnSpc>
              <a:spcBef>
                <a:spcPts val="0"/>
              </a:spcBef>
              <a:spcAft>
                <a:spcPts val="0"/>
              </a:spcAft>
            </a:pPr>
            <a:r>
              <a:rPr lang="fr-FR" sz="1800" b="0">
                <a:solidFill>
                  <a:srgbClr val="203A32"/>
                </a:solidFill>
                <a:latin typeface="Segoe UI"/>
                <a:ea typeface="Segoe UI"/>
                <a:cs typeface="Tahoma"/>
              </a:rPr>
              <a:t xml:space="preserve">Arabe standard</a:t>
            </a:r>
            <a:endParaRPr lang="fr-FR" sz="1800"/>
          </a:p>
        </p:txBody>
      </p:sp>
      <p:sp>
        <p:nvSpPr>
          <p:cNvPr id="32" name="text-32"/>
          <p:cNvSpPr txBox="1"/>
          <p:nvPr/>
        </p:nvSpPr>
        <p:spPr>
          <a:xfrm>
            <a:off x="4436364" y="4772025"/>
            <a:ext cx="2229612" cy="514350"/>
          </a:xfrm>
          <a:prstGeom prst="rect">
            <a:avLst/>
          </a:prstGeom>
          <a:noFill/>
          <a:ln>
            <a:noFill/>
          </a:ln>
        </p:spPr>
        <p:txBody>
          <a:bodyPr wrap="none" lIns="0" tIns="0" rIns="0" bIns="0" anchor="t"/>
          <a:lstStyle/>
          <a:p>
            <a:pPr algn="l">
              <a:lnSpc>
                <a:spcPts val="2250"/>
              </a:lnSpc>
              <a:spcBef>
                <a:spcPts val="0"/>
              </a:spcBef>
              <a:spcAft>
                <a:spcPts val="0"/>
              </a:spcAft>
            </a:pPr>
            <a:r>
              <a:rPr lang="fr-FR" sz="1800" b="0">
                <a:solidFill>
                  <a:srgbClr val="203A32"/>
                </a:solidFill>
                <a:latin typeface="Segoe UI"/>
                <a:ea typeface="Segoe UI"/>
                <a:cs typeface="Tahoma"/>
              </a:rPr>
              <a:t xml:space="preserve">7 427</a:t>
            </a:r>
            <a:endParaRPr lang="fr-FR" sz="1800"/>
          </a:p>
        </p:txBody>
      </p:sp>
      <p:sp>
        <p:nvSpPr>
          <p:cNvPr id="33" name="text-33"/>
          <p:cNvSpPr txBox="1"/>
          <p:nvPr/>
        </p:nvSpPr>
        <p:spPr>
          <a:xfrm>
            <a:off x="6875526" y="4772025"/>
            <a:ext cx="2229612" cy="514350"/>
          </a:xfrm>
          <a:prstGeom prst="rect">
            <a:avLst/>
          </a:prstGeom>
          <a:noFill/>
          <a:ln>
            <a:noFill/>
          </a:ln>
        </p:spPr>
        <p:txBody>
          <a:bodyPr wrap="none" lIns="0" tIns="0" rIns="0" bIns="0" anchor="t"/>
          <a:lstStyle/>
          <a:p>
            <a:pPr algn="l">
              <a:lnSpc>
                <a:spcPts val="2250"/>
              </a:lnSpc>
              <a:spcBef>
                <a:spcPts val="0"/>
              </a:spcBef>
              <a:spcAft>
                <a:spcPts val="0"/>
              </a:spcAft>
            </a:pPr>
            <a:r>
              <a:rPr lang="fr-FR" sz="1800" b="0">
                <a:solidFill>
                  <a:srgbClr val="203A32"/>
                </a:solidFill>
                <a:latin typeface="Segoe UI"/>
                <a:ea typeface="Segoe UI"/>
                <a:cs typeface="Tahoma"/>
              </a:rPr>
              <a:t xml:space="preserve">867</a:t>
            </a:r>
            <a:endParaRPr lang="fr-FR" sz="1800"/>
          </a:p>
        </p:txBody>
      </p:sp>
      <p:sp>
        <p:nvSpPr>
          <p:cNvPr id="34" name="text-34"/>
          <p:cNvSpPr txBox="1"/>
          <p:nvPr/>
        </p:nvSpPr>
        <p:spPr>
          <a:xfrm>
            <a:off x="9314688" y="4772025"/>
            <a:ext cx="2229612" cy="514350"/>
          </a:xfrm>
          <a:prstGeom prst="rect">
            <a:avLst/>
          </a:prstGeom>
          <a:noFill/>
          <a:ln>
            <a:noFill/>
          </a:ln>
        </p:spPr>
        <p:txBody>
          <a:bodyPr wrap="none" lIns="0" tIns="0" rIns="0" bIns="0" anchor="t"/>
          <a:lstStyle/>
          <a:p>
            <a:pPr algn="l">
              <a:lnSpc>
                <a:spcPts val="2250"/>
              </a:lnSpc>
              <a:spcBef>
                <a:spcPts val="0"/>
              </a:spcBef>
              <a:spcAft>
                <a:spcPts val="0"/>
              </a:spcAft>
            </a:pPr>
            <a:r>
              <a:rPr lang="fr-FR" sz="1800" b="0">
                <a:solidFill>
                  <a:srgbClr val="203A32"/>
                </a:solidFill>
                <a:latin typeface="Segoe UI"/>
                <a:ea typeface="Segoe UI"/>
                <a:cs typeface="Tahoma"/>
              </a:rPr>
              <a:t xml:space="preserve">2 323</a:t>
            </a:r>
            <a:endParaRPr lang="fr-FR" sz="1800"/>
          </a:p>
        </p:txBody>
      </p:sp>
      <p:sp>
        <p:nvSpPr>
          <p:cNvPr id="35" name="rect-35"/>
          <p:cNvSpPr txBox="1"/>
          <p:nvPr/>
        </p:nvSpPr>
        <p:spPr>
          <a:xfrm>
            <a:off x="552450" y="5810250"/>
            <a:ext cx="11087100" cy="542925"/>
          </a:xfrm>
          <a:prstGeom prst="rect">
            <a:avLst/>
          </a:prstGeom>
          <a:solidFill>
            <a:srgbClr val="DDE7D6"/>
          </a:solidFill>
          <a:ln>
            <a:noFill/>
          </a:ln>
        </p:spPr>
      </p:sp>
      <p:sp>
        <p:nvSpPr>
          <p:cNvPr id="36" name="text-36"/>
          <p:cNvSpPr txBox="1"/>
          <p:nvPr/>
        </p:nvSpPr>
        <p:spPr>
          <a:xfrm>
            <a:off x="723900" y="5857875"/>
            <a:ext cx="10715625" cy="476250"/>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285D4B"/>
                </a:solidFill>
                <a:latin typeface="Segoe UI"/>
                <a:ea typeface="Segoe UI"/>
                <a:cs typeface="Tahoma"/>
              </a:rPr>
              <a:t xml:space="preserve">Les deux tweets maghrébins du test sont négatifs. Ils ne permettent pas d’établir une fiabilité sur la darija.</a:t>
            </a:r>
            <a:endParaRPr lang="fr-FR" sz="1350"/>
          </a:p>
        </p:txBody>
      </p:sp>
      <p:cxnSp>
        <p:nvCxnSpPr>
          <p:cNvPr id="37" name="line-37"/>
          <p:cNvCxnSpPr/>
          <p:nvPr/>
        </p:nvCxnSpPr>
        <p:spPr>
          <a:xfrm>
            <a:off x="552450" y="6505575"/>
            <a:ext cx="11087100" cy="0"/>
          </a:xfrm>
          <a:prstGeom prst="line">
            <a:avLst/>
          </a:prstGeom>
          <a:ln w="9525">
            <a:solidFill>
              <a:srgbClr val="D4DBCE"/>
            </a:solidFill>
          </a:ln>
        </p:spPr>
      </p:cxnSp>
      <p:sp>
        <p:nvSpPr>
          <p:cNvPr id="38" name="text-38"/>
          <p:cNvSpPr txBox="1"/>
          <p:nvPr/>
        </p:nvSpPr>
        <p:spPr>
          <a:xfrm>
            <a:off x="552450" y="6572250"/>
            <a:ext cx="8572500" cy="219075"/>
          </a:xfrm>
          <a:prstGeom prst="rect">
            <a:avLst/>
          </a:prstGeom>
          <a:noFill/>
          <a:ln>
            <a:noFill/>
          </a:ln>
        </p:spPr>
        <p:txBody>
          <a:bodyPr wrap="none" lIns="0" tIns="0" rIns="0" bIns="0" anchor="t"/>
          <a:lstStyle/>
          <a:p>
            <a:pPr algn="l">
              <a:lnSpc>
                <a:spcPts val="1125"/>
              </a:lnSpc>
              <a:spcBef>
                <a:spcPts val="0"/>
              </a:spcBef>
              <a:spcAft>
                <a:spcPts val="0"/>
              </a:spcAft>
            </a:pPr>
            <a:r>
              <a:rPr lang="fr-FR" sz="900" b="0">
                <a:solidFill>
                  <a:srgbClr val="64736B"/>
                </a:solidFill>
                <a:latin typeface="Segoe UI"/>
                <a:ea typeface="Segoe UI"/>
                <a:cs typeface="Tahoma"/>
              </a:rPr>
              <a:t xml:space="preserve">LMA3NA · Omar Elkhali · BDIOT</a:t>
            </a:r>
            <a:endParaRPr lang="fr-FR" sz="900"/>
          </a:p>
        </p:txBody>
      </p:sp>
      <p:sp>
        <p:nvSpPr>
          <p:cNvPr id="39" name="text-39"/>
          <p:cNvSpPr txBox="1"/>
          <p:nvPr/>
        </p:nvSpPr>
        <p:spPr>
          <a:xfrm>
            <a:off x="10763250" y="6572250"/>
            <a:ext cx="876300" cy="219075"/>
          </a:xfrm>
          <a:prstGeom prst="rect">
            <a:avLst/>
          </a:prstGeom>
          <a:noFill/>
          <a:ln>
            <a:noFill/>
          </a:ln>
        </p:spPr>
        <p:txBody>
          <a:bodyPr wrap="none" lIns="0" tIns="0" rIns="0" bIns="0" anchor="t"/>
          <a:lstStyle/>
          <a:p>
            <a:pPr algn="r">
              <a:lnSpc>
                <a:spcPts val="1125"/>
              </a:lnSpc>
              <a:spcBef>
                <a:spcPts val="0"/>
              </a:spcBef>
              <a:spcAft>
                <a:spcPts val="0"/>
              </a:spcAft>
            </a:pPr>
            <a:r>
              <a:rPr lang="fr-FR" sz="900" b="0">
                <a:solidFill>
                  <a:srgbClr val="64736B"/>
                </a:solidFill>
                <a:latin typeface="Segoe UI"/>
                <a:ea typeface="Segoe UI"/>
                <a:cs typeface="Tahoma"/>
              </a:rPr>
              <a:t xml:space="preserve">25 / 38</a:t>
            </a:r>
            <a:endParaRPr lang="fr-FR" sz="900"/>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5F4EE"/>
        </a:solidFill>
        <a:effectLst/>
      </p:bgPr>
    </p:bg>
    <p:spTree>
      <p:nvGrpSpPr>
        <p:cNvPr id="1" name=""/>
        <p:cNvGrpSpPr/>
        <p:nvPr/>
      </p:nvGrpSpPr>
      <p:grpSpPr>
        <a:xfrm>
          <a:off x="0" y="0"/>
          <a:ext cx="0" cy="0"/>
          <a:chOff x="0" y="0"/>
          <a:chExt cx="0" cy="0"/>
        </a:xfrm>
      </p:grpSpPr>
      <p:sp>
        <p:nvSpPr>
          <p:cNvPr id="2" name="rect-2"/>
          <p:cNvSpPr txBox="1"/>
          <p:nvPr/>
        </p:nvSpPr>
        <p:spPr>
          <a:xfrm>
            <a:off x="552450" y="361950"/>
            <a:ext cx="400050" cy="38100"/>
          </a:xfrm>
          <a:prstGeom prst="rect">
            <a:avLst/>
          </a:prstGeom>
          <a:solidFill>
            <a:srgbClr val="E6A477"/>
          </a:solidFill>
          <a:ln>
            <a:noFill/>
          </a:ln>
        </p:spPr>
      </p:sp>
      <p:sp>
        <p:nvSpPr>
          <p:cNvPr id="3" name="text-3"/>
          <p:cNvSpPr txBox="1"/>
          <p:nvPr/>
        </p:nvSpPr>
        <p:spPr>
          <a:xfrm>
            <a:off x="1066800" y="276225"/>
            <a:ext cx="10287000" cy="266700"/>
          </a:xfrm>
          <a:prstGeom prst="rect">
            <a:avLst/>
          </a:prstGeom>
          <a:noFill/>
          <a:ln>
            <a:noFill/>
          </a:ln>
        </p:spPr>
        <p:txBody>
          <a:bodyPr wrap="none" lIns="0" tIns="0" rIns="0" bIns="0" anchor="t"/>
          <a:lstStyle/>
          <a:p>
            <a:pPr algn="l">
              <a:lnSpc>
                <a:spcPts val="1406"/>
              </a:lnSpc>
              <a:spcBef>
                <a:spcPts val="0"/>
              </a:spcBef>
              <a:spcAft>
                <a:spcPts val="0"/>
              </a:spcAft>
            </a:pPr>
            <a:r>
              <a:rPr lang="fr-FR" sz="1125" b="1">
                <a:solidFill>
                  <a:srgbClr val="285D4B"/>
                </a:solidFill>
                <a:latin typeface="Segoe UI"/>
                <a:ea typeface="Segoe UI"/>
                <a:cs typeface="Tahoma"/>
              </a:rPr>
              <a:t xml:space="preserve">06 · INCERTITUDE</a:t>
            </a:r>
            <a:endParaRPr lang="fr-FR" sz="1125"/>
          </a:p>
        </p:txBody>
      </p:sp>
      <p:sp>
        <p:nvSpPr>
          <p:cNvPr id="4" name="text-4"/>
          <p:cNvSpPr txBox="1"/>
          <p:nvPr/>
        </p:nvSpPr>
        <p:spPr>
          <a:xfrm>
            <a:off x="552450" y="790575"/>
            <a:ext cx="11087100" cy="1066800"/>
          </a:xfrm>
          <a:prstGeom prst="rect">
            <a:avLst/>
          </a:prstGeom>
          <a:noFill/>
          <a:ln>
            <a:noFill/>
          </a:ln>
        </p:spPr>
        <p:txBody>
          <a:bodyPr wrap="none" lIns="0" tIns="0" rIns="0" bIns="0" anchor="t"/>
          <a:lstStyle/>
          <a:p>
            <a:pPr algn="l">
              <a:lnSpc>
                <a:spcPts val="4031"/>
              </a:lnSpc>
              <a:spcBef>
                <a:spcPts val="0"/>
              </a:spcBef>
              <a:spcAft>
                <a:spcPts val="0"/>
              </a:spcAft>
            </a:pPr>
            <a:r>
              <a:rPr lang="fr-FR" sz="3225" b="1">
                <a:solidFill>
                  <a:srgbClr val="203A32"/>
                </a:solidFill>
                <a:latin typeface="Segoe UI"/>
                <a:ea typeface="Segoe UI"/>
                <a:cs typeface="Tahoma"/>
              </a:rPr>
              <a:t xml:space="preserve">Les intervalles et les désaccords nuancent le classement</a:t>
            </a:r>
            <a:endParaRPr lang="fr-FR" sz="3225"/>
          </a:p>
        </p:txBody>
      </p:sp>
      <p:sp>
        <p:nvSpPr>
          <p:cNvPr id="5" name="text-5"/>
          <p:cNvSpPr txBox="1"/>
          <p:nvPr/>
        </p:nvSpPr>
        <p:spPr>
          <a:xfrm>
            <a:off x="552450" y="2047875"/>
            <a:ext cx="857250" cy="428625"/>
          </a:xfrm>
          <a:prstGeom prst="rect">
            <a:avLst/>
          </a:prstGeom>
          <a:noFill/>
          <a:ln>
            <a:noFill/>
          </a:ln>
        </p:spPr>
        <p:txBody>
          <a:bodyPr wrap="none" lIns="0" tIns="0" rIns="0" bIns="0" anchor="t"/>
          <a:lstStyle/>
          <a:p>
            <a:pPr algn="l">
              <a:lnSpc>
                <a:spcPts val="2344"/>
              </a:lnSpc>
              <a:spcBef>
                <a:spcPts val="0"/>
              </a:spcBef>
              <a:spcAft>
                <a:spcPts val="0"/>
              </a:spcAft>
            </a:pPr>
            <a:r>
              <a:rPr lang="fr-FR" sz="1875" b="1">
                <a:solidFill>
                  <a:srgbClr val="203A32"/>
                </a:solidFill>
                <a:latin typeface="Segoe UI"/>
                <a:ea typeface="Segoe UI"/>
                <a:cs typeface="Tahoma"/>
              </a:rPr>
              <a:t xml:space="preserve">A</a:t>
            </a:r>
            <a:endParaRPr lang="fr-FR" sz="1875"/>
          </a:p>
        </p:txBody>
      </p:sp>
      <p:cxnSp>
        <p:nvCxnSpPr>
          <p:cNvPr id="6" name="line-6"/>
          <p:cNvCxnSpPr/>
          <p:nvPr/>
        </p:nvCxnSpPr>
        <p:spPr>
          <a:xfrm>
            <a:off x="3468443" y="2228850"/>
            <a:ext cx="1405562" cy="0"/>
          </a:xfrm>
          <a:prstGeom prst="line">
            <a:avLst/>
          </a:prstGeom>
          <a:ln w="66675">
            <a:solidFill>
              <a:srgbClr val="285D4B"/>
            </a:solidFill>
          </a:ln>
        </p:spPr>
      </p:cxnSp>
      <p:sp>
        <p:nvSpPr>
          <p:cNvPr id="7" name="rect-7"/>
          <p:cNvSpPr txBox="1"/>
          <p:nvPr/>
        </p:nvSpPr>
        <p:spPr>
          <a:xfrm>
            <a:off x="4105025" y="2143125"/>
            <a:ext cx="95250" cy="171450"/>
          </a:xfrm>
          <a:prstGeom prst="rect">
            <a:avLst/>
          </a:prstGeom>
          <a:solidFill>
            <a:srgbClr val="E6A477"/>
          </a:solidFill>
          <a:ln>
            <a:noFill/>
          </a:ln>
        </p:spPr>
      </p:sp>
      <p:sp>
        <p:nvSpPr>
          <p:cNvPr id="8" name="text-8"/>
          <p:cNvSpPr txBox="1"/>
          <p:nvPr/>
        </p:nvSpPr>
        <p:spPr>
          <a:xfrm>
            <a:off x="8715375" y="2047875"/>
            <a:ext cx="2857500" cy="428625"/>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64736B"/>
                </a:solidFill>
                <a:latin typeface="Segoe UI"/>
                <a:ea typeface="Segoe UI"/>
                <a:cs typeface="Tahoma"/>
              </a:rPr>
              <a:t xml:space="preserve">[0,5093 ; 0,5660]</a:t>
            </a:r>
            <a:endParaRPr lang="fr-FR" sz="1725"/>
          </a:p>
        </p:txBody>
      </p:sp>
      <p:sp>
        <p:nvSpPr>
          <p:cNvPr id="9" name="text-9"/>
          <p:cNvSpPr txBox="1"/>
          <p:nvPr/>
        </p:nvSpPr>
        <p:spPr>
          <a:xfrm>
            <a:off x="552450" y="2657475"/>
            <a:ext cx="857250" cy="428625"/>
          </a:xfrm>
          <a:prstGeom prst="rect">
            <a:avLst/>
          </a:prstGeom>
          <a:noFill/>
          <a:ln>
            <a:noFill/>
          </a:ln>
        </p:spPr>
        <p:txBody>
          <a:bodyPr wrap="none" lIns="0" tIns="0" rIns="0" bIns="0" anchor="t"/>
          <a:lstStyle/>
          <a:p>
            <a:pPr algn="l">
              <a:lnSpc>
                <a:spcPts val="2344"/>
              </a:lnSpc>
              <a:spcBef>
                <a:spcPts val="0"/>
              </a:spcBef>
              <a:spcAft>
                <a:spcPts val="0"/>
              </a:spcAft>
            </a:pPr>
            <a:r>
              <a:rPr lang="fr-FR" sz="1875" b="1">
                <a:solidFill>
                  <a:srgbClr val="203A32"/>
                </a:solidFill>
                <a:latin typeface="Segoe UI"/>
                <a:ea typeface="Segoe UI"/>
                <a:cs typeface="Tahoma"/>
              </a:rPr>
              <a:t xml:space="preserve">C</a:t>
            </a:r>
            <a:endParaRPr lang="fr-FR" sz="1875"/>
          </a:p>
        </p:txBody>
      </p:sp>
      <p:cxnSp>
        <p:nvCxnSpPr>
          <p:cNvPr id="10" name="line-10"/>
          <p:cNvCxnSpPr/>
          <p:nvPr/>
        </p:nvCxnSpPr>
        <p:spPr>
          <a:xfrm>
            <a:off x="3663393" y="2838450"/>
            <a:ext cx="1381491" cy="0"/>
          </a:xfrm>
          <a:prstGeom prst="line">
            <a:avLst/>
          </a:prstGeom>
          <a:ln w="66675">
            <a:solidFill>
              <a:srgbClr val="285D4B"/>
            </a:solidFill>
          </a:ln>
        </p:spPr>
      </p:cxnSp>
      <p:sp>
        <p:nvSpPr>
          <p:cNvPr id="11" name="rect-11"/>
          <p:cNvSpPr txBox="1"/>
          <p:nvPr/>
        </p:nvSpPr>
        <p:spPr>
          <a:xfrm>
            <a:off x="4299356" y="2752725"/>
            <a:ext cx="95250" cy="171450"/>
          </a:xfrm>
          <a:prstGeom prst="rect">
            <a:avLst/>
          </a:prstGeom>
          <a:solidFill>
            <a:srgbClr val="E6A477"/>
          </a:solidFill>
          <a:ln>
            <a:noFill/>
          </a:ln>
        </p:spPr>
      </p:sp>
      <p:sp>
        <p:nvSpPr>
          <p:cNvPr id="12" name="text-12"/>
          <p:cNvSpPr txBox="1"/>
          <p:nvPr/>
        </p:nvSpPr>
        <p:spPr>
          <a:xfrm>
            <a:off x="8715375" y="2657475"/>
            <a:ext cx="2857500" cy="428625"/>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64736B"/>
                </a:solidFill>
                <a:latin typeface="Segoe UI"/>
                <a:ea typeface="Segoe UI"/>
                <a:cs typeface="Tahoma"/>
              </a:rPr>
              <a:t xml:space="preserve">[0,5172 ; 0,5729]</a:t>
            </a:r>
            <a:endParaRPr lang="fr-FR" sz="1725"/>
          </a:p>
        </p:txBody>
      </p:sp>
      <p:sp>
        <p:nvSpPr>
          <p:cNvPr id="13" name="text-13"/>
          <p:cNvSpPr txBox="1"/>
          <p:nvPr/>
        </p:nvSpPr>
        <p:spPr>
          <a:xfrm>
            <a:off x="552450" y="3267075"/>
            <a:ext cx="857250" cy="428625"/>
          </a:xfrm>
          <a:prstGeom prst="rect">
            <a:avLst/>
          </a:prstGeom>
          <a:noFill/>
          <a:ln>
            <a:noFill/>
          </a:ln>
        </p:spPr>
        <p:txBody>
          <a:bodyPr wrap="none" lIns="0" tIns="0" rIns="0" bIns="0" anchor="t"/>
          <a:lstStyle/>
          <a:p>
            <a:pPr algn="l">
              <a:lnSpc>
                <a:spcPts val="2344"/>
              </a:lnSpc>
              <a:spcBef>
                <a:spcPts val="0"/>
              </a:spcBef>
              <a:spcAft>
                <a:spcPts val="0"/>
              </a:spcAft>
            </a:pPr>
            <a:r>
              <a:rPr lang="fr-FR" sz="1875" b="1">
                <a:solidFill>
                  <a:srgbClr val="203A32"/>
                </a:solidFill>
                <a:latin typeface="Segoe UI"/>
                <a:ea typeface="Segoe UI"/>
                <a:cs typeface="Tahoma"/>
              </a:rPr>
              <a:t xml:space="preserve">D</a:t>
            </a:r>
            <a:endParaRPr lang="fr-FR" sz="1875"/>
          </a:p>
        </p:txBody>
      </p:sp>
      <p:cxnSp>
        <p:nvCxnSpPr>
          <p:cNvPr id="14" name="line-14"/>
          <p:cNvCxnSpPr/>
          <p:nvPr/>
        </p:nvCxnSpPr>
        <p:spPr>
          <a:xfrm>
            <a:off x="4944189" y="3448050"/>
            <a:ext cx="1335750" cy="0"/>
          </a:xfrm>
          <a:prstGeom prst="line">
            <a:avLst/>
          </a:prstGeom>
          <a:ln w="66675">
            <a:solidFill>
              <a:srgbClr val="285D4B"/>
            </a:solidFill>
          </a:ln>
        </p:spPr>
      </p:cxnSp>
      <p:sp>
        <p:nvSpPr>
          <p:cNvPr id="15" name="rect-15"/>
          <p:cNvSpPr txBox="1"/>
          <p:nvPr/>
        </p:nvSpPr>
        <p:spPr>
          <a:xfrm>
            <a:off x="5572946" y="3362325"/>
            <a:ext cx="95250" cy="171450"/>
          </a:xfrm>
          <a:prstGeom prst="rect">
            <a:avLst/>
          </a:prstGeom>
          <a:solidFill>
            <a:srgbClr val="E6A477"/>
          </a:solidFill>
          <a:ln>
            <a:noFill/>
          </a:ln>
        </p:spPr>
      </p:sp>
      <p:sp>
        <p:nvSpPr>
          <p:cNvPr id="16" name="text-16"/>
          <p:cNvSpPr txBox="1"/>
          <p:nvPr/>
        </p:nvSpPr>
        <p:spPr>
          <a:xfrm>
            <a:off x="8715375" y="3267075"/>
            <a:ext cx="2857500" cy="428625"/>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64736B"/>
                </a:solidFill>
                <a:latin typeface="Segoe UI"/>
                <a:ea typeface="Segoe UI"/>
                <a:cs typeface="Tahoma"/>
              </a:rPr>
              <a:t xml:space="preserve">[0,5689 ; 0,6228]</a:t>
            </a:r>
            <a:endParaRPr lang="fr-FR" sz="1725"/>
          </a:p>
        </p:txBody>
      </p:sp>
      <p:sp>
        <p:nvSpPr>
          <p:cNvPr id="17" name="text-17"/>
          <p:cNvSpPr txBox="1"/>
          <p:nvPr/>
        </p:nvSpPr>
        <p:spPr>
          <a:xfrm>
            <a:off x="552450" y="3876675"/>
            <a:ext cx="857250" cy="428625"/>
          </a:xfrm>
          <a:prstGeom prst="rect">
            <a:avLst/>
          </a:prstGeom>
          <a:noFill/>
          <a:ln>
            <a:noFill/>
          </a:ln>
        </p:spPr>
        <p:txBody>
          <a:bodyPr wrap="none" lIns="0" tIns="0" rIns="0" bIns="0" anchor="t"/>
          <a:lstStyle/>
          <a:p>
            <a:pPr algn="l">
              <a:lnSpc>
                <a:spcPts val="2344"/>
              </a:lnSpc>
              <a:spcBef>
                <a:spcPts val="0"/>
              </a:spcBef>
              <a:spcAft>
                <a:spcPts val="0"/>
              </a:spcAft>
            </a:pPr>
            <a:r>
              <a:rPr lang="fr-FR" sz="1875" b="1">
                <a:solidFill>
                  <a:srgbClr val="203A32"/>
                </a:solidFill>
                <a:latin typeface="Segoe UI"/>
                <a:ea typeface="Segoe UI"/>
                <a:cs typeface="Tahoma"/>
              </a:rPr>
              <a:t xml:space="preserve">E1</a:t>
            </a:r>
            <a:endParaRPr lang="fr-FR" sz="1875"/>
          </a:p>
        </p:txBody>
      </p:sp>
      <p:cxnSp>
        <p:nvCxnSpPr>
          <p:cNvPr id="18" name="line-18"/>
          <p:cNvCxnSpPr/>
          <p:nvPr/>
        </p:nvCxnSpPr>
        <p:spPr>
          <a:xfrm>
            <a:off x="5706629" y="4057650"/>
            <a:ext cx="1215417" cy="0"/>
          </a:xfrm>
          <a:prstGeom prst="line">
            <a:avLst/>
          </a:prstGeom>
          <a:ln w="66675">
            <a:solidFill>
              <a:srgbClr val="285D4B"/>
            </a:solidFill>
          </a:ln>
        </p:spPr>
      </p:cxnSp>
      <p:sp>
        <p:nvSpPr>
          <p:cNvPr id="19" name="rect-19"/>
          <p:cNvSpPr txBox="1"/>
          <p:nvPr/>
        </p:nvSpPr>
        <p:spPr>
          <a:xfrm>
            <a:off x="6281423" y="3971925"/>
            <a:ext cx="95250" cy="171450"/>
          </a:xfrm>
          <a:prstGeom prst="rect">
            <a:avLst/>
          </a:prstGeom>
          <a:solidFill>
            <a:srgbClr val="E6A477"/>
          </a:solidFill>
          <a:ln>
            <a:noFill/>
          </a:ln>
        </p:spPr>
      </p:sp>
      <p:sp>
        <p:nvSpPr>
          <p:cNvPr id="20" name="text-20"/>
          <p:cNvSpPr txBox="1"/>
          <p:nvPr/>
        </p:nvSpPr>
        <p:spPr>
          <a:xfrm>
            <a:off x="8715375" y="3876675"/>
            <a:ext cx="2857500" cy="428625"/>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64736B"/>
                </a:solidFill>
                <a:latin typeface="Segoe UI"/>
                <a:ea typeface="Segoe UI"/>
                <a:cs typeface="Tahoma"/>
              </a:rPr>
              <a:t xml:space="preserve">[0,5997 ; 0,6487]</a:t>
            </a:r>
            <a:endParaRPr lang="fr-FR" sz="1725"/>
          </a:p>
        </p:txBody>
      </p:sp>
      <p:sp>
        <p:nvSpPr>
          <p:cNvPr id="21" name="text-21"/>
          <p:cNvSpPr txBox="1"/>
          <p:nvPr/>
        </p:nvSpPr>
        <p:spPr>
          <a:xfrm>
            <a:off x="552450" y="4486275"/>
            <a:ext cx="857250" cy="428625"/>
          </a:xfrm>
          <a:prstGeom prst="rect">
            <a:avLst/>
          </a:prstGeom>
          <a:noFill/>
          <a:ln>
            <a:noFill/>
          </a:ln>
        </p:spPr>
        <p:txBody>
          <a:bodyPr wrap="none" lIns="0" tIns="0" rIns="0" bIns="0" anchor="t"/>
          <a:lstStyle/>
          <a:p>
            <a:pPr algn="l">
              <a:lnSpc>
                <a:spcPts val="2344"/>
              </a:lnSpc>
              <a:spcBef>
                <a:spcPts val="0"/>
              </a:spcBef>
              <a:spcAft>
                <a:spcPts val="0"/>
              </a:spcAft>
            </a:pPr>
            <a:r>
              <a:rPr lang="fr-FR" sz="1875" b="1">
                <a:solidFill>
                  <a:srgbClr val="203A32"/>
                </a:solidFill>
                <a:latin typeface="Segoe UI"/>
                <a:ea typeface="Segoe UI"/>
                <a:cs typeface="Tahoma"/>
              </a:rPr>
              <a:t xml:space="preserve">E2</a:t>
            </a:r>
            <a:endParaRPr lang="fr-FR" sz="1875"/>
          </a:p>
        </p:txBody>
      </p:sp>
      <p:cxnSp>
        <p:nvCxnSpPr>
          <p:cNvPr id="22" name="line-22"/>
          <p:cNvCxnSpPr/>
          <p:nvPr/>
        </p:nvCxnSpPr>
        <p:spPr>
          <a:xfrm>
            <a:off x="5669829" y="4667250"/>
            <a:ext cx="1272822" cy="0"/>
          </a:xfrm>
          <a:prstGeom prst="line">
            <a:avLst/>
          </a:prstGeom>
          <a:ln w="66675">
            <a:solidFill>
              <a:srgbClr val="285D4B"/>
            </a:solidFill>
          </a:ln>
        </p:spPr>
      </p:cxnSp>
      <p:sp>
        <p:nvSpPr>
          <p:cNvPr id="23" name="rect-23"/>
          <p:cNvSpPr txBox="1"/>
          <p:nvPr/>
        </p:nvSpPr>
        <p:spPr>
          <a:xfrm>
            <a:off x="6260051" y="4581525"/>
            <a:ext cx="95250" cy="171450"/>
          </a:xfrm>
          <a:prstGeom prst="rect">
            <a:avLst/>
          </a:prstGeom>
          <a:solidFill>
            <a:srgbClr val="E6A477"/>
          </a:solidFill>
          <a:ln>
            <a:noFill/>
          </a:ln>
        </p:spPr>
      </p:sp>
      <p:sp>
        <p:nvSpPr>
          <p:cNvPr id="24" name="text-24"/>
          <p:cNvSpPr txBox="1"/>
          <p:nvPr/>
        </p:nvSpPr>
        <p:spPr>
          <a:xfrm>
            <a:off x="8715375" y="4486275"/>
            <a:ext cx="2857500" cy="428625"/>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64736B"/>
                </a:solidFill>
                <a:latin typeface="Segoe UI"/>
                <a:ea typeface="Segoe UI"/>
                <a:cs typeface="Tahoma"/>
              </a:rPr>
              <a:t xml:space="preserve">[0,5982 ; 0,6496]</a:t>
            </a:r>
            <a:endParaRPr lang="fr-FR" sz="1725"/>
          </a:p>
        </p:txBody>
      </p:sp>
      <p:sp>
        <p:nvSpPr>
          <p:cNvPr id="25" name="text-25"/>
          <p:cNvSpPr txBox="1"/>
          <p:nvPr/>
        </p:nvSpPr>
        <p:spPr>
          <a:xfrm>
            <a:off x="552450" y="5381625"/>
            <a:ext cx="11049000" cy="342900"/>
          </a:xfrm>
          <a:prstGeom prst="rect">
            <a:avLst/>
          </a:prstGeom>
          <a:noFill/>
          <a:ln>
            <a:noFill/>
          </a:ln>
        </p:spPr>
        <p:txBody>
          <a:bodyPr wrap="none" lIns="0" tIns="0" rIns="0" bIns="0" anchor="t"/>
          <a:lstStyle/>
          <a:p>
            <a:pPr algn="l">
              <a:lnSpc>
                <a:spcPts val="1594"/>
              </a:lnSpc>
              <a:spcBef>
                <a:spcPts val="0"/>
              </a:spcBef>
              <a:spcAft>
                <a:spcPts val="0"/>
              </a:spcAft>
            </a:pPr>
            <a:r>
              <a:rPr lang="fr-FR" sz="1275" b="0">
                <a:solidFill>
                  <a:srgbClr val="64736B"/>
                </a:solidFill>
                <a:latin typeface="Segoe UI"/>
                <a:ea typeface="Segoe UI"/>
                <a:cs typeface="Tahoma"/>
              </a:rPr>
              <a:t xml:space="preserve">Axe F1 agrandi : 0,45 à 0,70. Bootstrap 1 000 réplications, IC à 95 %, graine 42.</a:t>
            </a:r>
            <a:endParaRPr lang="fr-FR" sz="1275"/>
          </a:p>
        </p:txBody>
      </p:sp>
      <p:sp>
        <p:nvSpPr>
          <p:cNvPr id="26" name="rect-26"/>
          <p:cNvSpPr txBox="1"/>
          <p:nvPr/>
        </p:nvSpPr>
        <p:spPr>
          <a:xfrm>
            <a:off x="552450" y="5810250"/>
            <a:ext cx="11087100" cy="542925"/>
          </a:xfrm>
          <a:prstGeom prst="rect">
            <a:avLst/>
          </a:prstGeom>
          <a:solidFill>
            <a:srgbClr val="DDE7D6"/>
          </a:solidFill>
          <a:ln>
            <a:noFill/>
          </a:ln>
        </p:spPr>
      </p:sp>
      <p:sp>
        <p:nvSpPr>
          <p:cNvPr id="27" name="text-27"/>
          <p:cNvSpPr txBox="1"/>
          <p:nvPr/>
        </p:nvSpPr>
        <p:spPr>
          <a:xfrm>
            <a:off x="723900" y="5857875"/>
            <a:ext cx="10715625" cy="476250"/>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285D4B"/>
                </a:solidFill>
                <a:latin typeface="Segoe UI"/>
                <a:ea typeface="Segoe UI"/>
                <a:cs typeface="Tahoma"/>
              </a:rPr>
              <a:t xml:space="preserve">McNemar exact E2 / D2 : 151 contre 156 erreurs gagnées, p = 0,8195. Ce test ne compare pas directement les F1.</a:t>
            </a:r>
            <a:endParaRPr lang="fr-FR" sz="1350"/>
          </a:p>
        </p:txBody>
      </p:sp>
      <p:cxnSp>
        <p:nvCxnSpPr>
          <p:cNvPr id="28" name="line-28"/>
          <p:cNvCxnSpPr/>
          <p:nvPr/>
        </p:nvCxnSpPr>
        <p:spPr>
          <a:xfrm>
            <a:off x="552450" y="6505575"/>
            <a:ext cx="11087100" cy="0"/>
          </a:xfrm>
          <a:prstGeom prst="line">
            <a:avLst/>
          </a:prstGeom>
          <a:ln w="9525">
            <a:solidFill>
              <a:srgbClr val="D4DBCE"/>
            </a:solidFill>
          </a:ln>
        </p:spPr>
      </p:cxnSp>
      <p:sp>
        <p:nvSpPr>
          <p:cNvPr id="29" name="text-29"/>
          <p:cNvSpPr txBox="1"/>
          <p:nvPr/>
        </p:nvSpPr>
        <p:spPr>
          <a:xfrm>
            <a:off x="552450" y="6572250"/>
            <a:ext cx="8572500" cy="219075"/>
          </a:xfrm>
          <a:prstGeom prst="rect">
            <a:avLst/>
          </a:prstGeom>
          <a:noFill/>
          <a:ln>
            <a:noFill/>
          </a:ln>
        </p:spPr>
        <p:txBody>
          <a:bodyPr wrap="none" lIns="0" tIns="0" rIns="0" bIns="0" anchor="t"/>
          <a:lstStyle/>
          <a:p>
            <a:pPr algn="l">
              <a:lnSpc>
                <a:spcPts val="1125"/>
              </a:lnSpc>
              <a:spcBef>
                <a:spcPts val="0"/>
              </a:spcBef>
              <a:spcAft>
                <a:spcPts val="0"/>
              </a:spcAft>
            </a:pPr>
            <a:r>
              <a:rPr lang="fr-FR" sz="900" b="0">
                <a:solidFill>
                  <a:srgbClr val="64736B"/>
                </a:solidFill>
                <a:latin typeface="Segoe UI"/>
                <a:ea typeface="Segoe UI"/>
                <a:cs typeface="Tahoma"/>
              </a:rPr>
              <a:t xml:space="preserve">LMA3NA · Omar Elkhali · BDIOT</a:t>
            </a:r>
            <a:endParaRPr lang="fr-FR" sz="900"/>
          </a:p>
        </p:txBody>
      </p:sp>
      <p:sp>
        <p:nvSpPr>
          <p:cNvPr id="30" name="text-30"/>
          <p:cNvSpPr txBox="1"/>
          <p:nvPr/>
        </p:nvSpPr>
        <p:spPr>
          <a:xfrm>
            <a:off x="10763250" y="6572250"/>
            <a:ext cx="876300" cy="219075"/>
          </a:xfrm>
          <a:prstGeom prst="rect">
            <a:avLst/>
          </a:prstGeom>
          <a:noFill/>
          <a:ln>
            <a:noFill/>
          </a:ln>
        </p:spPr>
        <p:txBody>
          <a:bodyPr wrap="none" lIns="0" tIns="0" rIns="0" bIns="0" anchor="t"/>
          <a:lstStyle/>
          <a:p>
            <a:pPr algn="r">
              <a:lnSpc>
                <a:spcPts val="1125"/>
              </a:lnSpc>
              <a:spcBef>
                <a:spcPts val="0"/>
              </a:spcBef>
              <a:spcAft>
                <a:spcPts val="0"/>
              </a:spcAft>
            </a:pPr>
            <a:r>
              <a:rPr lang="fr-FR" sz="900" b="0">
                <a:solidFill>
                  <a:srgbClr val="64736B"/>
                </a:solidFill>
                <a:latin typeface="Segoe UI"/>
                <a:ea typeface="Segoe UI"/>
                <a:cs typeface="Tahoma"/>
              </a:rPr>
              <a:t xml:space="preserve">26 / 38</a:t>
            </a:r>
            <a:endParaRPr lang="fr-FR" sz="900"/>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5F4EE"/>
        </a:solidFill>
        <a:effectLst/>
      </p:bgPr>
    </p:bg>
    <p:spTree>
      <p:nvGrpSpPr>
        <p:cNvPr id="1" name=""/>
        <p:cNvGrpSpPr/>
        <p:nvPr/>
      </p:nvGrpSpPr>
      <p:grpSpPr>
        <a:xfrm>
          <a:off x="0" y="0"/>
          <a:ext cx="0" cy="0"/>
          <a:chOff x="0" y="0"/>
          <a:chExt cx="0" cy="0"/>
        </a:xfrm>
      </p:grpSpPr>
      <p:sp>
        <p:nvSpPr>
          <p:cNvPr id="2" name="rect-2"/>
          <p:cNvSpPr txBox="1"/>
          <p:nvPr/>
        </p:nvSpPr>
        <p:spPr>
          <a:xfrm>
            <a:off x="552450" y="361950"/>
            <a:ext cx="400050" cy="38100"/>
          </a:xfrm>
          <a:prstGeom prst="rect">
            <a:avLst/>
          </a:prstGeom>
          <a:solidFill>
            <a:srgbClr val="E6A477"/>
          </a:solidFill>
          <a:ln>
            <a:noFill/>
          </a:ln>
        </p:spPr>
      </p:sp>
      <p:sp>
        <p:nvSpPr>
          <p:cNvPr id="3" name="text-3"/>
          <p:cNvSpPr txBox="1"/>
          <p:nvPr/>
        </p:nvSpPr>
        <p:spPr>
          <a:xfrm>
            <a:off x="1066800" y="276225"/>
            <a:ext cx="10287000" cy="266700"/>
          </a:xfrm>
          <a:prstGeom prst="rect">
            <a:avLst/>
          </a:prstGeom>
          <a:noFill/>
          <a:ln>
            <a:noFill/>
          </a:ln>
        </p:spPr>
        <p:txBody>
          <a:bodyPr wrap="none" lIns="0" tIns="0" rIns="0" bIns="0" anchor="t"/>
          <a:lstStyle/>
          <a:p>
            <a:pPr algn="l">
              <a:lnSpc>
                <a:spcPts val="1406"/>
              </a:lnSpc>
              <a:spcBef>
                <a:spcPts val="0"/>
              </a:spcBef>
              <a:spcAft>
                <a:spcPts val="0"/>
              </a:spcAft>
            </a:pPr>
            <a:r>
              <a:rPr lang="fr-FR" sz="1125" b="1">
                <a:solidFill>
                  <a:srgbClr val="285D4B"/>
                </a:solidFill>
                <a:latin typeface="Segoe UI"/>
                <a:ea typeface="Segoe UI"/>
                <a:cs typeface="Tahoma"/>
              </a:rPr>
              <a:t xml:space="preserve">06 · INTERPRÉTATION</a:t>
            </a:r>
            <a:endParaRPr lang="fr-FR" sz="1125"/>
          </a:p>
        </p:txBody>
      </p:sp>
      <p:sp>
        <p:nvSpPr>
          <p:cNvPr id="4" name="text-4"/>
          <p:cNvSpPr txBox="1"/>
          <p:nvPr/>
        </p:nvSpPr>
        <p:spPr>
          <a:xfrm>
            <a:off x="552450" y="790575"/>
            <a:ext cx="11087100" cy="1066800"/>
          </a:xfrm>
          <a:prstGeom prst="rect">
            <a:avLst/>
          </a:prstGeom>
          <a:noFill/>
          <a:ln>
            <a:noFill/>
          </a:ln>
        </p:spPr>
        <p:txBody>
          <a:bodyPr wrap="none" lIns="0" tIns="0" rIns="0" bIns="0" anchor="t"/>
          <a:lstStyle/>
          <a:p>
            <a:pPr algn="l">
              <a:lnSpc>
                <a:spcPts val="4031"/>
              </a:lnSpc>
              <a:spcBef>
                <a:spcPts val="0"/>
              </a:spcBef>
              <a:spcAft>
                <a:spcPts val="0"/>
              </a:spcAft>
            </a:pPr>
            <a:r>
              <a:rPr lang="fr-FR" sz="3225" b="1">
                <a:solidFill>
                  <a:srgbClr val="203A32"/>
                </a:solidFill>
                <a:latin typeface="Segoe UI"/>
                <a:ea typeface="Segoe UI"/>
                <a:cs typeface="Tahoma"/>
              </a:rPr>
              <a:t xml:space="preserve">L’attention indique des poids, sans prouver la</a:t>
            </a:r>
            <a:endParaRPr lang="fr-FR" sz="3225"/>
          </a:p>
          <a:p>
            <a:pPr algn="l">
              <a:lnSpc>
                <a:spcPts val="4031"/>
              </a:lnSpc>
              <a:spcBef>
                <a:spcPts val="0"/>
              </a:spcBef>
              <a:spcAft>
                <a:spcPts val="0"/>
              </a:spcAft>
            </a:pPr>
            <a:r>
              <a:rPr lang="fr-FR" sz="3225" b="1">
                <a:solidFill>
                  <a:srgbClr val="203A32"/>
                </a:solidFill>
                <a:latin typeface="Segoe UI"/>
                <a:ea typeface="Segoe UI"/>
                <a:cs typeface="Tahoma"/>
              </a:rPr>
              <a:t xml:space="preserve">compréhension</a:t>
            </a:r>
            <a:endParaRPr lang="fr-FR" sz="3225"/>
          </a:p>
        </p:txBody>
      </p:sp>
      <p:pic>
        <p:nvPicPr>
          <p:cNvPr id="5" name="image-5"/>
          <p:cNvPicPr>
            <a:picLocks noChangeAspect="1"/>
          </p:cNvPicPr>
          <p:nvPr/>
        </p:nvPicPr>
        <p:blipFill>
          <a:blip r:embed="rId3"/>
          <a:stretch>
            <a:fillRect/>
          </a:stretch>
        </p:blipFill>
        <p:spPr>
          <a:xfrm>
            <a:off x="1921312" y="1866900"/>
            <a:ext cx="3834526" cy="3838575"/>
          </a:xfrm>
          <a:prstGeom prst="rect">
            <a:avLst/>
          </a:prstGeom>
        </p:spPr>
      </p:pic>
      <p:sp>
        <p:nvSpPr>
          <p:cNvPr id="6" name="text-6"/>
          <p:cNvSpPr txBox="1"/>
          <p:nvPr/>
        </p:nvSpPr>
        <p:spPr>
          <a:xfrm>
            <a:off x="7477125" y="2057400"/>
            <a:ext cx="4143375" cy="809625"/>
          </a:xfrm>
          <a:prstGeom prst="rect">
            <a:avLst/>
          </a:prstGeom>
          <a:noFill/>
          <a:ln>
            <a:noFill/>
          </a:ln>
        </p:spPr>
        <p:txBody>
          <a:bodyPr wrap="none" lIns="0" tIns="0" rIns="0" bIns="0" anchor="t"/>
          <a:lstStyle/>
          <a:p>
            <a:pPr algn="l">
              <a:lnSpc>
                <a:spcPts val="2812"/>
              </a:lnSpc>
              <a:spcBef>
                <a:spcPts val="0"/>
              </a:spcBef>
              <a:spcAft>
                <a:spcPts val="0"/>
              </a:spcAft>
            </a:pPr>
            <a:r>
              <a:rPr lang="fr-FR" sz="2250" b="1">
                <a:solidFill>
                  <a:srgbClr val="285D4B"/>
                </a:solidFill>
                <a:latin typeface="Segoe UI"/>
                <a:ea typeface="Segoe UI"/>
                <a:cs typeface="Tahoma"/>
              </a:rPr>
              <a:t xml:space="preserve">Cinq tweets de validation</a:t>
            </a:r>
            <a:endParaRPr lang="fr-FR" sz="2250"/>
          </a:p>
        </p:txBody>
      </p:sp>
      <p:sp>
        <p:nvSpPr>
          <p:cNvPr id="7" name="text-7"/>
          <p:cNvSpPr txBox="1"/>
          <p:nvPr/>
        </p:nvSpPr>
        <p:spPr>
          <a:xfrm>
            <a:off x="7477125" y="3028950"/>
            <a:ext cx="4143375" cy="2571750"/>
          </a:xfrm>
          <a:prstGeom prst="rect">
            <a:avLst/>
          </a:prstGeom>
          <a:noFill/>
          <a:ln>
            <a:noFill/>
          </a:ln>
        </p:spPr>
        <p:txBody>
          <a:bodyPr wrap="none" lIns="0" tIns="0" rIns="0" bIns="0" anchor="t"/>
          <a:lstStyle/>
          <a:p>
            <a:pPr algn="l">
              <a:lnSpc>
                <a:spcPts val="2250"/>
              </a:lnSpc>
              <a:spcBef>
                <a:spcPts val="0"/>
              </a:spcBef>
              <a:spcAft>
                <a:spcPts val="0"/>
              </a:spcAft>
            </a:pPr>
            <a:r>
              <a:rPr lang="fr-FR" sz="1800" b="0">
                <a:solidFill>
                  <a:srgbClr val="64736B"/>
                </a:solidFill>
                <a:latin typeface="Segoe UI"/>
                <a:ea typeface="Segoe UI"/>
                <a:cs typeface="Tahoma"/>
              </a:rPr>
              <a:t xml:space="preserve">La tête D2 pondère les représentations</a:t>
            </a:r>
            <a:endParaRPr lang="fr-FR" sz="1800"/>
          </a:p>
          <a:p>
            <a:pPr algn="l">
              <a:lnSpc>
                <a:spcPts val="2250"/>
              </a:lnSpc>
              <a:spcBef>
                <a:spcPts val="0"/>
              </a:spcBef>
              <a:spcAft>
                <a:spcPts val="0"/>
              </a:spcAft>
            </a:pPr>
            <a:r>
              <a:rPr lang="fr-FR" sz="1800" b="0">
                <a:solidFill>
                  <a:srgbClr val="64736B"/>
                </a:solidFill>
                <a:latin typeface="Segoe UI"/>
                <a:ea typeface="Segoe UI"/>
                <a:cs typeface="Tahoma"/>
              </a:rPr>
              <a:t xml:space="preserve">des tokens. Des mots de contenu et de</a:t>
            </a:r>
            <a:endParaRPr lang="fr-FR" sz="1800"/>
          </a:p>
          <a:p>
            <a:pPr algn="l">
              <a:lnSpc>
                <a:spcPts val="2250"/>
              </a:lnSpc>
              <a:spcBef>
                <a:spcPts val="0"/>
              </a:spcBef>
              <a:spcAft>
                <a:spcPts val="0"/>
              </a:spcAft>
            </a:pPr>
            <a:r>
              <a:rPr lang="fr-FR" sz="1800" b="0">
                <a:solidFill>
                  <a:srgbClr val="64736B"/>
                </a:solidFill>
                <a:latin typeface="Segoe UI"/>
                <a:ea typeface="Segoe UI"/>
                <a:cs typeface="Tahoma"/>
              </a:rPr>
              <a:t xml:space="preserve">la ponctuation reçoivent de l’attention.</a:t>
            </a:r>
            <a:endParaRPr lang="fr-FR" sz="1800"/>
          </a:p>
          <a:p>
            <a:pPr algn="l">
              <a:lnSpc>
                <a:spcPts val="2250"/>
              </a:lnSpc>
              <a:spcBef>
                <a:spcPts val="0"/>
              </a:spcBef>
              <a:spcAft>
                <a:spcPts val="0"/>
              </a:spcAft>
            </a:pPr>
            <a:r>
              <a:rPr lang="fr-FR" sz="1800" b="0">
                <a:solidFill>
                  <a:srgbClr val="64736B"/>
                </a:solidFill>
                <a:latin typeface="Segoe UI"/>
                <a:ea typeface="Segoe UI"/>
                <a:cs typeface="Tahoma"/>
              </a:rPr>
              <a:t xml:space="preserve"/>
            </a:r>
            <a:endParaRPr lang="fr-FR" sz="1800"/>
          </a:p>
          <a:p>
            <a:pPr algn="l">
              <a:lnSpc>
                <a:spcPts val="2250"/>
              </a:lnSpc>
              <a:spcBef>
                <a:spcPts val="0"/>
              </a:spcBef>
              <a:spcAft>
                <a:spcPts val="0"/>
              </a:spcAft>
            </a:pPr>
            <a:r>
              <a:rPr lang="fr-FR" sz="1800" b="0">
                <a:solidFill>
                  <a:srgbClr val="64736B"/>
                </a:solidFill>
                <a:latin typeface="Segoe UI"/>
                <a:ea typeface="Segoe UI"/>
                <a:cs typeface="Tahoma"/>
              </a:rPr>
              <a:t xml:space="preserve">Un poids élevé n’est pas une explication</a:t>
            </a:r>
            <a:endParaRPr lang="fr-FR" sz="1800"/>
          </a:p>
          <a:p>
            <a:pPr algn="l">
              <a:lnSpc>
                <a:spcPts val="2250"/>
              </a:lnSpc>
              <a:spcBef>
                <a:spcPts val="0"/>
              </a:spcBef>
              <a:spcAft>
                <a:spcPts val="0"/>
              </a:spcAft>
            </a:pPr>
            <a:r>
              <a:rPr lang="fr-FR" sz="1800" b="0">
                <a:solidFill>
                  <a:srgbClr val="64736B"/>
                </a:solidFill>
                <a:latin typeface="Segoe UI"/>
                <a:ea typeface="Segoe UI"/>
                <a:cs typeface="Tahoma"/>
              </a:rPr>
              <a:t xml:space="preserve">causale de la décision.</a:t>
            </a:r>
            <a:endParaRPr lang="fr-FR" sz="1800"/>
          </a:p>
        </p:txBody>
      </p:sp>
      <p:sp>
        <p:nvSpPr>
          <p:cNvPr id="8" name="rect-8"/>
          <p:cNvSpPr txBox="1"/>
          <p:nvPr/>
        </p:nvSpPr>
        <p:spPr>
          <a:xfrm>
            <a:off x="552450" y="5810250"/>
            <a:ext cx="11087100" cy="542925"/>
          </a:xfrm>
          <a:prstGeom prst="rect">
            <a:avLst/>
          </a:prstGeom>
          <a:solidFill>
            <a:srgbClr val="DDE7D6"/>
          </a:solidFill>
          <a:ln>
            <a:noFill/>
          </a:ln>
        </p:spPr>
      </p:sp>
      <p:sp>
        <p:nvSpPr>
          <p:cNvPr id="9" name="text-9"/>
          <p:cNvSpPr txBox="1"/>
          <p:nvPr/>
        </p:nvSpPr>
        <p:spPr>
          <a:xfrm>
            <a:off x="723900" y="5857875"/>
            <a:ext cx="10715625" cy="476250"/>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285D4B"/>
                </a:solidFill>
                <a:latin typeface="Segoe UI"/>
                <a:ea typeface="Segoe UI"/>
                <a:cs typeface="Tahoma"/>
              </a:rPr>
              <a:t xml:space="preserve">Lecture qualitative à rapprocher du texte arabe, de la prédiction et des erreurs. Aucun score supplémentaire ne résulte de cette figure.</a:t>
            </a:r>
            <a:endParaRPr lang="fr-FR" sz="1350"/>
          </a:p>
        </p:txBody>
      </p:sp>
      <p:cxnSp>
        <p:nvCxnSpPr>
          <p:cNvPr id="10" name="line-10"/>
          <p:cNvCxnSpPr/>
          <p:nvPr/>
        </p:nvCxnSpPr>
        <p:spPr>
          <a:xfrm>
            <a:off x="552450" y="6505575"/>
            <a:ext cx="11087100" cy="0"/>
          </a:xfrm>
          <a:prstGeom prst="line">
            <a:avLst/>
          </a:prstGeom>
          <a:ln w="9525">
            <a:solidFill>
              <a:srgbClr val="D4DBCE"/>
            </a:solidFill>
          </a:ln>
        </p:spPr>
      </p:cxnSp>
      <p:sp>
        <p:nvSpPr>
          <p:cNvPr id="11" name="text-11"/>
          <p:cNvSpPr txBox="1"/>
          <p:nvPr/>
        </p:nvSpPr>
        <p:spPr>
          <a:xfrm>
            <a:off x="552450" y="6572250"/>
            <a:ext cx="8572500" cy="219075"/>
          </a:xfrm>
          <a:prstGeom prst="rect">
            <a:avLst/>
          </a:prstGeom>
          <a:noFill/>
          <a:ln>
            <a:noFill/>
          </a:ln>
        </p:spPr>
        <p:txBody>
          <a:bodyPr wrap="none" lIns="0" tIns="0" rIns="0" bIns="0" anchor="t"/>
          <a:lstStyle/>
          <a:p>
            <a:pPr algn="l">
              <a:lnSpc>
                <a:spcPts val="1125"/>
              </a:lnSpc>
              <a:spcBef>
                <a:spcPts val="0"/>
              </a:spcBef>
              <a:spcAft>
                <a:spcPts val="0"/>
              </a:spcAft>
            </a:pPr>
            <a:r>
              <a:rPr lang="fr-FR" sz="900" b="0">
                <a:solidFill>
                  <a:srgbClr val="64736B"/>
                </a:solidFill>
                <a:latin typeface="Segoe UI"/>
                <a:ea typeface="Segoe UI"/>
                <a:cs typeface="Tahoma"/>
              </a:rPr>
              <a:t xml:space="preserve">LMA3NA · Omar Elkhali · BDIOT</a:t>
            </a:r>
            <a:endParaRPr lang="fr-FR" sz="900"/>
          </a:p>
        </p:txBody>
      </p:sp>
      <p:sp>
        <p:nvSpPr>
          <p:cNvPr id="12" name="text-12"/>
          <p:cNvSpPr txBox="1"/>
          <p:nvPr/>
        </p:nvSpPr>
        <p:spPr>
          <a:xfrm>
            <a:off x="10763250" y="6572250"/>
            <a:ext cx="876300" cy="219075"/>
          </a:xfrm>
          <a:prstGeom prst="rect">
            <a:avLst/>
          </a:prstGeom>
          <a:noFill/>
          <a:ln>
            <a:noFill/>
          </a:ln>
        </p:spPr>
        <p:txBody>
          <a:bodyPr wrap="none" lIns="0" tIns="0" rIns="0" bIns="0" anchor="t"/>
          <a:lstStyle/>
          <a:p>
            <a:pPr algn="r">
              <a:lnSpc>
                <a:spcPts val="1125"/>
              </a:lnSpc>
              <a:spcBef>
                <a:spcPts val="0"/>
              </a:spcBef>
              <a:spcAft>
                <a:spcPts val="0"/>
              </a:spcAft>
            </a:pPr>
            <a:r>
              <a:rPr lang="fr-FR" sz="900" b="0">
                <a:solidFill>
                  <a:srgbClr val="64736B"/>
                </a:solidFill>
                <a:latin typeface="Segoe UI"/>
                <a:ea typeface="Segoe UI"/>
                <a:cs typeface="Tahoma"/>
              </a:rPr>
              <a:t xml:space="preserve">27 / 38</a:t>
            </a:r>
            <a:endParaRPr lang="fr-FR" sz="900"/>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5F4EE"/>
        </a:solidFill>
        <a:effectLst/>
      </p:bgPr>
    </p:bg>
    <p:spTree>
      <p:nvGrpSpPr>
        <p:cNvPr id="1" name=""/>
        <p:cNvGrpSpPr/>
        <p:nvPr/>
      </p:nvGrpSpPr>
      <p:grpSpPr>
        <a:xfrm>
          <a:off x="0" y="0"/>
          <a:ext cx="0" cy="0"/>
          <a:chOff x="0" y="0"/>
          <a:chExt cx="0" cy="0"/>
        </a:xfrm>
      </p:grpSpPr>
      <p:sp>
        <p:nvSpPr>
          <p:cNvPr id="2" name="rect-2"/>
          <p:cNvSpPr txBox="1"/>
          <p:nvPr/>
        </p:nvSpPr>
        <p:spPr>
          <a:xfrm>
            <a:off x="552450" y="361950"/>
            <a:ext cx="400050" cy="38100"/>
          </a:xfrm>
          <a:prstGeom prst="rect">
            <a:avLst/>
          </a:prstGeom>
          <a:solidFill>
            <a:srgbClr val="E6A477"/>
          </a:solidFill>
          <a:ln>
            <a:noFill/>
          </a:ln>
        </p:spPr>
      </p:sp>
      <p:sp>
        <p:nvSpPr>
          <p:cNvPr id="3" name="text-3"/>
          <p:cNvSpPr txBox="1"/>
          <p:nvPr/>
        </p:nvSpPr>
        <p:spPr>
          <a:xfrm>
            <a:off x="1066800" y="276225"/>
            <a:ext cx="10287000" cy="266700"/>
          </a:xfrm>
          <a:prstGeom prst="rect">
            <a:avLst/>
          </a:prstGeom>
          <a:noFill/>
          <a:ln>
            <a:noFill/>
          </a:ln>
        </p:spPr>
        <p:txBody>
          <a:bodyPr wrap="none" lIns="0" tIns="0" rIns="0" bIns="0" anchor="t"/>
          <a:lstStyle/>
          <a:p>
            <a:pPr algn="l">
              <a:lnSpc>
                <a:spcPts val="1406"/>
              </a:lnSpc>
              <a:spcBef>
                <a:spcPts val="0"/>
              </a:spcBef>
              <a:spcAft>
                <a:spcPts val="0"/>
              </a:spcAft>
            </a:pPr>
            <a:r>
              <a:rPr lang="fr-FR" sz="1125" b="1">
                <a:solidFill>
                  <a:srgbClr val="285D4B"/>
                </a:solidFill>
                <a:latin typeface="Segoe UI"/>
                <a:ea typeface="Segoe UI"/>
                <a:cs typeface="Tahoma"/>
              </a:rPr>
              <a:t xml:space="preserve">06 · LIMITES</a:t>
            </a:r>
            <a:endParaRPr lang="fr-FR" sz="1125"/>
          </a:p>
        </p:txBody>
      </p:sp>
      <p:sp>
        <p:nvSpPr>
          <p:cNvPr id="4" name="text-4"/>
          <p:cNvSpPr txBox="1"/>
          <p:nvPr/>
        </p:nvSpPr>
        <p:spPr>
          <a:xfrm>
            <a:off x="552450" y="790575"/>
            <a:ext cx="11087100" cy="1066800"/>
          </a:xfrm>
          <a:prstGeom prst="rect">
            <a:avLst/>
          </a:prstGeom>
          <a:noFill/>
          <a:ln>
            <a:noFill/>
          </a:ln>
        </p:spPr>
        <p:txBody>
          <a:bodyPr wrap="none" lIns="0" tIns="0" rIns="0" bIns="0" anchor="t"/>
          <a:lstStyle/>
          <a:p>
            <a:pPr algn="l">
              <a:lnSpc>
                <a:spcPts val="4031"/>
              </a:lnSpc>
              <a:spcBef>
                <a:spcPts val="0"/>
              </a:spcBef>
              <a:spcAft>
                <a:spcPts val="0"/>
              </a:spcAft>
            </a:pPr>
            <a:r>
              <a:rPr lang="fr-FR" sz="3225" b="1">
                <a:solidFill>
                  <a:srgbClr val="203A32"/>
                </a:solidFill>
                <a:latin typeface="Segoe UI"/>
                <a:ea typeface="Segoe UI"/>
                <a:cs typeface="Tahoma"/>
              </a:rPr>
              <a:t xml:space="preserve">L’analyse des erreurs demande encore une relecture</a:t>
            </a:r>
            <a:endParaRPr lang="fr-FR" sz="3225"/>
          </a:p>
          <a:p>
            <a:pPr algn="l">
              <a:lnSpc>
                <a:spcPts val="4031"/>
              </a:lnSpc>
              <a:spcBef>
                <a:spcPts val="0"/>
              </a:spcBef>
              <a:spcAft>
                <a:spcPts val="0"/>
              </a:spcAft>
            </a:pPr>
            <a:r>
              <a:rPr lang="fr-FR" sz="3225" b="1">
                <a:solidFill>
                  <a:srgbClr val="203A32"/>
                </a:solidFill>
                <a:latin typeface="Segoe UI"/>
                <a:ea typeface="Segoe UI"/>
                <a:cs typeface="Tahoma"/>
              </a:rPr>
              <a:t xml:space="preserve">humaine</a:t>
            </a:r>
            <a:endParaRPr lang="fr-FR" sz="3225"/>
          </a:p>
        </p:txBody>
      </p:sp>
      <p:sp>
        <p:nvSpPr>
          <p:cNvPr id="5" name="text-5"/>
          <p:cNvSpPr txBox="1"/>
          <p:nvPr/>
        </p:nvSpPr>
        <p:spPr>
          <a:xfrm>
            <a:off x="552450" y="2047875"/>
            <a:ext cx="3238500" cy="857250"/>
          </a:xfrm>
          <a:prstGeom prst="rect">
            <a:avLst/>
          </a:prstGeom>
          <a:noFill/>
          <a:ln>
            <a:noFill/>
          </a:ln>
        </p:spPr>
        <p:txBody>
          <a:bodyPr wrap="none" lIns="0" tIns="0" rIns="0" bIns="0" anchor="t"/>
          <a:lstStyle/>
          <a:p>
            <a:pPr algn="l">
              <a:lnSpc>
                <a:spcPts val="6094"/>
              </a:lnSpc>
              <a:spcBef>
                <a:spcPts val="0"/>
              </a:spcBef>
              <a:spcAft>
                <a:spcPts val="0"/>
              </a:spcAft>
            </a:pPr>
            <a:r>
              <a:rPr lang="fr-FR" sz="4875" b="1">
                <a:solidFill>
                  <a:srgbClr val="285D4B"/>
                </a:solidFill>
                <a:latin typeface="Segoe UI"/>
                <a:ea typeface="Segoe UI"/>
                <a:cs typeface="Tahoma"/>
              </a:rPr>
              <a:t xml:space="preserve">15 + 15</a:t>
            </a:r>
            <a:endParaRPr lang="fr-FR" sz="4875"/>
          </a:p>
        </p:txBody>
      </p:sp>
      <p:sp>
        <p:nvSpPr>
          <p:cNvPr id="6" name="text-6"/>
          <p:cNvSpPr txBox="1"/>
          <p:nvPr/>
        </p:nvSpPr>
        <p:spPr>
          <a:xfrm>
            <a:off x="552450" y="3000375"/>
            <a:ext cx="3238500" cy="685800"/>
          </a:xfrm>
          <a:prstGeom prst="rect">
            <a:avLst/>
          </a:prstGeom>
          <a:noFill/>
          <a:ln>
            <a:noFill/>
          </a:ln>
        </p:spPr>
        <p:txBody>
          <a:bodyPr wrap="none" lIns="0" tIns="0" rIns="0" bIns="0" anchor="t"/>
          <a:lstStyle/>
          <a:p>
            <a:pPr algn="l">
              <a:lnSpc>
                <a:spcPts val="2250"/>
              </a:lnSpc>
              <a:spcBef>
                <a:spcPts val="0"/>
              </a:spcBef>
              <a:spcAft>
                <a:spcPts val="0"/>
              </a:spcAft>
            </a:pPr>
            <a:r>
              <a:rPr lang="fr-FR" sz="1800" b="1">
                <a:solidFill>
                  <a:srgbClr val="203A32"/>
                </a:solidFill>
                <a:latin typeface="Segoe UI"/>
                <a:ea typeface="Segoe UI"/>
                <a:cs typeface="Tahoma"/>
              </a:rPr>
              <a:t xml:space="preserve">Faux négatifs et faux positifs</a:t>
            </a:r>
            <a:endParaRPr lang="fr-FR" sz="1800"/>
          </a:p>
        </p:txBody>
      </p:sp>
      <p:sp>
        <p:nvSpPr>
          <p:cNvPr id="7" name="text-7"/>
          <p:cNvSpPr txBox="1"/>
          <p:nvPr/>
        </p:nvSpPr>
        <p:spPr>
          <a:xfrm>
            <a:off x="552450" y="3686175"/>
            <a:ext cx="3238500" cy="1619250"/>
          </a:xfrm>
          <a:prstGeom prst="rect">
            <a:avLst/>
          </a:prstGeom>
          <a:noFill/>
          <a:ln>
            <a:noFill/>
          </a:ln>
        </p:spPr>
        <p:txBody>
          <a:bodyPr wrap="none" lIns="0" tIns="0" rIns="0" bIns="0" anchor="t"/>
          <a:lstStyle/>
          <a:p>
            <a:pPr algn="l">
              <a:lnSpc>
                <a:spcPts val="2062"/>
              </a:lnSpc>
              <a:spcBef>
                <a:spcPts val="0"/>
              </a:spcBef>
              <a:spcAft>
                <a:spcPts val="0"/>
              </a:spcAft>
            </a:pPr>
            <a:r>
              <a:rPr lang="fr-FR" sz="1650" b="0">
                <a:solidFill>
                  <a:srgbClr val="64736B"/>
                </a:solidFill>
                <a:latin typeface="Segoe UI"/>
                <a:ea typeface="Segoe UI"/>
                <a:cs typeface="Tahoma"/>
              </a:rPr>
              <a:t xml:space="preserve">Échantillon d’erreurs à analyser</a:t>
            </a:r>
            <a:endParaRPr lang="fr-FR" sz="1650"/>
          </a:p>
          <a:p>
            <a:pPr algn="l">
              <a:lnSpc>
                <a:spcPts val="2062"/>
              </a:lnSpc>
              <a:spcBef>
                <a:spcPts val="0"/>
              </a:spcBef>
              <a:spcAft>
                <a:spcPts val="0"/>
              </a:spcAft>
            </a:pPr>
            <a:r>
              <a:rPr lang="fr-FR" sz="1650" b="0">
                <a:solidFill>
                  <a:srgbClr val="64736B"/>
                </a:solidFill>
                <a:latin typeface="Segoe UI"/>
                <a:ea typeface="Segoe UI"/>
                <a:cs typeface="Tahoma"/>
              </a:rPr>
              <a:t xml:space="preserve">dans leur contexte</a:t>
            </a:r>
            <a:endParaRPr lang="fr-FR" sz="1650"/>
          </a:p>
        </p:txBody>
      </p:sp>
      <p:sp>
        <p:nvSpPr>
          <p:cNvPr id="8" name="text-8"/>
          <p:cNvSpPr txBox="1"/>
          <p:nvPr/>
        </p:nvSpPr>
        <p:spPr>
          <a:xfrm>
            <a:off x="4333875" y="2047875"/>
            <a:ext cx="3238500" cy="857250"/>
          </a:xfrm>
          <a:prstGeom prst="rect">
            <a:avLst/>
          </a:prstGeom>
          <a:noFill/>
          <a:ln>
            <a:noFill/>
          </a:ln>
        </p:spPr>
        <p:txBody>
          <a:bodyPr wrap="none" lIns="0" tIns="0" rIns="0" bIns="0" anchor="t"/>
          <a:lstStyle/>
          <a:p>
            <a:pPr algn="l">
              <a:lnSpc>
                <a:spcPts val="6094"/>
              </a:lnSpc>
              <a:spcBef>
                <a:spcPts val="0"/>
              </a:spcBef>
              <a:spcAft>
                <a:spcPts val="0"/>
              </a:spcAft>
            </a:pPr>
            <a:r>
              <a:rPr lang="fr-FR" sz="4875" b="1">
                <a:solidFill>
                  <a:srgbClr val="285D4B"/>
                </a:solidFill>
                <a:latin typeface="Segoe UI"/>
                <a:ea typeface="Segoe UI"/>
                <a:cs typeface="Tahoma"/>
              </a:rPr>
              <a:t xml:space="preserve">19 / 30</a:t>
            </a:r>
            <a:endParaRPr lang="fr-FR" sz="4875"/>
          </a:p>
        </p:txBody>
      </p:sp>
      <p:sp>
        <p:nvSpPr>
          <p:cNvPr id="9" name="text-9"/>
          <p:cNvSpPr txBox="1"/>
          <p:nvPr/>
        </p:nvSpPr>
        <p:spPr>
          <a:xfrm>
            <a:off x="4333875" y="3000375"/>
            <a:ext cx="3238500" cy="685800"/>
          </a:xfrm>
          <a:prstGeom prst="rect">
            <a:avLst/>
          </a:prstGeom>
          <a:noFill/>
          <a:ln>
            <a:noFill/>
          </a:ln>
        </p:spPr>
        <p:txBody>
          <a:bodyPr wrap="none" lIns="0" tIns="0" rIns="0" bIns="0" anchor="t"/>
          <a:lstStyle/>
          <a:p>
            <a:pPr algn="l">
              <a:lnSpc>
                <a:spcPts val="2250"/>
              </a:lnSpc>
              <a:spcBef>
                <a:spcPts val="0"/>
              </a:spcBef>
              <a:spcAft>
                <a:spcPts val="0"/>
              </a:spcAft>
            </a:pPr>
            <a:r>
              <a:rPr lang="fr-FR" sz="1800" b="1">
                <a:solidFill>
                  <a:srgbClr val="203A32"/>
                </a:solidFill>
                <a:latin typeface="Segoe UI"/>
                <a:ea typeface="Segoe UI"/>
                <a:cs typeface="Tahoma"/>
              </a:rPr>
              <a:t xml:space="preserve">Contexte ou ironie implicite</a:t>
            </a:r>
            <a:endParaRPr lang="fr-FR" sz="1800"/>
          </a:p>
        </p:txBody>
      </p:sp>
      <p:sp>
        <p:nvSpPr>
          <p:cNvPr id="10" name="text-10"/>
          <p:cNvSpPr txBox="1"/>
          <p:nvPr/>
        </p:nvSpPr>
        <p:spPr>
          <a:xfrm>
            <a:off x="4333875" y="3686175"/>
            <a:ext cx="3238500" cy="1619250"/>
          </a:xfrm>
          <a:prstGeom prst="rect">
            <a:avLst/>
          </a:prstGeom>
          <a:noFill/>
          <a:ln>
            <a:noFill/>
          </a:ln>
        </p:spPr>
        <p:txBody>
          <a:bodyPr wrap="none" lIns="0" tIns="0" rIns="0" bIns="0" anchor="t"/>
          <a:lstStyle/>
          <a:p>
            <a:pPr algn="l">
              <a:lnSpc>
                <a:spcPts val="2062"/>
              </a:lnSpc>
              <a:spcBef>
                <a:spcPts val="0"/>
              </a:spcBef>
              <a:spcAft>
                <a:spcPts val="0"/>
              </a:spcAft>
            </a:pPr>
            <a:r>
              <a:rPr lang="fr-FR" sz="1650" b="0">
                <a:solidFill>
                  <a:srgbClr val="64736B"/>
                </a:solidFill>
                <a:latin typeface="Segoe UI"/>
                <a:ea typeface="Segoe UI"/>
                <a:cs typeface="Tahoma"/>
              </a:rPr>
              <a:t xml:space="preserve">Catégorie proposée</a:t>
            </a:r>
            <a:endParaRPr lang="fr-FR" sz="1650"/>
          </a:p>
          <a:p>
            <a:pPr algn="l">
              <a:lnSpc>
                <a:spcPts val="2062"/>
              </a:lnSpc>
              <a:spcBef>
                <a:spcPts val="0"/>
              </a:spcBef>
              <a:spcAft>
                <a:spcPts val="0"/>
              </a:spcAft>
            </a:pPr>
            <a:r>
              <a:rPr lang="fr-FR" sz="1650" b="0">
                <a:solidFill>
                  <a:srgbClr val="64736B"/>
                </a:solidFill>
                <a:latin typeface="Segoe UI"/>
                <a:ea typeface="Segoe UI"/>
                <a:cs typeface="Tahoma"/>
              </a:rPr>
              <a:t xml:space="preserve">automatiquement, encore</a:t>
            </a:r>
            <a:endParaRPr lang="fr-FR" sz="1650"/>
          </a:p>
          <a:p>
            <a:pPr algn="l">
              <a:lnSpc>
                <a:spcPts val="2062"/>
              </a:lnSpc>
              <a:spcBef>
                <a:spcPts val="0"/>
              </a:spcBef>
              <a:spcAft>
                <a:spcPts val="0"/>
              </a:spcAft>
            </a:pPr>
            <a:r>
              <a:rPr lang="fr-FR" sz="1650" b="0">
                <a:solidFill>
                  <a:srgbClr val="64736B"/>
                </a:solidFill>
                <a:latin typeface="Segoe UI"/>
                <a:ea typeface="Segoe UI"/>
                <a:cs typeface="Tahoma"/>
              </a:rPr>
              <a:t xml:space="preserve">provisoire</a:t>
            </a:r>
            <a:endParaRPr lang="fr-FR" sz="1650"/>
          </a:p>
        </p:txBody>
      </p:sp>
      <p:sp>
        <p:nvSpPr>
          <p:cNvPr id="11" name="text-11"/>
          <p:cNvSpPr txBox="1"/>
          <p:nvPr/>
        </p:nvSpPr>
        <p:spPr>
          <a:xfrm>
            <a:off x="8115300" y="2047875"/>
            <a:ext cx="3238500" cy="857250"/>
          </a:xfrm>
          <a:prstGeom prst="rect">
            <a:avLst/>
          </a:prstGeom>
          <a:noFill/>
          <a:ln>
            <a:noFill/>
          </a:ln>
        </p:spPr>
        <p:txBody>
          <a:bodyPr wrap="none" lIns="0" tIns="0" rIns="0" bIns="0" anchor="t"/>
          <a:lstStyle/>
          <a:p>
            <a:pPr algn="l">
              <a:lnSpc>
                <a:spcPts val="6094"/>
              </a:lnSpc>
              <a:spcBef>
                <a:spcPts val="0"/>
              </a:spcBef>
              <a:spcAft>
                <a:spcPts val="0"/>
              </a:spcAft>
            </a:pPr>
            <a:r>
              <a:rPr lang="fr-FR" sz="4875" b="1">
                <a:solidFill>
                  <a:srgbClr val="285D4B"/>
                </a:solidFill>
                <a:latin typeface="Segoe UI"/>
                <a:ea typeface="Segoe UI"/>
                <a:cs typeface="Tahoma"/>
              </a:rPr>
              <a:t xml:space="preserve">6 + 5</a:t>
            </a:r>
            <a:endParaRPr lang="fr-FR" sz="4875"/>
          </a:p>
        </p:txBody>
      </p:sp>
      <p:sp>
        <p:nvSpPr>
          <p:cNvPr id="12" name="text-12"/>
          <p:cNvSpPr txBox="1"/>
          <p:nvPr/>
        </p:nvSpPr>
        <p:spPr>
          <a:xfrm>
            <a:off x="8115300" y="3000375"/>
            <a:ext cx="3238500" cy="685800"/>
          </a:xfrm>
          <a:prstGeom prst="rect">
            <a:avLst/>
          </a:prstGeom>
          <a:noFill/>
          <a:ln>
            <a:noFill/>
          </a:ln>
        </p:spPr>
        <p:txBody>
          <a:bodyPr wrap="none" lIns="0" tIns="0" rIns="0" bIns="0" anchor="t"/>
          <a:lstStyle/>
          <a:p>
            <a:pPr algn="l">
              <a:lnSpc>
                <a:spcPts val="2250"/>
              </a:lnSpc>
              <a:spcBef>
                <a:spcPts val="0"/>
              </a:spcBef>
              <a:spcAft>
                <a:spcPts val="0"/>
              </a:spcAft>
            </a:pPr>
            <a:r>
              <a:rPr lang="fr-FR" sz="1800" b="1">
                <a:solidFill>
                  <a:srgbClr val="203A32"/>
                </a:solidFill>
                <a:latin typeface="Segoe UI"/>
                <a:ea typeface="Segoe UI"/>
                <a:cs typeface="Tahoma"/>
              </a:rPr>
              <a:t xml:space="preserve">Dialecte / marqueur</a:t>
            </a:r>
            <a:endParaRPr lang="fr-FR" sz="1800"/>
          </a:p>
        </p:txBody>
      </p:sp>
      <p:sp>
        <p:nvSpPr>
          <p:cNvPr id="13" name="text-13"/>
          <p:cNvSpPr txBox="1"/>
          <p:nvPr/>
        </p:nvSpPr>
        <p:spPr>
          <a:xfrm>
            <a:off x="8115300" y="3686175"/>
            <a:ext cx="3238500" cy="1619250"/>
          </a:xfrm>
          <a:prstGeom prst="rect">
            <a:avLst/>
          </a:prstGeom>
          <a:noFill/>
          <a:ln>
            <a:noFill/>
          </a:ln>
        </p:spPr>
        <p:txBody>
          <a:bodyPr wrap="none" lIns="0" tIns="0" rIns="0" bIns="0" anchor="t"/>
          <a:lstStyle/>
          <a:p>
            <a:pPr algn="l">
              <a:lnSpc>
                <a:spcPts val="2062"/>
              </a:lnSpc>
              <a:spcBef>
                <a:spcPts val="0"/>
              </a:spcBef>
              <a:spcAft>
                <a:spcPts val="0"/>
              </a:spcAft>
            </a:pPr>
            <a:r>
              <a:rPr lang="fr-FR" sz="1650" b="0">
                <a:solidFill>
                  <a:srgbClr val="64736B"/>
                </a:solidFill>
                <a:latin typeface="Segoe UI"/>
                <a:ea typeface="Segoe UI"/>
                <a:cs typeface="Tahoma"/>
              </a:rPr>
              <a:t xml:space="preserve">6 cas dialecte–contexte et 5</a:t>
            </a:r>
            <a:endParaRPr lang="fr-FR" sz="1650"/>
          </a:p>
          <a:p>
            <a:pPr algn="l">
              <a:lnSpc>
                <a:spcPts val="2062"/>
              </a:lnSpc>
              <a:spcBef>
                <a:spcPts val="0"/>
              </a:spcBef>
              <a:spcAft>
                <a:spcPts val="0"/>
              </a:spcAft>
            </a:pPr>
            <a:r>
              <a:rPr lang="fr-FR" sz="1650" b="0">
                <a:solidFill>
                  <a:srgbClr val="64736B"/>
                </a:solidFill>
                <a:latin typeface="Segoe UI"/>
                <a:ea typeface="Segoe UI"/>
                <a:cs typeface="Tahoma"/>
              </a:rPr>
              <a:t xml:space="preserve">marqueurs potentiellement mal</a:t>
            </a:r>
            <a:endParaRPr lang="fr-FR" sz="1650"/>
          </a:p>
          <a:p>
            <a:pPr algn="l">
              <a:lnSpc>
                <a:spcPts val="2062"/>
              </a:lnSpc>
              <a:spcBef>
                <a:spcPts val="0"/>
              </a:spcBef>
              <a:spcAft>
                <a:spcPts val="0"/>
              </a:spcAft>
            </a:pPr>
            <a:r>
              <a:rPr lang="fr-FR" sz="1650" b="0">
                <a:solidFill>
                  <a:srgbClr val="64736B"/>
                </a:solidFill>
                <a:latin typeface="Segoe UI"/>
                <a:ea typeface="Segoe UI"/>
                <a:cs typeface="Tahoma"/>
              </a:rPr>
              <a:t xml:space="preserve">interprétés</a:t>
            </a:r>
            <a:endParaRPr lang="fr-FR" sz="1650"/>
          </a:p>
        </p:txBody>
      </p:sp>
      <p:sp>
        <p:nvSpPr>
          <p:cNvPr id="14" name="rect-14"/>
          <p:cNvSpPr txBox="1"/>
          <p:nvPr/>
        </p:nvSpPr>
        <p:spPr>
          <a:xfrm>
            <a:off x="552450" y="5810250"/>
            <a:ext cx="11087100" cy="542925"/>
          </a:xfrm>
          <a:prstGeom prst="rect">
            <a:avLst/>
          </a:prstGeom>
          <a:solidFill>
            <a:srgbClr val="DDE7D6"/>
          </a:solidFill>
          <a:ln>
            <a:noFill/>
          </a:ln>
        </p:spPr>
      </p:sp>
      <p:sp>
        <p:nvSpPr>
          <p:cNvPr id="15" name="text-15"/>
          <p:cNvSpPr txBox="1"/>
          <p:nvPr/>
        </p:nvSpPr>
        <p:spPr>
          <a:xfrm>
            <a:off x="723900" y="5857875"/>
            <a:ext cx="10715625" cy="476250"/>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285D4B"/>
                </a:solidFill>
                <a:latin typeface="Segoe UI"/>
                <a:ea typeface="Segoe UI"/>
                <a:cs typeface="Tahoma"/>
              </a:rPr>
              <a:t xml:space="preserve">Ces catégories ne sont pas une annotation humaine finalisée. Aucun taux global de bruit ne peut en être déduit.</a:t>
            </a:r>
            <a:endParaRPr lang="fr-FR" sz="1350"/>
          </a:p>
        </p:txBody>
      </p:sp>
      <p:cxnSp>
        <p:nvCxnSpPr>
          <p:cNvPr id="16" name="line-16"/>
          <p:cNvCxnSpPr/>
          <p:nvPr/>
        </p:nvCxnSpPr>
        <p:spPr>
          <a:xfrm>
            <a:off x="552450" y="6505575"/>
            <a:ext cx="11087100" cy="0"/>
          </a:xfrm>
          <a:prstGeom prst="line">
            <a:avLst/>
          </a:prstGeom>
          <a:ln w="9525">
            <a:solidFill>
              <a:srgbClr val="D4DBCE"/>
            </a:solidFill>
          </a:ln>
        </p:spPr>
      </p:cxnSp>
      <p:sp>
        <p:nvSpPr>
          <p:cNvPr id="17" name="text-17"/>
          <p:cNvSpPr txBox="1"/>
          <p:nvPr/>
        </p:nvSpPr>
        <p:spPr>
          <a:xfrm>
            <a:off x="552450" y="6572250"/>
            <a:ext cx="8572500" cy="219075"/>
          </a:xfrm>
          <a:prstGeom prst="rect">
            <a:avLst/>
          </a:prstGeom>
          <a:noFill/>
          <a:ln>
            <a:noFill/>
          </a:ln>
        </p:spPr>
        <p:txBody>
          <a:bodyPr wrap="none" lIns="0" tIns="0" rIns="0" bIns="0" anchor="t"/>
          <a:lstStyle/>
          <a:p>
            <a:pPr algn="l">
              <a:lnSpc>
                <a:spcPts val="1125"/>
              </a:lnSpc>
              <a:spcBef>
                <a:spcPts val="0"/>
              </a:spcBef>
              <a:spcAft>
                <a:spcPts val="0"/>
              </a:spcAft>
            </a:pPr>
            <a:r>
              <a:rPr lang="fr-FR" sz="900" b="0">
                <a:solidFill>
                  <a:srgbClr val="64736B"/>
                </a:solidFill>
                <a:latin typeface="Segoe UI"/>
                <a:ea typeface="Segoe UI"/>
                <a:cs typeface="Tahoma"/>
              </a:rPr>
              <a:t xml:space="preserve">LMA3NA · Omar Elkhali · BDIOT</a:t>
            </a:r>
            <a:endParaRPr lang="fr-FR" sz="900"/>
          </a:p>
        </p:txBody>
      </p:sp>
      <p:sp>
        <p:nvSpPr>
          <p:cNvPr id="18" name="text-18"/>
          <p:cNvSpPr txBox="1"/>
          <p:nvPr/>
        </p:nvSpPr>
        <p:spPr>
          <a:xfrm>
            <a:off x="10763250" y="6572250"/>
            <a:ext cx="876300" cy="219075"/>
          </a:xfrm>
          <a:prstGeom prst="rect">
            <a:avLst/>
          </a:prstGeom>
          <a:noFill/>
          <a:ln>
            <a:noFill/>
          </a:ln>
        </p:spPr>
        <p:txBody>
          <a:bodyPr wrap="none" lIns="0" tIns="0" rIns="0" bIns="0" anchor="t"/>
          <a:lstStyle/>
          <a:p>
            <a:pPr algn="r">
              <a:lnSpc>
                <a:spcPts val="1125"/>
              </a:lnSpc>
              <a:spcBef>
                <a:spcPts val="0"/>
              </a:spcBef>
              <a:spcAft>
                <a:spcPts val="0"/>
              </a:spcAft>
            </a:pPr>
            <a:r>
              <a:rPr lang="fr-FR" sz="900" b="0">
                <a:solidFill>
                  <a:srgbClr val="64736B"/>
                </a:solidFill>
                <a:latin typeface="Segoe UI"/>
                <a:ea typeface="Segoe UI"/>
                <a:cs typeface="Tahoma"/>
              </a:rPr>
              <a:t xml:space="preserve">28 / 38</a:t>
            </a:r>
            <a:endParaRPr lang="fr-FR" sz="900"/>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5F4EE"/>
        </a:solidFill>
        <a:effectLst/>
      </p:bgPr>
    </p:bg>
    <p:spTree>
      <p:nvGrpSpPr>
        <p:cNvPr id="1" name=""/>
        <p:cNvGrpSpPr/>
        <p:nvPr/>
      </p:nvGrpSpPr>
      <p:grpSpPr>
        <a:xfrm>
          <a:off x="0" y="0"/>
          <a:ext cx="0" cy="0"/>
          <a:chOff x="0" y="0"/>
          <a:chExt cx="0" cy="0"/>
        </a:xfrm>
      </p:grpSpPr>
      <p:sp>
        <p:nvSpPr>
          <p:cNvPr id="2" name="rect-2"/>
          <p:cNvSpPr txBox="1"/>
          <p:nvPr/>
        </p:nvSpPr>
        <p:spPr>
          <a:xfrm>
            <a:off x="552450" y="361950"/>
            <a:ext cx="400050" cy="38100"/>
          </a:xfrm>
          <a:prstGeom prst="rect">
            <a:avLst/>
          </a:prstGeom>
          <a:solidFill>
            <a:srgbClr val="E6A477"/>
          </a:solidFill>
          <a:ln>
            <a:noFill/>
          </a:ln>
        </p:spPr>
      </p:sp>
      <p:sp>
        <p:nvSpPr>
          <p:cNvPr id="3" name="text-3"/>
          <p:cNvSpPr txBox="1"/>
          <p:nvPr/>
        </p:nvSpPr>
        <p:spPr>
          <a:xfrm>
            <a:off x="1066800" y="276225"/>
            <a:ext cx="10287000" cy="266700"/>
          </a:xfrm>
          <a:prstGeom prst="rect">
            <a:avLst/>
          </a:prstGeom>
          <a:noFill/>
          <a:ln>
            <a:noFill/>
          </a:ln>
        </p:spPr>
        <p:txBody>
          <a:bodyPr wrap="none" lIns="0" tIns="0" rIns="0" bIns="0" anchor="t"/>
          <a:lstStyle/>
          <a:p>
            <a:pPr algn="l">
              <a:lnSpc>
                <a:spcPts val="1406"/>
              </a:lnSpc>
              <a:spcBef>
                <a:spcPts val="0"/>
              </a:spcBef>
              <a:spcAft>
                <a:spcPts val="0"/>
              </a:spcAft>
            </a:pPr>
            <a:r>
              <a:rPr lang="fr-FR" sz="1125" b="1">
                <a:solidFill>
                  <a:srgbClr val="285D4B"/>
                </a:solidFill>
                <a:latin typeface="Segoe UI"/>
                <a:ea typeface="Segoe UI"/>
                <a:cs typeface="Tahoma"/>
              </a:rPr>
              <a:t xml:space="preserve">07 · DÉMONSTRATION QUALITATIVE</a:t>
            </a:r>
            <a:endParaRPr lang="fr-FR" sz="1125"/>
          </a:p>
        </p:txBody>
      </p:sp>
      <p:sp>
        <p:nvSpPr>
          <p:cNvPr id="4" name="text-4"/>
          <p:cNvSpPr txBox="1"/>
          <p:nvPr/>
        </p:nvSpPr>
        <p:spPr>
          <a:xfrm>
            <a:off x="552450" y="790575"/>
            <a:ext cx="11087100" cy="1066800"/>
          </a:xfrm>
          <a:prstGeom prst="rect">
            <a:avLst/>
          </a:prstGeom>
          <a:noFill/>
          <a:ln>
            <a:noFill/>
          </a:ln>
        </p:spPr>
        <p:txBody>
          <a:bodyPr wrap="none" lIns="0" tIns="0" rIns="0" bIns="0" anchor="t"/>
          <a:lstStyle/>
          <a:p>
            <a:pPr algn="l">
              <a:lnSpc>
                <a:spcPts val="4031"/>
              </a:lnSpc>
              <a:spcBef>
                <a:spcPts val="0"/>
              </a:spcBef>
              <a:spcAft>
                <a:spcPts val="0"/>
              </a:spcAft>
            </a:pPr>
            <a:r>
              <a:rPr lang="fr-FR" sz="3225" b="1">
                <a:solidFill>
                  <a:srgbClr val="203A32"/>
                </a:solidFill>
                <a:latin typeface="Segoe UI"/>
                <a:ea typeface="Segoe UI"/>
                <a:cs typeface="Tahoma"/>
              </a:rPr>
              <a:t xml:space="preserve">Les phrases réelles exposent une limite visible du modèle</a:t>
            </a:r>
            <a:endParaRPr lang="fr-FR" sz="3225"/>
          </a:p>
        </p:txBody>
      </p:sp>
      <p:sp>
        <p:nvSpPr>
          <p:cNvPr id="5" name="rect-5"/>
          <p:cNvSpPr txBox="1"/>
          <p:nvPr/>
        </p:nvSpPr>
        <p:spPr>
          <a:xfrm>
            <a:off x="552450" y="2028825"/>
            <a:ext cx="11087100" cy="695325"/>
          </a:xfrm>
          <a:prstGeom prst="rect">
            <a:avLst/>
          </a:prstGeom>
          <a:solidFill>
            <a:srgbClr val="285D4B"/>
          </a:solidFill>
          <a:ln>
            <a:noFill/>
          </a:ln>
        </p:spPr>
      </p:sp>
      <p:sp>
        <p:nvSpPr>
          <p:cNvPr id="6" name="text-6"/>
          <p:cNvSpPr txBox="1"/>
          <p:nvPr/>
        </p:nvSpPr>
        <p:spPr>
          <a:xfrm>
            <a:off x="666750" y="2057400"/>
            <a:ext cx="4225290" cy="666750"/>
          </a:xfrm>
          <a:prstGeom prst="rect">
            <a:avLst/>
          </a:prstGeom>
          <a:noFill/>
          <a:ln>
            <a:noFill/>
          </a:ln>
        </p:spPr>
        <p:txBody>
          <a:bodyPr wrap="none" lIns="0" tIns="0" rIns="0" bIns="0" anchor="t"/>
          <a:lstStyle/>
          <a:p>
            <a:pPr algn="l">
              <a:lnSpc>
                <a:spcPts val="1875"/>
              </a:lnSpc>
              <a:spcBef>
                <a:spcPts val="0"/>
              </a:spcBef>
              <a:spcAft>
                <a:spcPts val="0"/>
              </a:spcAft>
            </a:pPr>
            <a:r>
              <a:rPr lang="fr-FR" sz="1500" b="1">
                <a:solidFill>
                  <a:srgbClr val="FFFFFF"/>
                </a:solidFill>
                <a:latin typeface="Segoe UI"/>
                <a:ea typeface="Segoe UI"/>
                <a:cs typeface="Tahoma"/>
              </a:rPr>
              <a:t xml:space="preserve">Phrase résumée</a:t>
            </a:r>
            <a:endParaRPr lang="fr-FR" sz="1500"/>
          </a:p>
        </p:txBody>
      </p:sp>
      <p:sp>
        <p:nvSpPr>
          <p:cNvPr id="7" name="text-7"/>
          <p:cNvSpPr txBox="1"/>
          <p:nvPr/>
        </p:nvSpPr>
        <p:spPr>
          <a:xfrm>
            <a:off x="5101590" y="2057400"/>
            <a:ext cx="2229612" cy="666750"/>
          </a:xfrm>
          <a:prstGeom prst="rect">
            <a:avLst/>
          </a:prstGeom>
          <a:noFill/>
          <a:ln>
            <a:noFill/>
          </a:ln>
        </p:spPr>
        <p:txBody>
          <a:bodyPr wrap="none" lIns="0" tIns="0" rIns="0" bIns="0" anchor="t"/>
          <a:lstStyle/>
          <a:p>
            <a:pPr algn="l">
              <a:lnSpc>
                <a:spcPts val="1875"/>
              </a:lnSpc>
              <a:spcBef>
                <a:spcPts val="0"/>
              </a:spcBef>
              <a:spcAft>
                <a:spcPts val="0"/>
              </a:spcAft>
            </a:pPr>
            <a:r>
              <a:rPr lang="fr-FR" sz="1500" b="1">
                <a:solidFill>
                  <a:srgbClr val="FFFFFF"/>
                </a:solidFill>
                <a:latin typeface="Segoe UI"/>
                <a:ea typeface="Segoe UI"/>
                <a:cs typeface="Tahoma"/>
              </a:rPr>
              <a:t xml:space="preserve">Lecture attendue</a:t>
            </a:r>
            <a:endParaRPr lang="fr-FR" sz="1500"/>
          </a:p>
        </p:txBody>
      </p:sp>
      <p:sp>
        <p:nvSpPr>
          <p:cNvPr id="8" name="text-8"/>
          <p:cNvSpPr txBox="1"/>
          <p:nvPr/>
        </p:nvSpPr>
        <p:spPr>
          <a:xfrm>
            <a:off x="7540752" y="2057400"/>
            <a:ext cx="1453515" cy="666750"/>
          </a:xfrm>
          <a:prstGeom prst="rect">
            <a:avLst/>
          </a:prstGeom>
          <a:noFill/>
          <a:ln>
            <a:noFill/>
          </a:ln>
        </p:spPr>
        <p:txBody>
          <a:bodyPr wrap="none" lIns="0" tIns="0" rIns="0" bIns="0" anchor="t"/>
          <a:lstStyle/>
          <a:p>
            <a:pPr algn="l">
              <a:lnSpc>
                <a:spcPts val="1875"/>
              </a:lnSpc>
              <a:spcBef>
                <a:spcPts val="0"/>
              </a:spcBef>
              <a:spcAft>
                <a:spcPts val="0"/>
              </a:spcAft>
            </a:pPr>
            <a:r>
              <a:rPr lang="fr-FR" sz="1500" b="1">
                <a:solidFill>
                  <a:srgbClr val="FFFFFF"/>
                </a:solidFill>
                <a:latin typeface="Segoe UI"/>
                <a:ea typeface="Segoe UI"/>
                <a:cs typeface="Tahoma"/>
              </a:rPr>
              <a:t xml:space="preserve">Score</a:t>
            </a:r>
            <a:endParaRPr lang="fr-FR" sz="1500"/>
          </a:p>
        </p:txBody>
      </p:sp>
      <p:sp>
        <p:nvSpPr>
          <p:cNvPr id="9" name="text-9"/>
          <p:cNvSpPr txBox="1"/>
          <p:nvPr/>
        </p:nvSpPr>
        <p:spPr>
          <a:xfrm>
            <a:off x="9203817" y="2057400"/>
            <a:ext cx="2340483" cy="666750"/>
          </a:xfrm>
          <a:prstGeom prst="rect">
            <a:avLst/>
          </a:prstGeom>
          <a:noFill/>
          <a:ln>
            <a:noFill/>
          </a:ln>
        </p:spPr>
        <p:txBody>
          <a:bodyPr wrap="none" lIns="0" tIns="0" rIns="0" bIns="0" anchor="t"/>
          <a:lstStyle/>
          <a:p>
            <a:pPr algn="l">
              <a:lnSpc>
                <a:spcPts val="1875"/>
              </a:lnSpc>
              <a:spcBef>
                <a:spcPts val="0"/>
              </a:spcBef>
              <a:spcAft>
                <a:spcPts val="0"/>
              </a:spcAft>
            </a:pPr>
            <a:r>
              <a:rPr lang="fr-FR" sz="1500" b="1">
                <a:solidFill>
                  <a:srgbClr val="FFFFFF"/>
                </a:solidFill>
                <a:latin typeface="Segoe UI"/>
                <a:ea typeface="Segoe UI"/>
                <a:cs typeface="Tahoma"/>
              </a:rPr>
              <a:t xml:space="preserve">Décision</a:t>
            </a:r>
            <a:endParaRPr lang="fr-FR" sz="1500"/>
          </a:p>
        </p:txBody>
      </p:sp>
      <p:sp>
        <p:nvSpPr>
          <p:cNvPr id="10" name="rect-10"/>
          <p:cNvSpPr txBox="1"/>
          <p:nvPr/>
        </p:nvSpPr>
        <p:spPr>
          <a:xfrm>
            <a:off x="552450" y="2724150"/>
            <a:ext cx="11087100" cy="695325"/>
          </a:xfrm>
          <a:prstGeom prst="rect">
            <a:avLst/>
          </a:prstGeom>
          <a:solidFill>
            <a:srgbClr val="FFFFFF"/>
          </a:solidFill>
          <a:ln>
            <a:noFill/>
          </a:ln>
        </p:spPr>
      </p:sp>
      <p:sp>
        <p:nvSpPr>
          <p:cNvPr id="11" name="text-11"/>
          <p:cNvSpPr txBox="1"/>
          <p:nvPr/>
        </p:nvSpPr>
        <p:spPr>
          <a:xfrm>
            <a:off x="666750" y="2752725"/>
            <a:ext cx="4225290" cy="666750"/>
          </a:xfrm>
          <a:prstGeom prst="rect">
            <a:avLst/>
          </a:prstGeom>
          <a:noFill/>
          <a:ln>
            <a:noFill/>
          </a:ln>
        </p:spPr>
        <p:txBody>
          <a:bodyPr wrap="none" lIns="0" tIns="0" rIns="0" bIns="0" anchor="t"/>
          <a:lstStyle/>
          <a:p>
            <a:pPr algn="l">
              <a:lnSpc>
                <a:spcPts val="1875"/>
              </a:lnSpc>
              <a:spcBef>
                <a:spcPts val="0"/>
              </a:spcBef>
              <a:spcAft>
                <a:spcPts val="0"/>
              </a:spcAft>
            </a:pPr>
            <a:r>
              <a:rPr lang="fr-FR" sz="1500" b="0">
                <a:solidFill>
                  <a:srgbClr val="203A32"/>
                </a:solidFill>
                <a:latin typeface="Segoe UI"/>
                <a:ea typeface="Segoe UI"/>
                <a:cs typeface="Tahoma"/>
              </a:rPr>
              <a:t xml:space="preserve">Internet coupé, « service excellent »</a:t>
            </a:r>
            <a:endParaRPr lang="fr-FR" sz="1500"/>
          </a:p>
        </p:txBody>
      </p:sp>
      <p:sp>
        <p:nvSpPr>
          <p:cNvPr id="12" name="text-12"/>
          <p:cNvSpPr txBox="1"/>
          <p:nvPr/>
        </p:nvSpPr>
        <p:spPr>
          <a:xfrm>
            <a:off x="5101590" y="2752725"/>
            <a:ext cx="2229612" cy="666750"/>
          </a:xfrm>
          <a:prstGeom prst="rect">
            <a:avLst/>
          </a:prstGeom>
          <a:noFill/>
          <a:ln>
            <a:noFill/>
          </a:ln>
        </p:spPr>
        <p:txBody>
          <a:bodyPr wrap="none" lIns="0" tIns="0" rIns="0" bIns="0" anchor="t"/>
          <a:lstStyle/>
          <a:p>
            <a:pPr algn="l">
              <a:lnSpc>
                <a:spcPts val="1875"/>
              </a:lnSpc>
              <a:spcBef>
                <a:spcPts val="0"/>
              </a:spcBef>
              <a:spcAft>
                <a:spcPts val="0"/>
              </a:spcAft>
            </a:pPr>
            <a:r>
              <a:rPr lang="fr-FR" sz="1500" b="0">
                <a:solidFill>
                  <a:srgbClr val="203A32"/>
                </a:solidFill>
                <a:latin typeface="Segoe UI"/>
                <a:ea typeface="Segoe UI"/>
                <a:cs typeface="Tahoma"/>
              </a:rPr>
              <a:t xml:space="preserve">Ironie</a:t>
            </a:r>
            <a:endParaRPr lang="fr-FR" sz="1500"/>
          </a:p>
        </p:txBody>
      </p:sp>
      <p:sp>
        <p:nvSpPr>
          <p:cNvPr id="13" name="text-13"/>
          <p:cNvSpPr txBox="1"/>
          <p:nvPr/>
        </p:nvSpPr>
        <p:spPr>
          <a:xfrm>
            <a:off x="7540752" y="2752725"/>
            <a:ext cx="1453515" cy="666750"/>
          </a:xfrm>
          <a:prstGeom prst="rect">
            <a:avLst/>
          </a:prstGeom>
          <a:noFill/>
          <a:ln>
            <a:noFill/>
          </a:ln>
        </p:spPr>
        <p:txBody>
          <a:bodyPr wrap="none" lIns="0" tIns="0" rIns="0" bIns="0" anchor="t"/>
          <a:lstStyle/>
          <a:p>
            <a:pPr algn="l">
              <a:lnSpc>
                <a:spcPts val="1875"/>
              </a:lnSpc>
              <a:spcBef>
                <a:spcPts val="0"/>
              </a:spcBef>
              <a:spcAft>
                <a:spcPts val="0"/>
              </a:spcAft>
            </a:pPr>
            <a:r>
              <a:rPr lang="fr-FR" sz="1500" b="0">
                <a:solidFill>
                  <a:srgbClr val="203A32"/>
                </a:solidFill>
                <a:latin typeface="Segoe UI"/>
                <a:ea typeface="Segoe UI"/>
                <a:cs typeface="Tahoma"/>
              </a:rPr>
              <a:t xml:space="preserve">0,002247</a:t>
            </a:r>
            <a:endParaRPr lang="fr-FR" sz="1500"/>
          </a:p>
        </p:txBody>
      </p:sp>
      <p:sp>
        <p:nvSpPr>
          <p:cNvPr id="14" name="text-14"/>
          <p:cNvSpPr txBox="1"/>
          <p:nvPr/>
        </p:nvSpPr>
        <p:spPr>
          <a:xfrm>
            <a:off x="9203817" y="2752725"/>
            <a:ext cx="2340483" cy="666750"/>
          </a:xfrm>
          <a:prstGeom prst="rect">
            <a:avLst/>
          </a:prstGeom>
          <a:noFill/>
          <a:ln>
            <a:noFill/>
          </a:ln>
        </p:spPr>
        <p:txBody>
          <a:bodyPr wrap="none" lIns="0" tIns="0" rIns="0" bIns="0" anchor="t"/>
          <a:lstStyle/>
          <a:p>
            <a:pPr algn="l">
              <a:lnSpc>
                <a:spcPts val="1875"/>
              </a:lnSpc>
              <a:spcBef>
                <a:spcPts val="0"/>
              </a:spcBef>
              <a:spcAft>
                <a:spcPts val="0"/>
              </a:spcAft>
            </a:pPr>
            <a:r>
              <a:rPr lang="fr-FR" sz="1500" b="0">
                <a:solidFill>
                  <a:srgbClr val="203A32"/>
                </a:solidFill>
                <a:latin typeface="Segoe UI"/>
                <a:ea typeface="Segoe UI"/>
                <a:cs typeface="Tahoma"/>
              </a:rPr>
              <a:t xml:space="preserve">Non sarcastique</a:t>
            </a:r>
            <a:endParaRPr lang="fr-FR" sz="1500"/>
          </a:p>
        </p:txBody>
      </p:sp>
      <p:sp>
        <p:nvSpPr>
          <p:cNvPr id="15" name="rect-15"/>
          <p:cNvSpPr txBox="1"/>
          <p:nvPr/>
        </p:nvSpPr>
        <p:spPr>
          <a:xfrm>
            <a:off x="552450" y="3419475"/>
            <a:ext cx="11087100" cy="695325"/>
          </a:xfrm>
          <a:prstGeom prst="rect">
            <a:avLst/>
          </a:prstGeom>
          <a:solidFill>
            <a:srgbClr val="EBEEE6"/>
          </a:solidFill>
          <a:ln>
            <a:noFill/>
          </a:ln>
        </p:spPr>
      </p:sp>
      <p:sp>
        <p:nvSpPr>
          <p:cNvPr id="16" name="text-16"/>
          <p:cNvSpPr txBox="1"/>
          <p:nvPr/>
        </p:nvSpPr>
        <p:spPr>
          <a:xfrm>
            <a:off x="666750" y="3448050"/>
            <a:ext cx="4225290" cy="666750"/>
          </a:xfrm>
          <a:prstGeom prst="rect">
            <a:avLst/>
          </a:prstGeom>
          <a:noFill/>
          <a:ln>
            <a:noFill/>
          </a:ln>
        </p:spPr>
        <p:txBody>
          <a:bodyPr wrap="none" lIns="0" tIns="0" rIns="0" bIns="0" anchor="t"/>
          <a:lstStyle/>
          <a:p>
            <a:pPr algn="l">
              <a:lnSpc>
                <a:spcPts val="1875"/>
              </a:lnSpc>
              <a:spcBef>
                <a:spcPts val="0"/>
              </a:spcBef>
              <a:spcAft>
                <a:spcPts val="0"/>
              </a:spcAft>
            </a:pPr>
            <a:r>
              <a:rPr lang="fr-FR" sz="1500" b="0">
                <a:solidFill>
                  <a:srgbClr val="203A32"/>
                </a:solidFill>
                <a:latin typeface="Segoe UI"/>
                <a:ea typeface="Segoe UI"/>
                <a:cs typeface="Tahoma"/>
              </a:rPr>
              <a:t xml:space="preserve">Beau temps, promenade</a:t>
            </a:r>
            <a:endParaRPr lang="fr-FR" sz="1500"/>
          </a:p>
        </p:txBody>
      </p:sp>
      <p:sp>
        <p:nvSpPr>
          <p:cNvPr id="17" name="text-17"/>
          <p:cNvSpPr txBox="1"/>
          <p:nvPr/>
        </p:nvSpPr>
        <p:spPr>
          <a:xfrm>
            <a:off x="5101590" y="3448050"/>
            <a:ext cx="2229612" cy="666750"/>
          </a:xfrm>
          <a:prstGeom prst="rect">
            <a:avLst/>
          </a:prstGeom>
          <a:noFill/>
          <a:ln>
            <a:noFill/>
          </a:ln>
        </p:spPr>
        <p:txBody>
          <a:bodyPr wrap="none" lIns="0" tIns="0" rIns="0" bIns="0" anchor="t"/>
          <a:lstStyle/>
          <a:p>
            <a:pPr algn="l">
              <a:lnSpc>
                <a:spcPts val="1875"/>
              </a:lnSpc>
              <a:spcBef>
                <a:spcPts val="0"/>
              </a:spcBef>
              <a:spcAft>
                <a:spcPts val="0"/>
              </a:spcAft>
            </a:pPr>
            <a:r>
              <a:rPr lang="fr-FR" sz="1500" b="0">
                <a:solidFill>
                  <a:srgbClr val="203A32"/>
                </a:solidFill>
                <a:latin typeface="Segoe UI"/>
                <a:ea typeface="Segoe UI"/>
                <a:cs typeface="Tahoma"/>
              </a:rPr>
              <a:t xml:space="preserve">Littéral</a:t>
            </a:r>
            <a:endParaRPr lang="fr-FR" sz="1500"/>
          </a:p>
        </p:txBody>
      </p:sp>
      <p:sp>
        <p:nvSpPr>
          <p:cNvPr id="18" name="text-18"/>
          <p:cNvSpPr txBox="1"/>
          <p:nvPr/>
        </p:nvSpPr>
        <p:spPr>
          <a:xfrm>
            <a:off x="7540752" y="3448050"/>
            <a:ext cx="1453515" cy="666750"/>
          </a:xfrm>
          <a:prstGeom prst="rect">
            <a:avLst/>
          </a:prstGeom>
          <a:noFill/>
          <a:ln>
            <a:noFill/>
          </a:ln>
        </p:spPr>
        <p:txBody>
          <a:bodyPr wrap="none" lIns="0" tIns="0" rIns="0" bIns="0" anchor="t"/>
          <a:lstStyle/>
          <a:p>
            <a:pPr algn="l">
              <a:lnSpc>
                <a:spcPts val="1875"/>
              </a:lnSpc>
              <a:spcBef>
                <a:spcPts val="0"/>
              </a:spcBef>
              <a:spcAft>
                <a:spcPts val="0"/>
              </a:spcAft>
            </a:pPr>
            <a:r>
              <a:rPr lang="fr-FR" sz="1500" b="0">
                <a:solidFill>
                  <a:srgbClr val="203A32"/>
                </a:solidFill>
                <a:latin typeface="Segoe UI"/>
                <a:ea typeface="Segoe UI"/>
                <a:cs typeface="Tahoma"/>
              </a:rPr>
              <a:t xml:space="preserve">0,001082</a:t>
            </a:r>
            <a:endParaRPr lang="fr-FR" sz="1500"/>
          </a:p>
        </p:txBody>
      </p:sp>
      <p:sp>
        <p:nvSpPr>
          <p:cNvPr id="19" name="text-19"/>
          <p:cNvSpPr txBox="1"/>
          <p:nvPr/>
        </p:nvSpPr>
        <p:spPr>
          <a:xfrm>
            <a:off x="9203817" y="3448050"/>
            <a:ext cx="2340483" cy="666750"/>
          </a:xfrm>
          <a:prstGeom prst="rect">
            <a:avLst/>
          </a:prstGeom>
          <a:noFill/>
          <a:ln>
            <a:noFill/>
          </a:ln>
        </p:spPr>
        <p:txBody>
          <a:bodyPr wrap="none" lIns="0" tIns="0" rIns="0" bIns="0" anchor="t"/>
          <a:lstStyle/>
          <a:p>
            <a:pPr algn="l">
              <a:lnSpc>
                <a:spcPts val="1875"/>
              </a:lnSpc>
              <a:spcBef>
                <a:spcPts val="0"/>
              </a:spcBef>
              <a:spcAft>
                <a:spcPts val="0"/>
              </a:spcAft>
            </a:pPr>
            <a:r>
              <a:rPr lang="fr-FR" sz="1500" b="0">
                <a:solidFill>
                  <a:srgbClr val="203A32"/>
                </a:solidFill>
                <a:latin typeface="Segoe UI"/>
                <a:ea typeface="Segoe UI"/>
                <a:cs typeface="Tahoma"/>
              </a:rPr>
              <a:t xml:space="preserve">Non sarcastique</a:t>
            </a:r>
            <a:endParaRPr lang="fr-FR" sz="1500"/>
          </a:p>
        </p:txBody>
      </p:sp>
      <p:sp>
        <p:nvSpPr>
          <p:cNvPr id="20" name="rect-20"/>
          <p:cNvSpPr txBox="1"/>
          <p:nvPr/>
        </p:nvSpPr>
        <p:spPr>
          <a:xfrm>
            <a:off x="552450" y="4114800"/>
            <a:ext cx="11087100" cy="695325"/>
          </a:xfrm>
          <a:prstGeom prst="rect">
            <a:avLst/>
          </a:prstGeom>
          <a:solidFill>
            <a:srgbClr val="FFFFFF"/>
          </a:solidFill>
          <a:ln>
            <a:noFill/>
          </a:ln>
        </p:spPr>
      </p:sp>
      <p:sp>
        <p:nvSpPr>
          <p:cNvPr id="21" name="text-21"/>
          <p:cNvSpPr txBox="1"/>
          <p:nvPr/>
        </p:nvSpPr>
        <p:spPr>
          <a:xfrm>
            <a:off x="666750" y="4143375"/>
            <a:ext cx="4225290" cy="666750"/>
          </a:xfrm>
          <a:prstGeom prst="rect">
            <a:avLst/>
          </a:prstGeom>
          <a:noFill/>
          <a:ln>
            <a:noFill/>
          </a:ln>
        </p:spPr>
        <p:txBody>
          <a:bodyPr wrap="none" lIns="0" tIns="0" rIns="0" bIns="0" anchor="t"/>
          <a:lstStyle/>
          <a:p>
            <a:pPr algn="l">
              <a:lnSpc>
                <a:spcPts val="1875"/>
              </a:lnSpc>
              <a:spcBef>
                <a:spcPts val="0"/>
              </a:spcBef>
              <a:spcAft>
                <a:spcPts val="0"/>
              </a:spcAft>
            </a:pPr>
            <a:r>
              <a:rPr lang="fr-FR" sz="1500" b="0">
                <a:solidFill>
                  <a:srgbClr val="203A32"/>
                </a:solidFill>
                <a:latin typeface="Segoe UI"/>
                <a:ea typeface="Segoe UI"/>
                <a:cs typeface="Tahoma"/>
              </a:rPr>
              <a:t xml:space="preserve">Deux heures de retard, « merci »</a:t>
            </a:r>
            <a:endParaRPr lang="fr-FR" sz="1500"/>
          </a:p>
        </p:txBody>
      </p:sp>
      <p:sp>
        <p:nvSpPr>
          <p:cNvPr id="22" name="text-22"/>
          <p:cNvSpPr txBox="1"/>
          <p:nvPr/>
        </p:nvSpPr>
        <p:spPr>
          <a:xfrm>
            <a:off x="5101590" y="4143375"/>
            <a:ext cx="2229612" cy="666750"/>
          </a:xfrm>
          <a:prstGeom prst="rect">
            <a:avLst/>
          </a:prstGeom>
          <a:noFill/>
          <a:ln>
            <a:noFill/>
          </a:ln>
        </p:spPr>
        <p:txBody>
          <a:bodyPr wrap="none" lIns="0" tIns="0" rIns="0" bIns="0" anchor="t"/>
          <a:lstStyle/>
          <a:p>
            <a:pPr algn="l">
              <a:lnSpc>
                <a:spcPts val="1875"/>
              </a:lnSpc>
              <a:spcBef>
                <a:spcPts val="0"/>
              </a:spcBef>
              <a:spcAft>
                <a:spcPts val="0"/>
              </a:spcAft>
            </a:pPr>
            <a:r>
              <a:rPr lang="fr-FR" sz="1500" b="0">
                <a:solidFill>
                  <a:srgbClr val="203A32"/>
                </a:solidFill>
                <a:latin typeface="Segoe UI"/>
                <a:ea typeface="Segoe UI"/>
                <a:cs typeface="Tahoma"/>
              </a:rPr>
              <a:t xml:space="preserve">Ironie</a:t>
            </a:r>
            <a:endParaRPr lang="fr-FR" sz="1500"/>
          </a:p>
        </p:txBody>
      </p:sp>
      <p:sp>
        <p:nvSpPr>
          <p:cNvPr id="23" name="text-23"/>
          <p:cNvSpPr txBox="1"/>
          <p:nvPr/>
        </p:nvSpPr>
        <p:spPr>
          <a:xfrm>
            <a:off x="7540752" y="4143375"/>
            <a:ext cx="1453515" cy="666750"/>
          </a:xfrm>
          <a:prstGeom prst="rect">
            <a:avLst/>
          </a:prstGeom>
          <a:noFill/>
          <a:ln>
            <a:noFill/>
          </a:ln>
        </p:spPr>
        <p:txBody>
          <a:bodyPr wrap="none" lIns="0" tIns="0" rIns="0" bIns="0" anchor="t"/>
          <a:lstStyle/>
          <a:p>
            <a:pPr algn="l">
              <a:lnSpc>
                <a:spcPts val="1875"/>
              </a:lnSpc>
              <a:spcBef>
                <a:spcPts val="0"/>
              </a:spcBef>
              <a:spcAft>
                <a:spcPts val="0"/>
              </a:spcAft>
            </a:pPr>
            <a:r>
              <a:rPr lang="fr-FR" sz="1500" b="0">
                <a:solidFill>
                  <a:srgbClr val="203A32"/>
                </a:solidFill>
                <a:latin typeface="Segoe UI"/>
                <a:ea typeface="Segoe UI"/>
                <a:cs typeface="Tahoma"/>
              </a:rPr>
              <a:t xml:space="preserve">0,015058</a:t>
            </a:r>
            <a:endParaRPr lang="fr-FR" sz="1500"/>
          </a:p>
        </p:txBody>
      </p:sp>
      <p:sp>
        <p:nvSpPr>
          <p:cNvPr id="24" name="text-24"/>
          <p:cNvSpPr txBox="1"/>
          <p:nvPr/>
        </p:nvSpPr>
        <p:spPr>
          <a:xfrm>
            <a:off x="9203817" y="4143375"/>
            <a:ext cx="2340483" cy="666750"/>
          </a:xfrm>
          <a:prstGeom prst="rect">
            <a:avLst/>
          </a:prstGeom>
          <a:noFill/>
          <a:ln>
            <a:noFill/>
          </a:ln>
        </p:spPr>
        <p:txBody>
          <a:bodyPr wrap="none" lIns="0" tIns="0" rIns="0" bIns="0" anchor="t"/>
          <a:lstStyle/>
          <a:p>
            <a:pPr algn="l">
              <a:lnSpc>
                <a:spcPts val="1875"/>
              </a:lnSpc>
              <a:spcBef>
                <a:spcPts val="0"/>
              </a:spcBef>
              <a:spcAft>
                <a:spcPts val="0"/>
              </a:spcAft>
            </a:pPr>
            <a:r>
              <a:rPr lang="fr-FR" sz="1500" b="0">
                <a:solidFill>
                  <a:srgbClr val="203A32"/>
                </a:solidFill>
                <a:latin typeface="Segoe UI"/>
                <a:ea typeface="Segoe UI"/>
                <a:cs typeface="Tahoma"/>
              </a:rPr>
              <a:t xml:space="preserve">Non sarcastique</a:t>
            </a:r>
            <a:endParaRPr lang="fr-FR" sz="1500"/>
          </a:p>
        </p:txBody>
      </p:sp>
      <p:sp>
        <p:nvSpPr>
          <p:cNvPr id="25" name="rect-25"/>
          <p:cNvSpPr txBox="1"/>
          <p:nvPr/>
        </p:nvSpPr>
        <p:spPr>
          <a:xfrm>
            <a:off x="552450" y="4810125"/>
            <a:ext cx="11087100" cy="695325"/>
          </a:xfrm>
          <a:prstGeom prst="rect">
            <a:avLst/>
          </a:prstGeom>
          <a:solidFill>
            <a:srgbClr val="EBEEE6"/>
          </a:solidFill>
          <a:ln>
            <a:noFill/>
          </a:ln>
        </p:spPr>
      </p:sp>
      <p:sp>
        <p:nvSpPr>
          <p:cNvPr id="26" name="text-26"/>
          <p:cNvSpPr txBox="1"/>
          <p:nvPr/>
        </p:nvSpPr>
        <p:spPr>
          <a:xfrm>
            <a:off x="666750" y="4838700"/>
            <a:ext cx="4225290" cy="666750"/>
          </a:xfrm>
          <a:prstGeom prst="rect">
            <a:avLst/>
          </a:prstGeom>
          <a:noFill/>
          <a:ln>
            <a:noFill/>
          </a:ln>
        </p:spPr>
        <p:txBody>
          <a:bodyPr wrap="none" lIns="0" tIns="0" rIns="0" bIns="0" anchor="t"/>
          <a:lstStyle/>
          <a:p>
            <a:pPr algn="l">
              <a:lnSpc>
                <a:spcPts val="1875"/>
              </a:lnSpc>
              <a:spcBef>
                <a:spcPts val="0"/>
              </a:spcBef>
              <a:spcAft>
                <a:spcPts val="0"/>
              </a:spcAft>
            </a:pPr>
            <a:r>
              <a:rPr lang="fr-FR" sz="1500" b="0">
                <a:solidFill>
                  <a:srgbClr val="203A32"/>
                </a:solidFill>
                <a:latin typeface="Segoe UI"/>
                <a:ea typeface="Segoe UI"/>
                <a:cs typeface="Tahoma"/>
              </a:rPr>
              <a:t xml:space="preserve">Je n’ai pas aimé ce film</a:t>
            </a:r>
            <a:endParaRPr lang="fr-FR" sz="1500"/>
          </a:p>
        </p:txBody>
      </p:sp>
      <p:sp>
        <p:nvSpPr>
          <p:cNvPr id="27" name="text-27"/>
          <p:cNvSpPr txBox="1"/>
          <p:nvPr/>
        </p:nvSpPr>
        <p:spPr>
          <a:xfrm>
            <a:off x="5101590" y="4838700"/>
            <a:ext cx="2229612" cy="666750"/>
          </a:xfrm>
          <a:prstGeom prst="rect">
            <a:avLst/>
          </a:prstGeom>
          <a:noFill/>
          <a:ln>
            <a:noFill/>
          </a:ln>
        </p:spPr>
        <p:txBody>
          <a:bodyPr wrap="none" lIns="0" tIns="0" rIns="0" bIns="0" anchor="t"/>
          <a:lstStyle/>
          <a:p>
            <a:pPr algn="l">
              <a:lnSpc>
                <a:spcPts val="1875"/>
              </a:lnSpc>
              <a:spcBef>
                <a:spcPts val="0"/>
              </a:spcBef>
              <a:spcAft>
                <a:spcPts val="0"/>
              </a:spcAft>
            </a:pPr>
            <a:r>
              <a:rPr lang="fr-FR" sz="1500" b="0">
                <a:solidFill>
                  <a:srgbClr val="203A32"/>
                </a:solidFill>
                <a:latin typeface="Segoe UI"/>
                <a:ea typeface="Segoe UI"/>
                <a:cs typeface="Tahoma"/>
              </a:rPr>
              <a:t xml:space="preserve">Critique littérale</a:t>
            </a:r>
            <a:endParaRPr lang="fr-FR" sz="1500"/>
          </a:p>
        </p:txBody>
      </p:sp>
      <p:sp>
        <p:nvSpPr>
          <p:cNvPr id="28" name="text-28"/>
          <p:cNvSpPr txBox="1"/>
          <p:nvPr/>
        </p:nvSpPr>
        <p:spPr>
          <a:xfrm>
            <a:off x="7540752" y="4838700"/>
            <a:ext cx="1453515" cy="666750"/>
          </a:xfrm>
          <a:prstGeom prst="rect">
            <a:avLst/>
          </a:prstGeom>
          <a:noFill/>
          <a:ln>
            <a:noFill/>
          </a:ln>
        </p:spPr>
        <p:txBody>
          <a:bodyPr wrap="none" lIns="0" tIns="0" rIns="0" bIns="0" anchor="t"/>
          <a:lstStyle/>
          <a:p>
            <a:pPr algn="l">
              <a:lnSpc>
                <a:spcPts val="1875"/>
              </a:lnSpc>
              <a:spcBef>
                <a:spcPts val="0"/>
              </a:spcBef>
              <a:spcAft>
                <a:spcPts val="0"/>
              </a:spcAft>
            </a:pPr>
            <a:r>
              <a:rPr lang="fr-FR" sz="1500" b="0">
                <a:solidFill>
                  <a:srgbClr val="203A32"/>
                </a:solidFill>
                <a:latin typeface="Segoe UI"/>
                <a:ea typeface="Segoe UI"/>
                <a:cs typeface="Tahoma"/>
              </a:rPr>
              <a:t xml:space="preserve">0,017326</a:t>
            </a:r>
            <a:endParaRPr lang="fr-FR" sz="1500"/>
          </a:p>
        </p:txBody>
      </p:sp>
      <p:sp>
        <p:nvSpPr>
          <p:cNvPr id="29" name="text-29"/>
          <p:cNvSpPr txBox="1"/>
          <p:nvPr/>
        </p:nvSpPr>
        <p:spPr>
          <a:xfrm>
            <a:off x="9203817" y="4838700"/>
            <a:ext cx="2340483" cy="666750"/>
          </a:xfrm>
          <a:prstGeom prst="rect">
            <a:avLst/>
          </a:prstGeom>
          <a:noFill/>
          <a:ln>
            <a:noFill/>
          </a:ln>
        </p:spPr>
        <p:txBody>
          <a:bodyPr wrap="none" lIns="0" tIns="0" rIns="0" bIns="0" anchor="t"/>
          <a:lstStyle/>
          <a:p>
            <a:pPr algn="l">
              <a:lnSpc>
                <a:spcPts val="1875"/>
              </a:lnSpc>
              <a:spcBef>
                <a:spcPts val="0"/>
              </a:spcBef>
              <a:spcAft>
                <a:spcPts val="0"/>
              </a:spcAft>
            </a:pPr>
            <a:r>
              <a:rPr lang="fr-FR" sz="1500" b="0">
                <a:solidFill>
                  <a:srgbClr val="203A32"/>
                </a:solidFill>
                <a:latin typeface="Segoe UI"/>
                <a:ea typeface="Segoe UI"/>
                <a:cs typeface="Tahoma"/>
              </a:rPr>
              <a:t xml:space="preserve">Non sarcastique</a:t>
            </a:r>
            <a:endParaRPr lang="fr-FR" sz="1500"/>
          </a:p>
        </p:txBody>
      </p:sp>
      <p:sp>
        <p:nvSpPr>
          <p:cNvPr id="30" name="rect-30"/>
          <p:cNvSpPr txBox="1"/>
          <p:nvPr/>
        </p:nvSpPr>
        <p:spPr>
          <a:xfrm>
            <a:off x="552450" y="5810250"/>
            <a:ext cx="11087100" cy="542925"/>
          </a:xfrm>
          <a:prstGeom prst="rect">
            <a:avLst/>
          </a:prstGeom>
          <a:solidFill>
            <a:srgbClr val="DDE7D6"/>
          </a:solidFill>
          <a:ln>
            <a:noFill/>
          </a:ln>
        </p:spPr>
      </p:sp>
      <p:sp>
        <p:nvSpPr>
          <p:cNvPr id="31" name="text-31"/>
          <p:cNvSpPr txBox="1"/>
          <p:nvPr/>
        </p:nvSpPr>
        <p:spPr>
          <a:xfrm>
            <a:off x="723900" y="5857875"/>
            <a:ext cx="10715625" cy="476250"/>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285D4B"/>
                </a:solidFill>
                <a:latin typeface="Segoe UI"/>
                <a:ea typeface="Segoe UI"/>
                <a:cs typeface="Tahoma"/>
              </a:rPr>
              <a:t xml:space="preserve">Capture : E2 λ 0,5, seuil 0,579043. Checkpoint différent du final T4. Quatre exemples ne forment pas un nouveau test annoté.</a:t>
            </a:r>
            <a:endParaRPr lang="fr-FR" sz="1350"/>
          </a:p>
        </p:txBody>
      </p:sp>
      <p:cxnSp>
        <p:nvCxnSpPr>
          <p:cNvPr id="32" name="line-32"/>
          <p:cNvCxnSpPr/>
          <p:nvPr/>
        </p:nvCxnSpPr>
        <p:spPr>
          <a:xfrm>
            <a:off x="552450" y="6505575"/>
            <a:ext cx="11087100" cy="0"/>
          </a:xfrm>
          <a:prstGeom prst="line">
            <a:avLst/>
          </a:prstGeom>
          <a:ln w="9525">
            <a:solidFill>
              <a:srgbClr val="D4DBCE"/>
            </a:solidFill>
          </a:ln>
        </p:spPr>
      </p:cxnSp>
      <p:sp>
        <p:nvSpPr>
          <p:cNvPr id="33" name="text-33"/>
          <p:cNvSpPr txBox="1"/>
          <p:nvPr/>
        </p:nvSpPr>
        <p:spPr>
          <a:xfrm>
            <a:off x="552450" y="6572250"/>
            <a:ext cx="8572500" cy="219075"/>
          </a:xfrm>
          <a:prstGeom prst="rect">
            <a:avLst/>
          </a:prstGeom>
          <a:noFill/>
          <a:ln>
            <a:noFill/>
          </a:ln>
        </p:spPr>
        <p:txBody>
          <a:bodyPr wrap="none" lIns="0" tIns="0" rIns="0" bIns="0" anchor="t"/>
          <a:lstStyle/>
          <a:p>
            <a:pPr algn="l">
              <a:lnSpc>
                <a:spcPts val="1125"/>
              </a:lnSpc>
              <a:spcBef>
                <a:spcPts val="0"/>
              </a:spcBef>
              <a:spcAft>
                <a:spcPts val="0"/>
              </a:spcAft>
            </a:pPr>
            <a:r>
              <a:rPr lang="fr-FR" sz="900" b="0">
                <a:solidFill>
                  <a:srgbClr val="64736B"/>
                </a:solidFill>
                <a:latin typeface="Segoe UI"/>
                <a:ea typeface="Segoe UI"/>
                <a:cs typeface="Tahoma"/>
              </a:rPr>
              <a:t xml:space="preserve">LMA3NA · Omar Elkhali · BDIOT</a:t>
            </a:r>
            <a:endParaRPr lang="fr-FR" sz="900"/>
          </a:p>
        </p:txBody>
      </p:sp>
      <p:sp>
        <p:nvSpPr>
          <p:cNvPr id="34" name="text-34"/>
          <p:cNvSpPr txBox="1"/>
          <p:nvPr/>
        </p:nvSpPr>
        <p:spPr>
          <a:xfrm>
            <a:off x="10763250" y="6572250"/>
            <a:ext cx="876300" cy="219075"/>
          </a:xfrm>
          <a:prstGeom prst="rect">
            <a:avLst/>
          </a:prstGeom>
          <a:noFill/>
          <a:ln>
            <a:noFill/>
          </a:ln>
        </p:spPr>
        <p:txBody>
          <a:bodyPr wrap="none" lIns="0" tIns="0" rIns="0" bIns="0" anchor="t"/>
          <a:lstStyle/>
          <a:p>
            <a:pPr algn="r">
              <a:lnSpc>
                <a:spcPts val="1125"/>
              </a:lnSpc>
              <a:spcBef>
                <a:spcPts val="0"/>
              </a:spcBef>
              <a:spcAft>
                <a:spcPts val="0"/>
              </a:spcAft>
            </a:pPr>
            <a:r>
              <a:rPr lang="fr-FR" sz="900" b="0">
                <a:solidFill>
                  <a:srgbClr val="64736B"/>
                </a:solidFill>
                <a:latin typeface="Segoe UI"/>
                <a:ea typeface="Segoe UI"/>
                <a:cs typeface="Tahoma"/>
              </a:rPr>
              <a:t xml:space="preserve">29 / 38</a:t>
            </a:r>
            <a:endParaRPr lang="fr-FR" sz="900"/>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5F4EE"/>
        </a:solidFill>
        <a:effectLst/>
      </p:bgPr>
    </p:bg>
    <p:spTree>
      <p:nvGrpSpPr>
        <p:cNvPr id="1" name=""/>
        <p:cNvGrpSpPr/>
        <p:nvPr/>
      </p:nvGrpSpPr>
      <p:grpSpPr>
        <a:xfrm>
          <a:off x="0" y="0"/>
          <a:ext cx="0" cy="0"/>
          <a:chOff x="0" y="0"/>
          <a:chExt cx="0" cy="0"/>
        </a:xfrm>
      </p:grpSpPr>
      <p:sp>
        <p:nvSpPr>
          <p:cNvPr id="2" name="rect-2"/>
          <p:cNvSpPr txBox="1"/>
          <p:nvPr/>
        </p:nvSpPr>
        <p:spPr>
          <a:xfrm>
            <a:off x="552450" y="361950"/>
            <a:ext cx="400050" cy="38100"/>
          </a:xfrm>
          <a:prstGeom prst="rect">
            <a:avLst/>
          </a:prstGeom>
          <a:solidFill>
            <a:srgbClr val="E6A477"/>
          </a:solidFill>
          <a:ln>
            <a:noFill/>
          </a:ln>
        </p:spPr>
      </p:sp>
      <p:sp>
        <p:nvSpPr>
          <p:cNvPr id="3" name="text-3"/>
          <p:cNvSpPr txBox="1"/>
          <p:nvPr/>
        </p:nvSpPr>
        <p:spPr>
          <a:xfrm>
            <a:off x="1066800" y="276225"/>
            <a:ext cx="10287000" cy="266700"/>
          </a:xfrm>
          <a:prstGeom prst="rect">
            <a:avLst/>
          </a:prstGeom>
          <a:noFill/>
          <a:ln>
            <a:noFill/>
          </a:ln>
        </p:spPr>
        <p:txBody>
          <a:bodyPr wrap="none" lIns="0" tIns="0" rIns="0" bIns="0" anchor="t"/>
          <a:lstStyle/>
          <a:p>
            <a:pPr algn="l">
              <a:lnSpc>
                <a:spcPts val="1406"/>
              </a:lnSpc>
              <a:spcBef>
                <a:spcPts val="0"/>
              </a:spcBef>
              <a:spcAft>
                <a:spcPts val="0"/>
              </a:spcAft>
            </a:pPr>
            <a:r>
              <a:rPr lang="fr-FR" sz="1125" b="1">
                <a:solidFill>
                  <a:srgbClr val="285D4B"/>
                </a:solidFill>
                <a:latin typeface="Segoe UI"/>
                <a:ea typeface="Segoe UI"/>
                <a:cs typeface="Tahoma"/>
              </a:rPr>
              <a:t xml:space="preserve">07 · RÉALISATION</a:t>
            </a:r>
            <a:endParaRPr lang="fr-FR" sz="1125"/>
          </a:p>
        </p:txBody>
      </p:sp>
      <p:sp>
        <p:nvSpPr>
          <p:cNvPr id="4" name="text-4"/>
          <p:cNvSpPr txBox="1"/>
          <p:nvPr/>
        </p:nvSpPr>
        <p:spPr>
          <a:xfrm>
            <a:off x="552450" y="790575"/>
            <a:ext cx="11087100" cy="1066800"/>
          </a:xfrm>
          <a:prstGeom prst="rect">
            <a:avLst/>
          </a:prstGeom>
          <a:noFill/>
          <a:ln>
            <a:noFill/>
          </a:ln>
        </p:spPr>
        <p:txBody>
          <a:bodyPr wrap="none" lIns="0" tIns="0" rIns="0" bIns="0" anchor="t"/>
          <a:lstStyle/>
          <a:p>
            <a:pPr algn="l">
              <a:lnSpc>
                <a:spcPts val="4031"/>
              </a:lnSpc>
              <a:spcBef>
                <a:spcPts val="0"/>
              </a:spcBef>
              <a:spcAft>
                <a:spcPts val="0"/>
              </a:spcAft>
            </a:pPr>
            <a:r>
              <a:rPr lang="fr-FR" sz="3225" b="1">
                <a:solidFill>
                  <a:srgbClr val="203A32"/>
                </a:solidFill>
                <a:latin typeface="Segoe UI"/>
                <a:ea typeface="Segoe UI"/>
                <a:cs typeface="Tahoma"/>
              </a:rPr>
              <a:t xml:space="preserve">Les difficultés techniques ont des solutions identifiées</a:t>
            </a:r>
            <a:endParaRPr lang="fr-FR" sz="3225"/>
          </a:p>
        </p:txBody>
      </p:sp>
      <p:sp>
        <p:nvSpPr>
          <p:cNvPr id="5" name="rect-5"/>
          <p:cNvSpPr txBox="1"/>
          <p:nvPr/>
        </p:nvSpPr>
        <p:spPr>
          <a:xfrm>
            <a:off x="552450" y="2028825"/>
            <a:ext cx="11087100" cy="552450"/>
          </a:xfrm>
          <a:prstGeom prst="rect">
            <a:avLst/>
          </a:prstGeom>
          <a:solidFill>
            <a:srgbClr val="285D4B"/>
          </a:solidFill>
          <a:ln>
            <a:noFill/>
          </a:ln>
        </p:spPr>
      </p:sp>
      <p:sp>
        <p:nvSpPr>
          <p:cNvPr id="6" name="text-6"/>
          <p:cNvSpPr txBox="1"/>
          <p:nvPr/>
        </p:nvSpPr>
        <p:spPr>
          <a:xfrm>
            <a:off x="666750" y="2057400"/>
            <a:ext cx="4557903" cy="523875"/>
          </a:xfrm>
          <a:prstGeom prst="rect">
            <a:avLst/>
          </a:prstGeom>
          <a:noFill/>
          <a:ln>
            <a:noFill/>
          </a:ln>
        </p:spPr>
        <p:txBody>
          <a:bodyPr wrap="none" lIns="0" tIns="0" rIns="0" bIns="0" anchor="t"/>
          <a:lstStyle/>
          <a:p>
            <a:pPr algn="l">
              <a:lnSpc>
                <a:spcPts val="1875"/>
              </a:lnSpc>
              <a:spcBef>
                <a:spcPts val="0"/>
              </a:spcBef>
              <a:spcAft>
                <a:spcPts val="0"/>
              </a:spcAft>
            </a:pPr>
            <a:r>
              <a:rPr lang="fr-FR" sz="1500" b="1">
                <a:solidFill>
                  <a:srgbClr val="FFFFFF"/>
                </a:solidFill>
                <a:latin typeface="Segoe UI"/>
                <a:ea typeface="Segoe UI"/>
                <a:cs typeface="Tahoma"/>
              </a:rPr>
              <a:t xml:space="preserve">Problème</a:t>
            </a:r>
            <a:endParaRPr lang="fr-FR" sz="1500"/>
          </a:p>
        </p:txBody>
      </p:sp>
      <p:sp>
        <p:nvSpPr>
          <p:cNvPr id="7" name="text-7"/>
          <p:cNvSpPr txBox="1"/>
          <p:nvPr/>
        </p:nvSpPr>
        <p:spPr>
          <a:xfrm>
            <a:off x="5434203" y="2057400"/>
            <a:ext cx="6110097" cy="523875"/>
          </a:xfrm>
          <a:prstGeom prst="rect">
            <a:avLst/>
          </a:prstGeom>
          <a:noFill/>
          <a:ln>
            <a:noFill/>
          </a:ln>
        </p:spPr>
        <p:txBody>
          <a:bodyPr wrap="none" lIns="0" tIns="0" rIns="0" bIns="0" anchor="t"/>
          <a:lstStyle/>
          <a:p>
            <a:pPr algn="l">
              <a:lnSpc>
                <a:spcPts val="1875"/>
              </a:lnSpc>
              <a:spcBef>
                <a:spcPts val="0"/>
              </a:spcBef>
              <a:spcAft>
                <a:spcPts val="0"/>
              </a:spcAft>
            </a:pPr>
            <a:r>
              <a:rPr lang="fr-FR" sz="1500" b="1">
                <a:solidFill>
                  <a:srgbClr val="FFFFFF"/>
                </a:solidFill>
                <a:latin typeface="Segoe UI"/>
                <a:ea typeface="Segoe UI"/>
                <a:cs typeface="Tahoma"/>
              </a:rPr>
              <a:t xml:space="preserve">Solution dans le projet</a:t>
            </a:r>
            <a:endParaRPr lang="fr-FR" sz="1500"/>
          </a:p>
        </p:txBody>
      </p:sp>
      <p:sp>
        <p:nvSpPr>
          <p:cNvPr id="8" name="rect-8"/>
          <p:cNvSpPr txBox="1"/>
          <p:nvPr/>
        </p:nvSpPr>
        <p:spPr>
          <a:xfrm>
            <a:off x="552450" y="2581275"/>
            <a:ext cx="11087100" cy="552450"/>
          </a:xfrm>
          <a:prstGeom prst="rect">
            <a:avLst/>
          </a:prstGeom>
          <a:solidFill>
            <a:srgbClr val="FFFFFF"/>
          </a:solidFill>
          <a:ln>
            <a:noFill/>
          </a:ln>
        </p:spPr>
      </p:sp>
      <p:sp>
        <p:nvSpPr>
          <p:cNvPr id="9" name="text-9"/>
          <p:cNvSpPr txBox="1"/>
          <p:nvPr/>
        </p:nvSpPr>
        <p:spPr>
          <a:xfrm>
            <a:off x="666750" y="2609850"/>
            <a:ext cx="4557903" cy="523875"/>
          </a:xfrm>
          <a:prstGeom prst="rect">
            <a:avLst/>
          </a:prstGeom>
          <a:noFill/>
          <a:ln>
            <a:noFill/>
          </a:ln>
        </p:spPr>
        <p:txBody>
          <a:bodyPr wrap="none" lIns="0" tIns="0" rIns="0" bIns="0" anchor="t"/>
          <a:lstStyle/>
          <a:p>
            <a:pPr algn="l">
              <a:lnSpc>
                <a:spcPts val="1875"/>
              </a:lnSpc>
              <a:spcBef>
                <a:spcPts val="0"/>
              </a:spcBef>
              <a:spcAft>
                <a:spcPts val="0"/>
              </a:spcAft>
            </a:pPr>
            <a:r>
              <a:rPr lang="fr-FR" sz="1500" b="0">
                <a:solidFill>
                  <a:srgbClr val="203A32"/>
                </a:solidFill>
                <a:latin typeface="Segoe UI"/>
                <a:ea typeface="Segoe UI"/>
                <a:cs typeface="Tahoma"/>
              </a:rPr>
              <a:t xml:space="preserve">Dépendances absentes sur Colab</a:t>
            </a:r>
            <a:endParaRPr lang="fr-FR" sz="1500"/>
          </a:p>
        </p:txBody>
      </p:sp>
      <p:sp>
        <p:nvSpPr>
          <p:cNvPr id="10" name="text-10"/>
          <p:cNvSpPr txBox="1"/>
          <p:nvPr/>
        </p:nvSpPr>
        <p:spPr>
          <a:xfrm>
            <a:off x="5434203" y="2609850"/>
            <a:ext cx="6110097" cy="523875"/>
          </a:xfrm>
          <a:prstGeom prst="rect">
            <a:avLst/>
          </a:prstGeom>
          <a:noFill/>
          <a:ln>
            <a:noFill/>
          </a:ln>
        </p:spPr>
        <p:txBody>
          <a:bodyPr wrap="none" lIns="0" tIns="0" rIns="0" bIns="0" anchor="t"/>
          <a:lstStyle/>
          <a:p>
            <a:pPr algn="l">
              <a:lnSpc>
                <a:spcPts val="1875"/>
              </a:lnSpc>
              <a:spcBef>
                <a:spcPts val="0"/>
              </a:spcBef>
              <a:spcAft>
                <a:spcPts val="0"/>
              </a:spcAft>
            </a:pPr>
            <a:r>
              <a:rPr lang="fr-FR" sz="1500" b="0">
                <a:solidFill>
                  <a:srgbClr val="203A32"/>
                </a:solidFill>
                <a:latin typeface="Segoe UI"/>
                <a:ea typeface="Segoe UI"/>
                <a:cs typeface="Tahoma"/>
              </a:rPr>
              <a:t xml:space="preserve">Installation dans le Python du noyau, puis redémarrage</a:t>
            </a:r>
            <a:endParaRPr lang="fr-FR" sz="1500"/>
          </a:p>
        </p:txBody>
      </p:sp>
      <p:sp>
        <p:nvSpPr>
          <p:cNvPr id="11" name="rect-11"/>
          <p:cNvSpPr txBox="1"/>
          <p:nvPr/>
        </p:nvSpPr>
        <p:spPr>
          <a:xfrm>
            <a:off x="552450" y="3133725"/>
            <a:ext cx="11087100" cy="552450"/>
          </a:xfrm>
          <a:prstGeom prst="rect">
            <a:avLst/>
          </a:prstGeom>
          <a:solidFill>
            <a:srgbClr val="EBEEE6"/>
          </a:solidFill>
          <a:ln>
            <a:noFill/>
          </a:ln>
        </p:spPr>
      </p:sp>
      <p:sp>
        <p:nvSpPr>
          <p:cNvPr id="12" name="text-12"/>
          <p:cNvSpPr txBox="1"/>
          <p:nvPr/>
        </p:nvSpPr>
        <p:spPr>
          <a:xfrm>
            <a:off x="666750" y="3162300"/>
            <a:ext cx="4557903" cy="523875"/>
          </a:xfrm>
          <a:prstGeom prst="rect">
            <a:avLst/>
          </a:prstGeom>
          <a:noFill/>
          <a:ln>
            <a:noFill/>
          </a:ln>
        </p:spPr>
        <p:txBody>
          <a:bodyPr wrap="none" lIns="0" tIns="0" rIns="0" bIns="0" anchor="t"/>
          <a:lstStyle/>
          <a:p>
            <a:pPr algn="l">
              <a:lnSpc>
                <a:spcPts val="1875"/>
              </a:lnSpc>
              <a:spcBef>
                <a:spcPts val="0"/>
              </a:spcBef>
              <a:spcAft>
                <a:spcPts val="0"/>
              </a:spcAft>
            </a:pPr>
            <a:r>
              <a:rPr lang="fr-FR" sz="1500" b="0">
                <a:solidFill>
                  <a:srgbClr val="203A32"/>
                </a:solidFill>
                <a:latin typeface="Segoe UI"/>
                <a:ea typeface="Segoe UI"/>
                <a:cs typeface="Tahoma"/>
              </a:rPr>
              <a:t xml:space="preserve">Disque Windows invisible depuis Colab</a:t>
            </a:r>
            <a:endParaRPr lang="fr-FR" sz="1500"/>
          </a:p>
        </p:txBody>
      </p:sp>
      <p:sp>
        <p:nvSpPr>
          <p:cNvPr id="13" name="text-13"/>
          <p:cNvSpPr txBox="1"/>
          <p:nvPr/>
        </p:nvSpPr>
        <p:spPr>
          <a:xfrm>
            <a:off x="5434203" y="3162300"/>
            <a:ext cx="6110097" cy="523875"/>
          </a:xfrm>
          <a:prstGeom prst="rect">
            <a:avLst/>
          </a:prstGeom>
          <a:noFill/>
          <a:ln>
            <a:noFill/>
          </a:ln>
        </p:spPr>
        <p:txBody>
          <a:bodyPr wrap="none" lIns="0" tIns="0" rIns="0" bIns="0" anchor="t"/>
          <a:lstStyle/>
          <a:p>
            <a:pPr algn="l">
              <a:lnSpc>
                <a:spcPts val="1875"/>
              </a:lnSpc>
              <a:spcBef>
                <a:spcPts val="0"/>
              </a:spcBef>
              <a:spcAft>
                <a:spcPts val="0"/>
              </a:spcAft>
            </a:pPr>
            <a:r>
              <a:rPr lang="fr-FR" sz="1500" b="0">
                <a:solidFill>
                  <a:srgbClr val="203A32"/>
                </a:solidFill>
                <a:latin typeface="Segoe UI"/>
                <a:ea typeface="Segoe UI"/>
                <a:cs typeface="Tahoma"/>
              </a:rPr>
              <a:t xml:space="preserve">Chemins du projet distant et ressources vérifiées</a:t>
            </a:r>
            <a:endParaRPr lang="fr-FR" sz="1500"/>
          </a:p>
        </p:txBody>
      </p:sp>
      <p:sp>
        <p:nvSpPr>
          <p:cNvPr id="14" name="rect-14"/>
          <p:cNvSpPr txBox="1"/>
          <p:nvPr/>
        </p:nvSpPr>
        <p:spPr>
          <a:xfrm>
            <a:off x="552450" y="3686175"/>
            <a:ext cx="11087100" cy="552450"/>
          </a:xfrm>
          <a:prstGeom prst="rect">
            <a:avLst/>
          </a:prstGeom>
          <a:solidFill>
            <a:srgbClr val="FFFFFF"/>
          </a:solidFill>
          <a:ln>
            <a:noFill/>
          </a:ln>
        </p:spPr>
      </p:sp>
      <p:sp>
        <p:nvSpPr>
          <p:cNvPr id="15" name="text-15"/>
          <p:cNvSpPr txBox="1"/>
          <p:nvPr/>
        </p:nvSpPr>
        <p:spPr>
          <a:xfrm>
            <a:off x="666750" y="3714750"/>
            <a:ext cx="4557903" cy="523875"/>
          </a:xfrm>
          <a:prstGeom prst="rect">
            <a:avLst/>
          </a:prstGeom>
          <a:noFill/>
          <a:ln>
            <a:noFill/>
          </a:ln>
        </p:spPr>
        <p:txBody>
          <a:bodyPr wrap="none" lIns="0" tIns="0" rIns="0" bIns="0" anchor="t"/>
          <a:lstStyle/>
          <a:p>
            <a:pPr algn="l">
              <a:lnSpc>
                <a:spcPts val="1875"/>
              </a:lnSpc>
              <a:spcBef>
                <a:spcPts val="0"/>
              </a:spcBef>
              <a:spcAft>
                <a:spcPts val="0"/>
              </a:spcAft>
            </a:pPr>
            <a:r>
              <a:rPr lang="fr-FR" sz="1500" b="0">
                <a:solidFill>
                  <a:srgbClr val="203A32"/>
                </a:solidFill>
                <a:latin typeface="Segoe UI"/>
                <a:ea typeface="Segoe UI"/>
                <a:cs typeface="Tahoma"/>
              </a:rPr>
              <a:t xml:space="preserve">Chargements et tokenisations répétés</a:t>
            </a:r>
            <a:endParaRPr lang="fr-FR" sz="1500"/>
          </a:p>
        </p:txBody>
      </p:sp>
      <p:sp>
        <p:nvSpPr>
          <p:cNvPr id="16" name="text-16"/>
          <p:cNvSpPr txBox="1"/>
          <p:nvPr/>
        </p:nvSpPr>
        <p:spPr>
          <a:xfrm>
            <a:off x="5434203" y="3714750"/>
            <a:ext cx="6110097" cy="523875"/>
          </a:xfrm>
          <a:prstGeom prst="rect">
            <a:avLst/>
          </a:prstGeom>
          <a:noFill/>
          <a:ln>
            <a:noFill/>
          </a:ln>
        </p:spPr>
        <p:txBody>
          <a:bodyPr wrap="none" lIns="0" tIns="0" rIns="0" bIns="0" anchor="t"/>
          <a:lstStyle/>
          <a:p>
            <a:pPr algn="l">
              <a:lnSpc>
                <a:spcPts val="1875"/>
              </a:lnSpc>
              <a:spcBef>
                <a:spcPts val="0"/>
              </a:spcBef>
              <a:spcAft>
                <a:spcPts val="0"/>
              </a:spcAft>
            </a:pPr>
            <a:r>
              <a:rPr lang="fr-FR" sz="1500" b="0">
                <a:solidFill>
                  <a:srgbClr val="203A32"/>
                </a:solidFill>
                <a:latin typeface="Segoe UI"/>
                <a:ea typeface="Segoe UI"/>
                <a:cs typeface="Tahoma"/>
              </a:rPr>
              <a:t xml:space="preserve">Caches, padding dynamique et réemploi des ressources</a:t>
            </a:r>
            <a:endParaRPr lang="fr-FR" sz="1500"/>
          </a:p>
        </p:txBody>
      </p:sp>
      <p:sp>
        <p:nvSpPr>
          <p:cNvPr id="17" name="rect-17"/>
          <p:cNvSpPr txBox="1"/>
          <p:nvPr/>
        </p:nvSpPr>
        <p:spPr>
          <a:xfrm>
            <a:off x="552450" y="4238625"/>
            <a:ext cx="11087100" cy="552450"/>
          </a:xfrm>
          <a:prstGeom prst="rect">
            <a:avLst/>
          </a:prstGeom>
          <a:solidFill>
            <a:srgbClr val="EBEEE6"/>
          </a:solidFill>
          <a:ln>
            <a:noFill/>
          </a:ln>
        </p:spPr>
      </p:sp>
      <p:sp>
        <p:nvSpPr>
          <p:cNvPr id="18" name="text-18"/>
          <p:cNvSpPr txBox="1"/>
          <p:nvPr/>
        </p:nvSpPr>
        <p:spPr>
          <a:xfrm>
            <a:off x="666750" y="4267200"/>
            <a:ext cx="4557903" cy="523875"/>
          </a:xfrm>
          <a:prstGeom prst="rect">
            <a:avLst/>
          </a:prstGeom>
          <a:noFill/>
          <a:ln>
            <a:noFill/>
          </a:ln>
        </p:spPr>
        <p:txBody>
          <a:bodyPr wrap="none" lIns="0" tIns="0" rIns="0" bIns="0" anchor="t"/>
          <a:lstStyle/>
          <a:p>
            <a:pPr algn="l">
              <a:lnSpc>
                <a:spcPts val="1875"/>
              </a:lnSpc>
              <a:spcBef>
                <a:spcPts val="0"/>
              </a:spcBef>
              <a:spcAft>
                <a:spcPts val="0"/>
              </a:spcAft>
            </a:pPr>
            <a:r>
              <a:rPr lang="fr-FR" sz="1500" b="0">
                <a:solidFill>
                  <a:srgbClr val="203A32"/>
                </a:solidFill>
                <a:latin typeface="Segoe UI"/>
                <a:ea typeface="Segoe UI"/>
                <a:cs typeface="Tahoma"/>
              </a:rPr>
              <a:t xml:space="preserve">Avertissement bert.pooler</a:t>
            </a:r>
            <a:endParaRPr lang="fr-FR" sz="1500"/>
          </a:p>
        </p:txBody>
      </p:sp>
      <p:sp>
        <p:nvSpPr>
          <p:cNvPr id="19" name="text-19"/>
          <p:cNvSpPr txBox="1"/>
          <p:nvPr/>
        </p:nvSpPr>
        <p:spPr>
          <a:xfrm>
            <a:off x="5434203" y="4267200"/>
            <a:ext cx="6110097" cy="523875"/>
          </a:xfrm>
          <a:prstGeom prst="rect">
            <a:avLst/>
          </a:prstGeom>
          <a:noFill/>
          <a:ln>
            <a:noFill/>
          </a:ln>
        </p:spPr>
        <p:txBody>
          <a:bodyPr wrap="none" lIns="0" tIns="0" rIns="0" bIns="0" anchor="t"/>
          <a:lstStyle/>
          <a:p>
            <a:pPr algn="l">
              <a:lnSpc>
                <a:spcPts val="1875"/>
              </a:lnSpc>
              <a:spcBef>
                <a:spcPts val="0"/>
              </a:spcBef>
              <a:spcAft>
                <a:spcPts val="0"/>
              </a:spcAft>
            </a:pPr>
            <a:r>
              <a:rPr lang="fr-FR" sz="1500" b="0">
                <a:solidFill>
                  <a:srgbClr val="203A32"/>
                </a:solidFill>
                <a:latin typeface="Segoe UI"/>
                <a:ea typeface="Segoe UI"/>
                <a:cs typeface="Tahoma"/>
              </a:rPr>
              <a:t xml:space="preserve">CLS brut utilisé, pooler hors de la tête de décision</a:t>
            </a:r>
            <a:endParaRPr lang="fr-FR" sz="1500"/>
          </a:p>
        </p:txBody>
      </p:sp>
      <p:sp>
        <p:nvSpPr>
          <p:cNvPr id="20" name="rect-20"/>
          <p:cNvSpPr txBox="1"/>
          <p:nvPr/>
        </p:nvSpPr>
        <p:spPr>
          <a:xfrm>
            <a:off x="552450" y="4791075"/>
            <a:ext cx="11087100" cy="552450"/>
          </a:xfrm>
          <a:prstGeom prst="rect">
            <a:avLst/>
          </a:prstGeom>
          <a:solidFill>
            <a:srgbClr val="FFFFFF"/>
          </a:solidFill>
          <a:ln>
            <a:noFill/>
          </a:ln>
        </p:spPr>
      </p:sp>
      <p:sp>
        <p:nvSpPr>
          <p:cNvPr id="21" name="text-21"/>
          <p:cNvSpPr txBox="1"/>
          <p:nvPr/>
        </p:nvSpPr>
        <p:spPr>
          <a:xfrm>
            <a:off x="666750" y="4819650"/>
            <a:ext cx="4557903" cy="523875"/>
          </a:xfrm>
          <a:prstGeom prst="rect">
            <a:avLst/>
          </a:prstGeom>
          <a:noFill/>
          <a:ln>
            <a:noFill/>
          </a:ln>
        </p:spPr>
        <p:txBody>
          <a:bodyPr wrap="none" lIns="0" tIns="0" rIns="0" bIns="0" anchor="t"/>
          <a:lstStyle/>
          <a:p>
            <a:pPr algn="l">
              <a:lnSpc>
                <a:spcPts val="1875"/>
              </a:lnSpc>
              <a:spcBef>
                <a:spcPts val="0"/>
              </a:spcBef>
              <a:spcAft>
                <a:spcPts val="0"/>
              </a:spcAft>
            </a:pPr>
            <a:r>
              <a:rPr lang="fr-FR" sz="1500" b="0">
                <a:solidFill>
                  <a:srgbClr val="203A32"/>
                </a:solidFill>
                <a:latin typeface="Segoe UI"/>
                <a:ea typeface="Segoe UI"/>
                <a:cs typeface="Tahoma"/>
              </a:rPr>
              <a:t xml:space="preserve">Graphiques historiques vides</a:t>
            </a:r>
            <a:endParaRPr lang="fr-FR" sz="1500"/>
          </a:p>
        </p:txBody>
      </p:sp>
      <p:sp>
        <p:nvSpPr>
          <p:cNvPr id="22" name="text-22"/>
          <p:cNvSpPr txBox="1"/>
          <p:nvPr/>
        </p:nvSpPr>
        <p:spPr>
          <a:xfrm>
            <a:off x="5434203" y="4819650"/>
            <a:ext cx="6110097" cy="523875"/>
          </a:xfrm>
          <a:prstGeom prst="rect">
            <a:avLst/>
          </a:prstGeom>
          <a:noFill/>
          <a:ln>
            <a:noFill/>
          </a:ln>
        </p:spPr>
        <p:txBody>
          <a:bodyPr wrap="none" lIns="0" tIns="0" rIns="0" bIns="0" anchor="t"/>
          <a:lstStyle/>
          <a:p>
            <a:pPr algn="l">
              <a:lnSpc>
                <a:spcPts val="1875"/>
              </a:lnSpc>
              <a:spcBef>
                <a:spcPts val="0"/>
              </a:spcBef>
              <a:spcAft>
                <a:spcPts val="0"/>
              </a:spcAft>
            </a:pPr>
            <a:r>
              <a:rPr lang="fr-FR" sz="1500" b="0">
                <a:solidFill>
                  <a:srgbClr val="203A32"/>
                </a:solidFill>
                <a:latin typeface="Segoe UI"/>
                <a:ea typeface="Segoe UI"/>
                <a:cs typeface="Tahoma"/>
              </a:rPr>
              <a:t xml:space="preserve">Affichage conditionnel des données, exclusion des axes vides</a:t>
            </a:r>
            <a:endParaRPr lang="fr-FR" sz="1500"/>
          </a:p>
        </p:txBody>
      </p:sp>
      <p:sp>
        <p:nvSpPr>
          <p:cNvPr id="23" name="rect-23"/>
          <p:cNvSpPr txBox="1"/>
          <p:nvPr/>
        </p:nvSpPr>
        <p:spPr>
          <a:xfrm>
            <a:off x="552450" y="5343525"/>
            <a:ext cx="11087100" cy="552450"/>
          </a:xfrm>
          <a:prstGeom prst="rect">
            <a:avLst/>
          </a:prstGeom>
          <a:solidFill>
            <a:srgbClr val="EBEEE6"/>
          </a:solidFill>
          <a:ln>
            <a:noFill/>
          </a:ln>
        </p:spPr>
      </p:sp>
      <p:sp>
        <p:nvSpPr>
          <p:cNvPr id="24" name="text-24"/>
          <p:cNvSpPr txBox="1"/>
          <p:nvPr/>
        </p:nvSpPr>
        <p:spPr>
          <a:xfrm>
            <a:off x="666750" y="5372100"/>
            <a:ext cx="4557903" cy="523875"/>
          </a:xfrm>
          <a:prstGeom prst="rect">
            <a:avLst/>
          </a:prstGeom>
          <a:noFill/>
          <a:ln>
            <a:noFill/>
          </a:ln>
        </p:spPr>
        <p:txBody>
          <a:bodyPr wrap="none" lIns="0" tIns="0" rIns="0" bIns="0" anchor="t"/>
          <a:lstStyle/>
          <a:p>
            <a:pPr algn="l">
              <a:lnSpc>
                <a:spcPts val="1875"/>
              </a:lnSpc>
              <a:spcBef>
                <a:spcPts val="0"/>
              </a:spcBef>
              <a:spcAft>
                <a:spcPts val="0"/>
              </a:spcAft>
            </a:pPr>
            <a:r>
              <a:rPr lang="fr-FR" sz="1500" b="0">
                <a:solidFill>
                  <a:srgbClr val="203A32"/>
                </a:solidFill>
                <a:latin typeface="Segoe UI"/>
                <a:ea typeface="Segoe UI"/>
                <a:cs typeface="Tahoma"/>
              </a:rPr>
              <a:t xml:space="preserve">CPU local, RAM 16 Go</a:t>
            </a:r>
            <a:endParaRPr lang="fr-FR" sz="1500"/>
          </a:p>
        </p:txBody>
      </p:sp>
      <p:sp>
        <p:nvSpPr>
          <p:cNvPr id="25" name="text-25"/>
          <p:cNvSpPr txBox="1"/>
          <p:nvPr/>
        </p:nvSpPr>
        <p:spPr>
          <a:xfrm>
            <a:off x="5434203" y="5372100"/>
            <a:ext cx="6110097" cy="523875"/>
          </a:xfrm>
          <a:prstGeom prst="rect">
            <a:avLst/>
          </a:prstGeom>
          <a:noFill/>
          <a:ln>
            <a:noFill/>
          </a:ln>
        </p:spPr>
        <p:txBody>
          <a:bodyPr wrap="none" lIns="0" tIns="0" rIns="0" bIns="0" anchor="t"/>
          <a:lstStyle/>
          <a:p>
            <a:pPr algn="l">
              <a:lnSpc>
                <a:spcPts val="1875"/>
              </a:lnSpc>
              <a:spcBef>
                <a:spcPts val="0"/>
              </a:spcBef>
              <a:spcAft>
                <a:spcPts val="0"/>
              </a:spcAft>
            </a:pPr>
            <a:r>
              <a:rPr lang="fr-FR" sz="1500" b="0">
                <a:solidFill>
                  <a:srgbClr val="203A32"/>
                </a:solidFill>
                <a:latin typeface="Segoe UI"/>
                <a:ea typeface="Segoe UI"/>
                <a:cs typeface="Tahoma"/>
              </a:rPr>
              <a:t xml:space="preserve">Inférences séquentielles et chargement différé</a:t>
            </a:r>
            <a:endParaRPr lang="fr-FR" sz="1500"/>
          </a:p>
        </p:txBody>
      </p:sp>
      <p:sp>
        <p:nvSpPr>
          <p:cNvPr id="26" name="text-26"/>
          <p:cNvSpPr txBox="1"/>
          <p:nvPr/>
        </p:nvSpPr>
        <p:spPr>
          <a:xfrm>
            <a:off x="552450" y="6067425"/>
            <a:ext cx="11049000" cy="342900"/>
          </a:xfrm>
          <a:prstGeom prst="rect">
            <a:avLst/>
          </a:prstGeom>
          <a:noFill/>
          <a:ln>
            <a:noFill/>
          </a:ln>
        </p:spPr>
        <p:txBody>
          <a:bodyPr wrap="none" lIns="0" tIns="0" rIns="0" bIns="0" anchor="t"/>
          <a:lstStyle/>
          <a:p>
            <a:pPr algn="l">
              <a:lnSpc>
                <a:spcPts val="1594"/>
              </a:lnSpc>
              <a:spcBef>
                <a:spcPts val="0"/>
              </a:spcBef>
              <a:spcAft>
                <a:spcPts val="0"/>
              </a:spcAft>
            </a:pPr>
            <a:r>
              <a:rPr lang="fr-FR" sz="1275" b="0">
                <a:solidFill>
                  <a:srgbClr val="64736B"/>
                </a:solidFill>
                <a:latin typeface="Segoe UI"/>
                <a:ea typeface="Segoe UI"/>
                <a:cs typeface="Tahoma"/>
              </a:rPr>
              <a:t xml:space="preserve">Le cache de taille de vocabulaire évite aussi un calcul répété dans la préparation de la campagne T4.</a:t>
            </a:r>
            <a:endParaRPr lang="fr-FR" sz="1275"/>
          </a:p>
        </p:txBody>
      </p:sp>
      <p:cxnSp>
        <p:nvCxnSpPr>
          <p:cNvPr id="27" name="line-27"/>
          <p:cNvCxnSpPr/>
          <p:nvPr/>
        </p:nvCxnSpPr>
        <p:spPr>
          <a:xfrm>
            <a:off x="552450" y="6505575"/>
            <a:ext cx="11087100" cy="0"/>
          </a:xfrm>
          <a:prstGeom prst="line">
            <a:avLst/>
          </a:prstGeom>
          <a:ln w="9525">
            <a:solidFill>
              <a:srgbClr val="D4DBCE"/>
            </a:solidFill>
          </a:ln>
        </p:spPr>
      </p:cxnSp>
      <p:sp>
        <p:nvSpPr>
          <p:cNvPr id="28" name="text-28"/>
          <p:cNvSpPr txBox="1"/>
          <p:nvPr/>
        </p:nvSpPr>
        <p:spPr>
          <a:xfrm>
            <a:off x="552450" y="6572250"/>
            <a:ext cx="8572500" cy="219075"/>
          </a:xfrm>
          <a:prstGeom prst="rect">
            <a:avLst/>
          </a:prstGeom>
          <a:noFill/>
          <a:ln>
            <a:noFill/>
          </a:ln>
        </p:spPr>
        <p:txBody>
          <a:bodyPr wrap="none" lIns="0" tIns="0" rIns="0" bIns="0" anchor="t"/>
          <a:lstStyle/>
          <a:p>
            <a:pPr algn="l">
              <a:lnSpc>
                <a:spcPts val="1125"/>
              </a:lnSpc>
              <a:spcBef>
                <a:spcPts val="0"/>
              </a:spcBef>
              <a:spcAft>
                <a:spcPts val="0"/>
              </a:spcAft>
            </a:pPr>
            <a:r>
              <a:rPr lang="fr-FR" sz="900" b="0">
                <a:solidFill>
                  <a:srgbClr val="64736B"/>
                </a:solidFill>
                <a:latin typeface="Segoe UI"/>
                <a:ea typeface="Segoe UI"/>
                <a:cs typeface="Tahoma"/>
              </a:rPr>
              <a:t xml:space="preserve">LMA3NA · Omar Elkhali · BDIOT</a:t>
            </a:r>
            <a:endParaRPr lang="fr-FR" sz="900"/>
          </a:p>
        </p:txBody>
      </p:sp>
      <p:sp>
        <p:nvSpPr>
          <p:cNvPr id="29" name="text-29"/>
          <p:cNvSpPr txBox="1"/>
          <p:nvPr/>
        </p:nvSpPr>
        <p:spPr>
          <a:xfrm>
            <a:off x="10763250" y="6572250"/>
            <a:ext cx="876300" cy="219075"/>
          </a:xfrm>
          <a:prstGeom prst="rect">
            <a:avLst/>
          </a:prstGeom>
          <a:noFill/>
          <a:ln>
            <a:noFill/>
          </a:ln>
        </p:spPr>
        <p:txBody>
          <a:bodyPr wrap="none" lIns="0" tIns="0" rIns="0" bIns="0" anchor="t"/>
          <a:lstStyle/>
          <a:p>
            <a:pPr algn="r">
              <a:lnSpc>
                <a:spcPts val="1125"/>
              </a:lnSpc>
              <a:spcBef>
                <a:spcPts val="0"/>
              </a:spcBef>
              <a:spcAft>
                <a:spcPts val="0"/>
              </a:spcAft>
            </a:pPr>
            <a:r>
              <a:rPr lang="fr-FR" sz="900" b="0">
                <a:solidFill>
                  <a:srgbClr val="64736B"/>
                </a:solidFill>
                <a:latin typeface="Segoe UI"/>
                <a:ea typeface="Segoe UI"/>
                <a:cs typeface="Tahoma"/>
              </a:rPr>
              <a:t xml:space="preserve">30 / 38</a:t>
            </a:r>
            <a:endParaRPr lang="fr-FR" sz="900"/>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5F4EE"/>
        </a:solidFill>
        <a:effectLst/>
      </p:bgPr>
    </p:bg>
    <p:spTree>
      <p:nvGrpSpPr>
        <p:cNvPr id="1" name=""/>
        <p:cNvGrpSpPr/>
        <p:nvPr/>
      </p:nvGrpSpPr>
      <p:grpSpPr>
        <a:xfrm>
          <a:off x="0" y="0"/>
          <a:ext cx="0" cy="0"/>
          <a:chOff x="0" y="0"/>
          <a:chExt cx="0" cy="0"/>
        </a:xfrm>
      </p:grpSpPr>
      <p:sp>
        <p:nvSpPr>
          <p:cNvPr id="2" name="rect-2"/>
          <p:cNvSpPr txBox="1"/>
          <p:nvPr/>
        </p:nvSpPr>
        <p:spPr>
          <a:xfrm>
            <a:off x="552450" y="361950"/>
            <a:ext cx="400050" cy="38100"/>
          </a:xfrm>
          <a:prstGeom prst="rect">
            <a:avLst/>
          </a:prstGeom>
          <a:solidFill>
            <a:srgbClr val="E6A477"/>
          </a:solidFill>
          <a:ln>
            <a:noFill/>
          </a:ln>
        </p:spPr>
      </p:sp>
      <p:sp>
        <p:nvSpPr>
          <p:cNvPr id="3" name="text-3"/>
          <p:cNvSpPr txBox="1"/>
          <p:nvPr/>
        </p:nvSpPr>
        <p:spPr>
          <a:xfrm>
            <a:off x="1066800" y="276225"/>
            <a:ext cx="10287000" cy="266700"/>
          </a:xfrm>
          <a:prstGeom prst="rect">
            <a:avLst/>
          </a:prstGeom>
          <a:noFill/>
          <a:ln>
            <a:noFill/>
          </a:ln>
        </p:spPr>
        <p:txBody>
          <a:bodyPr wrap="none" lIns="0" tIns="0" rIns="0" bIns="0" anchor="t"/>
          <a:lstStyle/>
          <a:p>
            <a:pPr algn="l">
              <a:lnSpc>
                <a:spcPts val="1406"/>
              </a:lnSpc>
              <a:spcBef>
                <a:spcPts val="0"/>
              </a:spcBef>
              <a:spcAft>
                <a:spcPts val="0"/>
              </a:spcAft>
            </a:pPr>
            <a:r>
              <a:rPr lang="fr-FR" sz="1125" b="1">
                <a:solidFill>
                  <a:srgbClr val="285D4B"/>
                </a:solidFill>
                <a:latin typeface="Segoe UI"/>
                <a:ea typeface="Segoe UI"/>
                <a:cs typeface="Tahoma"/>
              </a:rPr>
              <a:t xml:space="preserve">07 · APPLICATION WEB</a:t>
            </a:r>
            <a:endParaRPr lang="fr-FR" sz="1125"/>
          </a:p>
        </p:txBody>
      </p:sp>
      <p:sp>
        <p:nvSpPr>
          <p:cNvPr id="4" name="text-4"/>
          <p:cNvSpPr txBox="1"/>
          <p:nvPr/>
        </p:nvSpPr>
        <p:spPr>
          <a:xfrm>
            <a:off x="552450" y="790575"/>
            <a:ext cx="11087100" cy="1066800"/>
          </a:xfrm>
          <a:prstGeom prst="rect">
            <a:avLst/>
          </a:prstGeom>
          <a:noFill/>
          <a:ln>
            <a:noFill/>
          </a:ln>
        </p:spPr>
        <p:txBody>
          <a:bodyPr wrap="none" lIns="0" tIns="0" rIns="0" bIns="0" anchor="t"/>
          <a:lstStyle/>
          <a:p>
            <a:pPr algn="l">
              <a:lnSpc>
                <a:spcPts val="4031"/>
              </a:lnSpc>
              <a:spcBef>
                <a:spcPts val="0"/>
              </a:spcBef>
              <a:spcAft>
                <a:spcPts val="0"/>
              </a:spcAft>
            </a:pPr>
            <a:r>
              <a:rPr lang="fr-FR" sz="3225" b="1">
                <a:solidFill>
                  <a:srgbClr val="203A32"/>
                </a:solidFill>
                <a:latin typeface="Segoe UI"/>
                <a:ea typeface="Segoe UI"/>
                <a:cs typeface="Tahoma"/>
              </a:rPr>
              <a:t xml:space="preserve">LMA3NA rassemble les résultats et leurs sources</a:t>
            </a:r>
            <a:endParaRPr lang="fr-FR" sz="3225"/>
          </a:p>
        </p:txBody>
      </p:sp>
      <p:pic>
        <p:nvPicPr>
          <p:cNvPr id="5" name="image-5"/>
          <p:cNvPicPr>
            <a:picLocks noChangeAspect="1"/>
          </p:cNvPicPr>
          <p:nvPr/>
        </p:nvPicPr>
        <p:blipFill>
          <a:blip r:embed="rId3"/>
          <a:stretch>
            <a:fillRect/>
          </a:stretch>
        </p:blipFill>
        <p:spPr>
          <a:xfrm>
            <a:off x="552450" y="2045100"/>
            <a:ext cx="7572375" cy="3529800"/>
          </a:xfrm>
          <a:prstGeom prst="rect">
            <a:avLst/>
          </a:prstGeom>
        </p:spPr>
      </p:pic>
      <p:sp>
        <p:nvSpPr>
          <p:cNvPr id="6" name="text-6"/>
          <p:cNvSpPr txBox="1"/>
          <p:nvPr/>
        </p:nvSpPr>
        <p:spPr>
          <a:xfrm>
            <a:off x="8458200" y="2000250"/>
            <a:ext cx="3162300" cy="762000"/>
          </a:xfrm>
          <a:prstGeom prst="rect">
            <a:avLst/>
          </a:prstGeom>
          <a:noFill/>
          <a:ln>
            <a:noFill/>
          </a:ln>
        </p:spPr>
        <p:txBody>
          <a:bodyPr wrap="none" lIns="0" tIns="0" rIns="0" bIns="0" anchor="t"/>
          <a:lstStyle/>
          <a:p>
            <a:pPr algn="l">
              <a:lnSpc>
                <a:spcPts val="2719"/>
              </a:lnSpc>
              <a:spcBef>
                <a:spcPts val="0"/>
              </a:spcBef>
              <a:spcAft>
                <a:spcPts val="0"/>
              </a:spcAft>
            </a:pPr>
            <a:r>
              <a:rPr lang="fr-FR" sz="2175" b="1">
                <a:solidFill>
                  <a:srgbClr val="285D4B"/>
                </a:solidFill>
                <a:latin typeface="Segoe UI"/>
                <a:ea typeface="Segoe UI"/>
                <a:cs typeface="Tahoma"/>
              </a:rPr>
              <a:t xml:space="preserve">Un espace de</a:t>
            </a:r>
            <a:endParaRPr lang="fr-FR" sz="2175"/>
          </a:p>
          <a:p>
            <a:pPr algn="l">
              <a:lnSpc>
                <a:spcPts val="2719"/>
              </a:lnSpc>
              <a:spcBef>
                <a:spcPts val="0"/>
              </a:spcBef>
              <a:spcAft>
                <a:spcPts val="0"/>
              </a:spcAft>
            </a:pPr>
            <a:r>
              <a:rPr lang="fr-FR" sz="2175" b="1">
                <a:solidFill>
                  <a:srgbClr val="285D4B"/>
                </a:solidFill>
                <a:latin typeface="Segoe UI"/>
                <a:ea typeface="Segoe UI"/>
                <a:cs typeface="Tahoma"/>
              </a:rPr>
              <a:t xml:space="preserve">restitution</a:t>
            </a:r>
            <a:endParaRPr lang="fr-FR" sz="2175"/>
          </a:p>
        </p:txBody>
      </p:sp>
      <p:sp>
        <p:nvSpPr>
          <p:cNvPr id="7" name="text-7"/>
          <p:cNvSpPr txBox="1"/>
          <p:nvPr/>
        </p:nvSpPr>
        <p:spPr>
          <a:xfrm>
            <a:off x="8458200" y="3000375"/>
            <a:ext cx="3162300" cy="2381250"/>
          </a:xfrm>
          <a:prstGeom prst="rect">
            <a:avLst/>
          </a:prstGeom>
          <a:noFill/>
          <a:ln>
            <a:noFill/>
          </a:ln>
        </p:spPr>
        <p:txBody>
          <a:bodyPr wrap="none" lIns="0" tIns="0" rIns="0" bIns="0" anchor="t"/>
          <a:lstStyle/>
          <a:p>
            <a:pPr algn="l">
              <a:lnSpc>
                <a:spcPts val="2250"/>
              </a:lnSpc>
              <a:spcBef>
                <a:spcPts val="0"/>
              </a:spcBef>
              <a:spcAft>
                <a:spcPts val="0"/>
              </a:spcAft>
            </a:pPr>
            <a:r>
              <a:rPr lang="fr-FR" sz="1800" b="0">
                <a:solidFill>
                  <a:srgbClr val="64736B"/>
                </a:solidFill>
                <a:latin typeface="Segoe UI"/>
                <a:ea typeface="Segoe UI"/>
                <a:cs typeface="Tahoma"/>
              </a:rPr>
              <a:t xml:space="preserve">50 tableaux enregistrés</a:t>
            </a:r>
            <a:endParaRPr lang="fr-FR" sz="1800"/>
          </a:p>
          <a:p>
            <a:pPr algn="l">
              <a:lnSpc>
                <a:spcPts val="2250"/>
              </a:lnSpc>
              <a:spcBef>
                <a:spcPts val="0"/>
              </a:spcBef>
              <a:spcAft>
                <a:spcPts val="0"/>
              </a:spcAft>
            </a:pPr>
            <a:r>
              <a:rPr lang="fr-FR" sz="1800" b="0">
                <a:solidFill>
                  <a:srgbClr val="64736B"/>
                </a:solidFill>
                <a:latin typeface="Segoe UI"/>
                <a:ea typeface="Segoe UI"/>
                <a:cs typeface="Tahoma"/>
              </a:rPr>
              <a:t xml:space="preserve">19 figures exploitables</a:t>
            </a:r>
            <a:endParaRPr lang="fr-FR" sz="1800"/>
          </a:p>
          <a:p>
            <a:pPr algn="l">
              <a:lnSpc>
                <a:spcPts val="2250"/>
              </a:lnSpc>
              <a:spcBef>
                <a:spcPts val="0"/>
              </a:spcBef>
              <a:spcAft>
                <a:spcPts val="0"/>
              </a:spcAft>
            </a:pPr>
            <a:r>
              <a:rPr lang="fr-FR" sz="1800" b="0">
                <a:solidFill>
                  <a:srgbClr val="64736B"/>
                </a:solidFill>
                <a:latin typeface="Segoe UI"/>
                <a:ea typeface="Segoe UI"/>
                <a:cs typeface="Tahoma"/>
              </a:rPr>
              <a:t xml:space="preserve">17 évaluations T4</a:t>
            </a:r>
            <a:endParaRPr lang="fr-FR" sz="1800"/>
          </a:p>
          <a:p>
            <a:pPr algn="l">
              <a:lnSpc>
                <a:spcPts val="2250"/>
              </a:lnSpc>
              <a:spcBef>
                <a:spcPts val="0"/>
              </a:spcBef>
              <a:spcAft>
                <a:spcPts val="0"/>
              </a:spcAft>
            </a:pPr>
            <a:r>
              <a:rPr lang="fr-FR" sz="1800" b="0">
                <a:solidFill>
                  <a:srgbClr val="64736B"/>
                </a:solidFill>
                <a:latin typeface="Segoe UI"/>
                <a:ea typeface="Segoe UI"/>
                <a:cs typeface="Tahoma"/>
              </a:rPr>
              <a:t xml:space="preserve">Modèles et techniques</a:t>
            </a:r>
            <a:endParaRPr lang="fr-FR" sz="1800"/>
          </a:p>
          <a:p>
            <a:pPr algn="l">
              <a:lnSpc>
                <a:spcPts val="2250"/>
              </a:lnSpc>
              <a:spcBef>
                <a:spcPts val="0"/>
              </a:spcBef>
              <a:spcAft>
                <a:spcPts val="0"/>
              </a:spcAft>
            </a:pPr>
            <a:r>
              <a:rPr lang="fr-FR" sz="1800" b="0">
                <a:solidFill>
                  <a:srgbClr val="64736B"/>
                </a:solidFill>
                <a:latin typeface="Segoe UI"/>
                <a:ea typeface="Segoe UI"/>
                <a:cs typeface="Tahoma"/>
              </a:rPr>
              <a:t xml:space="preserve">Provenance et limites</a:t>
            </a:r>
            <a:endParaRPr lang="fr-FR" sz="1800"/>
          </a:p>
        </p:txBody>
      </p:sp>
      <p:sp>
        <p:nvSpPr>
          <p:cNvPr id="8" name="rect-8"/>
          <p:cNvSpPr txBox="1"/>
          <p:nvPr/>
        </p:nvSpPr>
        <p:spPr>
          <a:xfrm>
            <a:off x="552450" y="5810250"/>
            <a:ext cx="11087100" cy="542925"/>
          </a:xfrm>
          <a:prstGeom prst="rect">
            <a:avLst/>
          </a:prstGeom>
          <a:solidFill>
            <a:srgbClr val="DDE7D6"/>
          </a:solidFill>
          <a:ln>
            <a:noFill/>
          </a:ln>
        </p:spPr>
      </p:sp>
      <p:sp>
        <p:nvSpPr>
          <p:cNvPr id="9" name="text-9"/>
          <p:cNvSpPr txBox="1"/>
          <p:nvPr/>
        </p:nvSpPr>
        <p:spPr>
          <a:xfrm>
            <a:off x="723900" y="5857875"/>
            <a:ext cx="10715625" cy="476250"/>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285D4B"/>
                </a:solidFill>
                <a:latin typeface="Segoe UI"/>
                <a:ea typeface="Segoe UI"/>
                <a:cs typeface="Tahoma"/>
              </a:rPr>
              <a:t xml:space="preserve">Application locale. Les métriques T4 historiques et la validation CPU locale restent séparées.</a:t>
            </a:r>
            <a:endParaRPr lang="fr-FR" sz="1350"/>
          </a:p>
        </p:txBody>
      </p:sp>
      <p:cxnSp>
        <p:nvCxnSpPr>
          <p:cNvPr id="10" name="line-10"/>
          <p:cNvCxnSpPr/>
          <p:nvPr/>
        </p:nvCxnSpPr>
        <p:spPr>
          <a:xfrm>
            <a:off x="552450" y="6505575"/>
            <a:ext cx="11087100" cy="0"/>
          </a:xfrm>
          <a:prstGeom prst="line">
            <a:avLst/>
          </a:prstGeom>
          <a:ln w="9525">
            <a:solidFill>
              <a:srgbClr val="D4DBCE"/>
            </a:solidFill>
          </a:ln>
        </p:spPr>
      </p:cxnSp>
      <p:sp>
        <p:nvSpPr>
          <p:cNvPr id="11" name="text-11"/>
          <p:cNvSpPr txBox="1"/>
          <p:nvPr/>
        </p:nvSpPr>
        <p:spPr>
          <a:xfrm>
            <a:off x="552450" y="6572250"/>
            <a:ext cx="8572500" cy="219075"/>
          </a:xfrm>
          <a:prstGeom prst="rect">
            <a:avLst/>
          </a:prstGeom>
          <a:noFill/>
          <a:ln>
            <a:noFill/>
          </a:ln>
        </p:spPr>
        <p:txBody>
          <a:bodyPr wrap="none" lIns="0" tIns="0" rIns="0" bIns="0" anchor="t"/>
          <a:lstStyle/>
          <a:p>
            <a:pPr algn="l">
              <a:lnSpc>
                <a:spcPts val="1125"/>
              </a:lnSpc>
              <a:spcBef>
                <a:spcPts val="0"/>
              </a:spcBef>
              <a:spcAft>
                <a:spcPts val="0"/>
              </a:spcAft>
            </a:pPr>
            <a:r>
              <a:rPr lang="fr-FR" sz="900" b="0">
                <a:solidFill>
                  <a:srgbClr val="64736B"/>
                </a:solidFill>
                <a:latin typeface="Segoe UI"/>
                <a:ea typeface="Segoe UI"/>
                <a:cs typeface="Tahoma"/>
              </a:rPr>
              <a:t xml:space="preserve">LMA3NA · Omar Elkhali · BDIOT</a:t>
            </a:r>
            <a:endParaRPr lang="fr-FR" sz="900"/>
          </a:p>
        </p:txBody>
      </p:sp>
      <p:sp>
        <p:nvSpPr>
          <p:cNvPr id="12" name="text-12"/>
          <p:cNvSpPr txBox="1"/>
          <p:nvPr/>
        </p:nvSpPr>
        <p:spPr>
          <a:xfrm>
            <a:off x="10763250" y="6572250"/>
            <a:ext cx="876300" cy="219075"/>
          </a:xfrm>
          <a:prstGeom prst="rect">
            <a:avLst/>
          </a:prstGeom>
          <a:noFill/>
          <a:ln>
            <a:noFill/>
          </a:ln>
        </p:spPr>
        <p:txBody>
          <a:bodyPr wrap="none" lIns="0" tIns="0" rIns="0" bIns="0" anchor="t"/>
          <a:lstStyle/>
          <a:p>
            <a:pPr algn="r">
              <a:lnSpc>
                <a:spcPts val="1125"/>
              </a:lnSpc>
              <a:spcBef>
                <a:spcPts val="0"/>
              </a:spcBef>
              <a:spcAft>
                <a:spcPts val="0"/>
              </a:spcAft>
            </a:pPr>
            <a:r>
              <a:rPr lang="fr-FR" sz="900" b="0">
                <a:solidFill>
                  <a:srgbClr val="64736B"/>
                </a:solidFill>
                <a:latin typeface="Segoe UI"/>
                <a:ea typeface="Segoe UI"/>
                <a:cs typeface="Tahoma"/>
              </a:rPr>
              <a:t xml:space="preserve">31 / 38</a:t>
            </a:r>
            <a:endParaRPr lang="fr-FR" sz="900"/>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F5F4EE"/>
        </a:solidFill>
        <a:effectLst/>
      </p:bgPr>
    </p:bg>
    <p:spTree>
      <p:nvGrpSpPr>
        <p:cNvPr id="1" name=""/>
        <p:cNvGrpSpPr/>
        <p:nvPr/>
      </p:nvGrpSpPr>
      <p:grpSpPr>
        <a:xfrm>
          <a:off x="0" y="0"/>
          <a:ext cx="0" cy="0"/>
          <a:chOff x="0" y="0"/>
          <a:chExt cx="0" cy="0"/>
        </a:xfrm>
      </p:grpSpPr>
      <p:sp>
        <p:nvSpPr>
          <p:cNvPr id="2" name="rect-2"/>
          <p:cNvSpPr txBox="1"/>
          <p:nvPr/>
        </p:nvSpPr>
        <p:spPr>
          <a:xfrm>
            <a:off x="552450" y="361950"/>
            <a:ext cx="400050" cy="38100"/>
          </a:xfrm>
          <a:prstGeom prst="rect">
            <a:avLst/>
          </a:prstGeom>
          <a:solidFill>
            <a:srgbClr val="E6A477"/>
          </a:solidFill>
          <a:ln>
            <a:noFill/>
          </a:ln>
        </p:spPr>
      </p:sp>
      <p:sp>
        <p:nvSpPr>
          <p:cNvPr id="3" name="text-3"/>
          <p:cNvSpPr txBox="1"/>
          <p:nvPr/>
        </p:nvSpPr>
        <p:spPr>
          <a:xfrm>
            <a:off x="1066800" y="276225"/>
            <a:ext cx="10287000" cy="266700"/>
          </a:xfrm>
          <a:prstGeom prst="rect">
            <a:avLst/>
          </a:prstGeom>
          <a:noFill/>
          <a:ln>
            <a:noFill/>
          </a:ln>
        </p:spPr>
        <p:txBody>
          <a:bodyPr wrap="none" lIns="0" tIns="0" rIns="0" bIns="0" anchor="t"/>
          <a:lstStyle/>
          <a:p>
            <a:pPr algn="l">
              <a:lnSpc>
                <a:spcPts val="1406"/>
              </a:lnSpc>
              <a:spcBef>
                <a:spcPts val="0"/>
              </a:spcBef>
              <a:spcAft>
                <a:spcPts val="0"/>
              </a:spcAft>
            </a:pPr>
            <a:r>
              <a:rPr lang="fr-FR" sz="1125" b="1">
                <a:solidFill>
                  <a:srgbClr val="285D4B"/>
                </a:solidFill>
                <a:latin typeface="Segoe UI"/>
                <a:ea typeface="Segoe UI"/>
                <a:cs typeface="Tahoma"/>
              </a:rPr>
              <a:t xml:space="preserve">07 · INFÉRENCE</a:t>
            </a:r>
            <a:endParaRPr lang="fr-FR" sz="1125"/>
          </a:p>
        </p:txBody>
      </p:sp>
      <p:sp>
        <p:nvSpPr>
          <p:cNvPr id="4" name="text-4"/>
          <p:cNvSpPr txBox="1"/>
          <p:nvPr/>
        </p:nvSpPr>
        <p:spPr>
          <a:xfrm>
            <a:off x="552450" y="790575"/>
            <a:ext cx="11087100" cy="1066800"/>
          </a:xfrm>
          <a:prstGeom prst="rect">
            <a:avLst/>
          </a:prstGeom>
          <a:noFill/>
          <a:ln>
            <a:noFill/>
          </a:ln>
        </p:spPr>
        <p:txBody>
          <a:bodyPr wrap="none" lIns="0" tIns="0" rIns="0" bIns="0" anchor="t"/>
          <a:lstStyle/>
          <a:p>
            <a:pPr algn="l">
              <a:lnSpc>
                <a:spcPts val="4031"/>
              </a:lnSpc>
              <a:spcBef>
                <a:spcPts val="0"/>
              </a:spcBef>
              <a:spcAft>
                <a:spcPts val="0"/>
              </a:spcAft>
            </a:pPr>
            <a:r>
              <a:rPr lang="fr-FR" sz="3225" b="1">
                <a:solidFill>
                  <a:srgbClr val="203A32"/>
                </a:solidFill>
                <a:latin typeface="Segoe UI"/>
                <a:ea typeface="Segoe UI"/>
                <a:cs typeface="Tahoma"/>
              </a:rPr>
              <a:t xml:space="preserve">La saisie compare les checkpoints disponibles localement</a:t>
            </a:r>
            <a:endParaRPr lang="fr-FR" sz="3225"/>
          </a:p>
        </p:txBody>
      </p:sp>
      <p:pic>
        <p:nvPicPr>
          <p:cNvPr id="5" name="image-5"/>
          <p:cNvPicPr>
            <a:picLocks noChangeAspect="1"/>
          </p:cNvPicPr>
          <p:nvPr/>
        </p:nvPicPr>
        <p:blipFill>
          <a:blip r:embed="rId3"/>
          <a:stretch>
            <a:fillRect/>
          </a:stretch>
        </p:blipFill>
        <p:spPr>
          <a:xfrm>
            <a:off x="614680" y="1933575"/>
            <a:ext cx="7400289" cy="3667125"/>
          </a:xfrm>
          <a:prstGeom prst="rect">
            <a:avLst/>
          </a:prstGeom>
        </p:spPr>
      </p:pic>
      <p:sp>
        <p:nvSpPr>
          <p:cNvPr id="6" name="text-6"/>
          <p:cNvSpPr txBox="1"/>
          <p:nvPr/>
        </p:nvSpPr>
        <p:spPr>
          <a:xfrm>
            <a:off x="552450" y="5600700"/>
            <a:ext cx="7524750" cy="209550"/>
          </a:xfrm>
          <a:prstGeom prst="rect">
            <a:avLst/>
          </a:prstGeom>
          <a:noFill/>
          <a:ln>
            <a:noFill/>
          </a:ln>
        </p:spPr>
        <p:txBody>
          <a:bodyPr wrap="none" lIns="0" tIns="0" rIns="0" bIns="0" anchor="t"/>
          <a:lstStyle/>
          <a:p>
            <a:pPr algn="l">
              <a:lnSpc>
                <a:spcPts val="1219"/>
              </a:lnSpc>
              <a:spcBef>
                <a:spcPts val="0"/>
              </a:spcBef>
              <a:spcAft>
                <a:spcPts val="0"/>
              </a:spcAft>
            </a:pPr>
            <a:r>
              <a:rPr lang="fr-FR" sz="975" b="0">
                <a:solidFill>
                  <a:srgbClr val="64736B"/>
                </a:solidFill>
                <a:latin typeface="Segoe UI"/>
                <a:ea typeface="Segoe UI"/>
                <a:cs typeface="Tahoma"/>
              </a:rPr>
              <a:t xml:space="preserve">Capture technique historique, avant le renommage de Nabra en LMA3NA</a:t>
            </a:r>
            <a:endParaRPr lang="fr-FR" sz="975"/>
          </a:p>
        </p:txBody>
      </p:sp>
      <p:sp>
        <p:nvSpPr>
          <p:cNvPr id="7" name="text-7"/>
          <p:cNvSpPr txBox="1"/>
          <p:nvPr/>
        </p:nvSpPr>
        <p:spPr>
          <a:xfrm>
            <a:off x="8429625" y="2047875"/>
            <a:ext cx="3190875" cy="809625"/>
          </a:xfrm>
          <a:prstGeom prst="rect">
            <a:avLst/>
          </a:prstGeom>
          <a:noFill/>
          <a:ln>
            <a:noFill/>
          </a:ln>
        </p:spPr>
        <p:txBody>
          <a:bodyPr wrap="none" lIns="0" tIns="0" rIns="0" bIns="0" anchor="t"/>
          <a:lstStyle/>
          <a:p>
            <a:pPr algn="l">
              <a:lnSpc>
                <a:spcPts val="3000"/>
              </a:lnSpc>
              <a:spcBef>
                <a:spcPts val="0"/>
              </a:spcBef>
              <a:spcAft>
                <a:spcPts val="0"/>
              </a:spcAft>
            </a:pPr>
            <a:r>
              <a:rPr lang="fr-FR" sz="2400" b="1">
                <a:solidFill>
                  <a:srgbClr val="285D4B"/>
                </a:solidFill>
                <a:latin typeface="Segoe UI"/>
                <a:ea typeface="Segoe UI"/>
                <a:cs typeface="Tahoma"/>
              </a:rPr>
              <a:t xml:space="preserve">27 réponses réelles</a:t>
            </a:r>
            <a:endParaRPr lang="fr-FR" sz="2400"/>
          </a:p>
        </p:txBody>
      </p:sp>
      <p:sp>
        <p:nvSpPr>
          <p:cNvPr id="8" name="text-8"/>
          <p:cNvSpPr txBox="1"/>
          <p:nvPr/>
        </p:nvSpPr>
        <p:spPr>
          <a:xfrm>
            <a:off x="8429625" y="3048000"/>
            <a:ext cx="3190875" cy="2333625"/>
          </a:xfrm>
          <a:prstGeom prst="rect">
            <a:avLst/>
          </a:prstGeom>
          <a:noFill/>
          <a:ln>
            <a:noFill/>
          </a:ln>
        </p:spPr>
        <p:txBody>
          <a:bodyPr wrap="none" lIns="0" tIns="0" rIns="0" bIns="0" anchor="t"/>
          <a:lstStyle/>
          <a:p>
            <a:pPr algn="l">
              <a:lnSpc>
                <a:spcPts val="2250"/>
              </a:lnSpc>
              <a:spcBef>
                <a:spcPts val="0"/>
              </a:spcBef>
              <a:spcAft>
                <a:spcPts val="0"/>
              </a:spcAft>
            </a:pPr>
            <a:r>
              <a:rPr lang="fr-FR" sz="1800" b="0">
                <a:solidFill>
                  <a:srgbClr val="64736B"/>
                </a:solidFill>
                <a:latin typeface="Segoe UI"/>
                <a:ea typeface="Segoe UI"/>
                <a:cs typeface="Tahoma"/>
              </a:rPr>
              <a:t xml:space="preserve">24 modèles et 3 règles</a:t>
            </a:r>
            <a:endParaRPr lang="fr-FR" sz="1800"/>
          </a:p>
          <a:p>
            <a:pPr algn="l">
              <a:lnSpc>
                <a:spcPts val="2250"/>
              </a:lnSpc>
              <a:spcBef>
                <a:spcPts val="0"/>
              </a:spcBef>
              <a:spcAft>
                <a:spcPts val="0"/>
              </a:spcAft>
            </a:pPr>
            <a:r>
              <a:rPr lang="fr-FR" sz="1800" b="0">
                <a:solidFill>
                  <a:srgbClr val="64736B"/>
                </a:solidFill>
                <a:latin typeface="Segoe UI"/>
                <a:ea typeface="Segoe UI"/>
                <a:cs typeface="Tahoma"/>
              </a:rPr>
              <a:t xml:space="preserve">Scores, seuils et décisions</a:t>
            </a:r>
            <a:endParaRPr lang="fr-FR" sz="1800"/>
          </a:p>
          <a:p>
            <a:pPr algn="l">
              <a:lnSpc>
                <a:spcPts val="2250"/>
              </a:lnSpc>
              <a:spcBef>
                <a:spcPts val="0"/>
              </a:spcBef>
              <a:spcAft>
                <a:spcPts val="0"/>
              </a:spcAft>
            </a:pPr>
            <a:r>
              <a:rPr lang="fr-FR" sz="1800" b="0">
                <a:solidFill>
                  <a:srgbClr val="64736B"/>
                </a:solidFill>
                <a:latin typeface="Segoe UI"/>
                <a:ea typeface="Segoe UI"/>
                <a:cs typeface="Tahoma"/>
              </a:rPr>
              <a:t xml:space="preserve">Export CSV</a:t>
            </a:r>
            <a:endParaRPr lang="fr-FR" sz="1800"/>
          </a:p>
          <a:p>
            <a:pPr algn="l">
              <a:lnSpc>
                <a:spcPts val="2250"/>
              </a:lnSpc>
              <a:spcBef>
                <a:spcPts val="0"/>
              </a:spcBef>
              <a:spcAft>
                <a:spcPts val="0"/>
              </a:spcAft>
            </a:pPr>
            <a:r>
              <a:rPr lang="fr-FR" sz="1800" b="0">
                <a:solidFill>
                  <a:srgbClr val="64736B"/>
                </a:solidFill>
                <a:latin typeface="Segoe UI"/>
                <a:ea typeface="Segoe UI"/>
                <a:cs typeface="Tahoma"/>
              </a:rPr>
              <a:t xml:space="preserve">4 variantes MARBERT sans</a:t>
            </a:r>
            <a:endParaRPr lang="fr-FR" sz="1800"/>
          </a:p>
          <a:p>
            <a:pPr algn="l">
              <a:lnSpc>
                <a:spcPts val="2250"/>
              </a:lnSpc>
              <a:spcBef>
                <a:spcPts val="0"/>
              </a:spcBef>
              <a:spcAft>
                <a:spcPts val="0"/>
              </a:spcAft>
            </a:pPr>
            <a:r>
              <a:rPr lang="fr-FR" sz="1800" b="0">
                <a:solidFill>
                  <a:srgbClr val="64736B"/>
                </a:solidFill>
                <a:latin typeface="Segoe UI"/>
                <a:ea typeface="Segoe UI"/>
                <a:cs typeface="Tahoma"/>
              </a:rPr>
              <a:t xml:space="preserve">poids locaux</a:t>
            </a:r>
            <a:endParaRPr lang="fr-FR" sz="1800"/>
          </a:p>
        </p:txBody>
      </p:sp>
      <p:sp>
        <p:nvSpPr>
          <p:cNvPr id="9" name="rect-9"/>
          <p:cNvSpPr txBox="1"/>
          <p:nvPr/>
        </p:nvSpPr>
        <p:spPr>
          <a:xfrm>
            <a:off x="552450" y="5810250"/>
            <a:ext cx="11087100" cy="542925"/>
          </a:xfrm>
          <a:prstGeom prst="rect">
            <a:avLst/>
          </a:prstGeom>
          <a:solidFill>
            <a:srgbClr val="DDE7D6"/>
          </a:solidFill>
          <a:ln>
            <a:noFill/>
          </a:ln>
        </p:spPr>
      </p:sp>
      <p:sp>
        <p:nvSpPr>
          <p:cNvPr id="10" name="text-10"/>
          <p:cNvSpPr txBox="1"/>
          <p:nvPr/>
        </p:nvSpPr>
        <p:spPr>
          <a:xfrm>
            <a:off x="723900" y="5857875"/>
            <a:ext cx="10715625" cy="476250"/>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285D4B"/>
                </a:solidFill>
                <a:latin typeface="Segoe UI"/>
                <a:ea typeface="Segoe UI"/>
                <a:cs typeface="Tahoma"/>
              </a:rPr>
              <a:t xml:space="preserve">Les poids T4 historiques ne sont pas tous présents ici. Le test technique de 27 réponses valide le fonctionnement, pas la qualité scientifique.</a:t>
            </a:r>
            <a:endParaRPr lang="fr-FR" sz="1350"/>
          </a:p>
        </p:txBody>
      </p:sp>
      <p:cxnSp>
        <p:nvCxnSpPr>
          <p:cNvPr id="11" name="line-11"/>
          <p:cNvCxnSpPr/>
          <p:nvPr/>
        </p:nvCxnSpPr>
        <p:spPr>
          <a:xfrm>
            <a:off x="552450" y="6505575"/>
            <a:ext cx="11087100" cy="0"/>
          </a:xfrm>
          <a:prstGeom prst="line">
            <a:avLst/>
          </a:prstGeom>
          <a:ln w="9525">
            <a:solidFill>
              <a:srgbClr val="D4DBCE"/>
            </a:solidFill>
          </a:ln>
        </p:spPr>
      </p:cxnSp>
      <p:sp>
        <p:nvSpPr>
          <p:cNvPr id="12" name="text-12"/>
          <p:cNvSpPr txBox="1"/>
          <p:nvPr/>
        </p:nvSpPr>
        <p:spPr>
          <a:xfrm>
            <a:off x="552450" y="6572250"/>
            <a:ext cx="8572500" cy="219075"/>
          </a:xfrm>
          <a:prstGeom prst="rect">
            <a:avLst/>
          </a:prstGeom>
          <a:noFill/>
          <a:ln>
            <a:noFill/>
          </a:ln>
        </p:spPr>
        <p:txBody>
          <a:bodyPr wrap="none" lIns="0" tIns="0" rIns="0" bIns="0" anchor="t"/>
          <a:lstStyle/>
          <a:p>
            <a:pPr algn="l">
              <a:lnSpc>
                <a:spcPts val="1125"/>
              </a:lnSpc>
              <a:spcBef>
                <a:spcPts val="0"/>
              </a:spcBef>
              <a:spcAft>
                <a:spcPts val="0"/>
              </a:spcAft>
            </a:pPr>
            <a:r>
              <a:rPr lang="fr-FR" sz="900" b="0">
                <a:solidFill>
                  <a:srgbClr val="64736B"/>
                </a:solidFill>
                <a:latin typeface="Segoe UI"/>
                <a:ea typeface="Segoe UI"/>
                <a:cs typeface="Tahoma"/>
              </a:rPr>
              <a:t xml:space="preserve">LMA3NA · Omar Elkhali · BDIOT</a:t>
            </a:r>
            <a:endParaRPr lang="fr-FR" sz="900"/>
          </a:p>
        </p:txBody>
      </p:sp>
      <p:sp>
        <p:nvSpPr>
          <p:cNvPr id="13" name="text-13"/>
          <p:cNvSpPr txBox="1"/>
          <p:nvPr/>
        </p:nvSpPr>
        <p:spPr>
          <a:xfrm>
            <a:off x="10763250" y="6572250"/>
            <a:ext cx="876300" cy="219075"/>
          </a:xfrm>
          <a:prstGeom prst="rect">
            <a:avLst/>
          </a:prstGeom>
          <a:noFill/>
          <a:ln>
            <a:noFill/>
          </a:ln>
        </p:spPr>
        <p:txBody>
          <a:bodyPr wrap="none" lIns="0" tIns="0" rIns="0" bIns="0" anchor="t"/>
          <a:lstStyle/>
          <a:p>
            <a:pPr algn="r">
              <a:lnSpc>
                <a:spcPts val="1125"/>
              </a:lnSpc>
              <a:spcBef>
                <a:spcPts val="0"/>
              </a:spcBef>
              <a:spcAft>
                <a:spcPts val="0"/>
              </a:spcAft>
            </a:pPr>
            <a:r>
              <a:rPr lang="fr-FR" sz="900" b="0">
                <a:solidFill>
                  <a:srgbClr val="64736B"/>
                </a:solidFill>
                <a:latin typeface="Segoe UI"/>
                <a:ea typeface="Segoe UI"/>
                <a:cs typeface="Tahoma"/>
              </a:rPr>
              <a:t xml:space="preserve">32 / 38</a:t>
            </a:r>
            <a:endParaRPr lang="fr-FR" sz="900"/>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F5F4EE"/>
        </a:solidFill>
        <a:effectLst/>
      </p:bgPr>
    </p:bg>
    <p:spTree>
      <p:nvGrpSpPr>
        <p:cNvPr id="1" name=""/>
        <p:cNvGrpSpPr/>
        <p:nvPr/>
      </p:nvGrpSpPr>
      <p:grpSpPr>
        <a:xfrm>
          <a:off x="0" y="0"/>
          <a:ext cx="0" cy="0"/>
          <a:chOff x="0" y="0"/>
          <a:chExt cx="0" cy="0"/>
        </a:xfrm>
      </p:grpSpPr>
      <p:sp>
        <p:nvSpPr>
          <p:cNvPr id="2" name="rect-2"/>
          <p:cNvSpPr txBox="1"/>
          <p:nvPr/>
        </p:nvSpPr>
        <p:spPr>
          <a:xfrm>
            <a:off x="552450" y="361950"/>
            <a:ext cx="400050" cy="38100"/>
          </a:xfrm>
          <a:prstGeom prst="rect">
            <a:avLst/>
          </a:prstGeom>
          <a:solidFill>
            <a:srgbClr val="E6A477"/>
          </a:solidFill>
          <a:ln>
            <a:noFill/>
          </a:ln>
        </p:spPr>
      </p:sp>
      <p:sp>
        <p:nvSpPr>
          <p:cNvPr id="3" name="text-3"/>
          <p:cNvSpPr txBox="1"/>
          <p:nvPr/>
        </p:nvSpPr>
        <p:spPr>
          <a:xfrm>
            <a:off x="1066800" y="276225"/>
            <a:ext cx="10287000" cy="266700"/>
          </a:xfrm>
          <a:prstGeom prst="rect">
            <a:avLst/>
          </a:prstGeom>
          <a:noFill/>
          <a:ln>
            <a:noFill/>
          </a:ln>
        </p:spPr>
        <p:txBody>
          <a:bodyPr wrap="none" lIns="0" tIns="0" rIns="0" bIns="0" anchor="t"/>
          <a:lstStyle/>
          <a:p>
            <a:pPr algn="l">
              <a:lnSpc>
                <a:spcPts val="1406"/>
              </a:lnSpc>
              <a:spcBef>
                <a:spcPts val="0"/>
              </a:spcBef>
              <a:spcAft>
                <a:spcPts val="0"/>
              </a:spcAft>
            </a:pPr>
            <a:r>
              <a:rPr lang="fr-FR" sz="1125" b="1">
                <a:solidFill>
                  <a:srgbClr val="285D4B"/>
                </a:solidFill>
                <a:latin typeface="Segoe UI"/>
                <a:ea typeface="Segoe UI"/>
                <a:cs typeface="Tahoma"/>
              </a:rPr>
              <a:t xml:space="preserve">08 · EXTENSION AJOUTÉE</a:t>
            </a:r>
            <a:endParaRPr lang="fr-FR" sz="1125"/>
          </a:p>
        </p:txBody>
      </p:sp>
      <p:sp>
        <p:nvSpPr>
          <p:cNvPr id="4" name="text-4"/>
          <p:cNvSpPr txBox="1"/>
          <p:nvPr/>
        </p:nvSpPr>
        <p:spPr>
          <a:xfrm>
            <a:off x="552450" y="790575"/>
            <a:ext cx="11087100" cy="1066800"/>
          </a:xfrm>
          <a:prstGeom prst="rect">
            <a:avLst/>
          </a:prstGeom>
          <a:noFill/>
          <a:ln>
            <a:noFill/>
          </a:ln>
        </p:spPr>
        <p:txBody>
          <a:bodyPr wrap="none" lIns="0" tIns="0" rIns="0" bIns="0" anchor="t"/>
          <a:lstStyle/>
          <a:p>
            <a:pPr algn="l">
              <a:lnSpc>
                <a:spcPts val="4031"/>
              </a:lnSpc>
              <a:spcBef>
                <a:spcPts val="0"/>
              </a:spcBef>
              <a:spcAft>
                <a:spcPts val="0"/>
              </a:spcAft>
            </a:pPr>
            <a:r>
              <a:rPr lang="fr-FR" sz="3225" b="1">
                <a:solidFill>
                  <a:srgbClr val="203A32"/>
                </a:solidFill>
                <a:latin typeface="Segoe UI"/>
                <a:ea typeface="Segoe UI"/>
                <a:cs typeface="Tahoma"/>
              </a:rPr>
              <a:t xml:space="preserve">R-Drop ajoute une contrainte de cohérence entre deux</a:t>
            </a:r>
            <a:endParaRPr lang="fr-FR" sz="3225"/>
          </a:p>
          <a:p>
            <a:pPr algn="l">
              <a:lnSpc>
                <a:spcPts val="4031"/>
              </a:lnSpc>
              <a:spcBef>
                <a:spcPts val="0"/>
              </a:spcBef>
              <a:spcAft>
                <a:spcPts val="0"/>
              </a:spcAft>
            </a:pPr>
            <a:r>
              <a:rPr lang="fr-FR" sz="3225" b="1">
                <a:solidFill>
                  <a:srgbClr val="203A32"/>
                </a:solidFill>
                <a:latin typeface="Segoe UI"/>
                <a:ea typeface="Segoe UI"/>
                <a:cs typeface="Tahoma"/>
              </a:rPr>
              <a:t xml:space="preserve">passages</a:t>
            </a:r>
            <a:endParaRPr lang="fr-FR" sz="3225"/>
          </a:p>
        </p:txBody>
      </p:sp>
      <p:sp>
        <p:nvSpPr>
          <p:cNvPr id="5" name="rect-5"/>
          <p:cNvSpPr txBox="1"/>
          <p:nvPr/>
        </p:nvSpPr>
        <p:spPr>
          <a:xfrm>
            <a:off x="552450" y="2095500"/>
            <a:ext cx="3543300" cy="1238250"/>
          </a:xfrm>
          <a:prstGeom prst="rect">
            <a:avLst/>
          </a:prstGeom>
          <a:solidFill>
            <a:srgbClr val="FFFFFF"/>
          </a:solidFill>
          <a:ln>
            <a:noFill/>
          </a:ln>
        </p:spPr>
      </p:sp>
      <p:sp>
        <p:nvSpPr>
          <p:cNvPr id="6" name="text-6"/>
          <p:cNvSpPr txBox="1"/>
          <p:nvPr/>
        </p:nvSpPr>
        <p:spPr>
          <a:xfrm>
            <a:off x="704850" y="2238375"/>
            <a:ext cx="3238500" cy="523875"/>
          </a:xfrm>
          <a:prstGeom prst="rect">
            <a:avLst/>
          </a:prstGeom>
          <a:noFill/>
          <a:ln>
            <a:noFill/>
          </a:ln>
        </p:spPr>
        <p:txBody>
          <a:bodyPr wrap="none" lIns="0" tIns="0" rIns="0" bIns="0" anchor="t"/>
          <a:lstStyle/>
          <a:p>
            <a:pPr algn="l">
              <a:lnSpc>
                <a:spcPts val="2250"/>
              </a:lnSpc>
              <a:spcBef>
                <a:spcPts val="0"/>
              </a:spcBef>
              <a:spcAft>
                <a:spcPts val="0"/>
              </a:spcAft>
            </a:pPr>
            <a:r>
              <a:rPr lang="fr-FR" sz="1800" b="1">
                <a:solidFill>
                  <a:srgbClr val="285D4B"/>
                </a:solidFill>
                <a:latin typeface="Segoe UI"/>
                <a:ea typeface="Segoe UI"/>
                <a:cs typeface="Tahoma"/>
              </a:rPr>
              <a:t xml:space="preserve">Même tweet</a:t>
            </a:r>
            <a:endParaRPr lang="fr-FR" sz="1800"/>
          </a:p>
        </p:txBody>
      </p:sp>
      <p:sp>
        <p:nvSpPr>
          <p:cNvPr id="7" name="text-7"/>
          <p:cNvSpPr txBox="1"/>
          <p:nvPr/>
        </p:nvSpPr>
        <p:spPr>
          <a:xfrm>
            <a:off x="704850" y="2762250"/>
            <a:ext cx="3238500" cy="552450"/>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64736B"/>
                </a:solidFill>
                <a:latin typeface="Segoe UI"/>
                <a:ea typeface="Segoe UI"/>
                <a:cs typeface="Tahoma"/>
              </a:rPr>
              <a:t xml:space="preserve">Aucune donnée supplémentaire</a:t>
            </a:r>
            <a:endParaRPr lang="fr-FR" sz="1350"/>
          </a:p>
        </p:txBody>
      </p:sp>
      <p:cxnSp>
        <p:nvCxnSpPr>
          <p:cNvPr id="8" name="line-8"/>
          <p:cNvCxnSpPr/>
          <p:nvPr/>
        </p:nvCxnSpPr>
        <p:spPr>
          <a:xfrm>
            <a:off x="4124325" y="2714625"/>
            <a:ext cx="161925" cy="0"/>
          </a:xfrm>
          <a:prstGeom prst="line">
            <a:avLst/>
          </a:prstGeom>
          <a:ln w="28575">
            <a:solidFill>
              <a:srgbClr val="E6A477"/>
            </a:solidFill>
          </a:ln>
        </p:spPr>
      </p:cxnSp>
      <p:sp>
        <p:nvSpPr>
          <p:cNvPr id="9" name="rect-9"/>
          <p:cNvSpPr txBox="1"/>
          <p:nvPr/>
        </p:nvSpPr>
        <p:spPr>
          <a:xfrm>
            <a:off x="4324350" y="2095500"/>
            <a:ext cx="3543300" cy="1238250"/>
          </a:xfrm>
          <a:prstGeom prst="rect">
            <a:avLst/>
          </a:prstGeom>
          <a:solidFill>
            <a:srgbClr val="FFFFFF"/>
          </a:solidFill>
          <a:ln>
            <a:noFill/>
          </a:ln>
        </p:spPr>
      </p:sp>
      <p:sp>
        <p:nvSpPr>
          <p:cNvPr id="10" name="text-10"/>
          <p:cNvSpPr txBox="1"/>
          <p:nvPr/>
        </p:nvSpPr>
        <p:spPr>
          <a:xfrm>
            <a:off x="4476750" y="2238375"/>
            <a:ext cx="3238500" cy="523875"/>
          </a:xfrm>
          <a:prstGeom prst="rect">
            <a:avLst/>
          </a:prstGeom>
          <a:noFill/>
          <a:ln>
            <a:noFill/>
          </a:ln>
        </p:spPr>
        <p:txBody>
          <a:bodyPr wrap="none" lIns="0" tIns="0" rIns="0" bIns="0" anchor="t"/>
          <a:lstStyle/>
          <a:p>
            <a:pPr algn="l">
              <a:lnSpc>
                <a:spcPts val="2250"/>
              </a:lnSpc>
              <a:spcBef>
                <a:spcPts val="0"/>
              </a:spcBef>
              <a:spcAft>
                <a:spcPts val="0"/>
              </a:spcAft>
            </a:pPr>
            <a:r>
              <a:rPr lang="fr-FR" sz="1800" b="1">
                <a:solidFill>
                  <a:srgbClr val="285D4B"/>
                </a:solidFill>
                <a:latin typeface="Segoe UI"/>
                <a:ea typeface="Segoe UI"/>
                <a:cs typeface="Tahoma"/>
              </a:rPr>
              <a:t xml:space="preserve">Deux passages</a:t>
            </a:r>
            <a:endParaRPr lang="fr-FR" sz="1800"/>
          </a:p>
        </p:txBody>
      </p:sp>
      <p:sp>
        <p:nvSpPr>
          <p:cNvPr id="11" name="text-11"/>
          <p:cNvSpPr txBox="1"/>
          <p:nvPr/>
        </p:nvSpPr>
        <p:spPr>
          <a:xfrm>
            <a:off x="4476750" y="2762250"/>
            <a:ext cx="3238500" cy="552450"/>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64736B"/>
                </a:solidFill>
                <a:latin typeface="Segoe UI"/>
                <a:ea typeface="Segoe UI"/>
                <a:cs typeface="Tahoma"/>
              </a:rPr>
              <a:t xml:space="preserve">Dropout différent à chaque fois</a:t>
            </a:r>
            <a:endParaRPr lang="fr-FR" sz="1350"/>
          </a:p>
        </p:txBody>
      </p:sp>
      <p:cxnSp>
        <p:nvCxnSpPr>
          <p:cNvPr id="12" name="line-12"/>
          <p:cNvCxnSpPr/>
          <p:nvPr/>
        </p:nvCxnSpPr>
        <p:spPr>
          <a:xfrm>
            <a:off x="7896225" y="2714625"/>
            <a:ext cx="161925" cy="0"/>
          </a:xfrm>
          <a:prstGeom prst="line">
            <a:avLst/>
          </a:prstGeom>
          <a:ln w="28575">
            <a:solidFill>
              <a:srgbClr val="E6A477"/>
            </a:solidFill>
          </a:ln>
        </p:spPr>
      </p:cxnSp>
      <p:sp>
        <p:nvSpPr>
          <p:cNvPr id="13" name="rect-13"/>
          <p:cNvSpPr txBox="1"/>
          <p:nvPr/>
        </p:nvSpPr>
        <p:spPr>
          <a:xfrm>
            <a:off x="8096250" y="2095500"/>
            <a:ext cx="3543300" cy="1238250"/>
          </a:xfrm>
          <a:prstGeom prst="rect">
            <a:avLst/>
          </a:prstGeom>
          <a:solidFill>
            <a:srgbClr val="FFFFFF"/>
          </a:solidFill>
          <a:ln>
            <a:noFill/>
          </a:ln>
        </p:spPr>
      </p:sp>
      <p:sp>
        <p:nvSpPr>
          <p:cNvPr id="14" name="text-14"/>
          <p:cNvSpPr txBox="1"/>
          <p:nvPr/>
        </p:nvSpPr>
        <p:spPr>
          <a:xfrm>
            <a:off x="8248650" y="2238375"/>
            <a:ext cx="3238500" cy="523875"/>
          </a:xfrm>
          <a:prstGeom prst="rect">
            <a:avLst/>
          </a:prstGeom>
          <a:noFill/>
          <a:ln>
            <a:noFill/>
          </a:ln>
        </p:spPr>
        <p:txBody>
          <a:bodyPr wrap="none" lIns="0" tIns="0" rIns="0" bIns="0" anchor="t"/>
          <a:lstStyle/>
          <a:p>
            <a:pPr algn="l">
              <a:lnSpc>
                <a:spcPts val="2250"/>
              </a:lnSpc>
              <a:spcBef>
                <a:spcPts val="0"/>
              </a:spcBef>
              <a:spcAft>
                <a:spcPts val="0"/>
              </a:spcAft>
            </a:pPr>
            <a:r>
              <a:rPr lang="fr-FR" sz="1800" b="1">
                <a:solidFill>
                  <a:srgbClr val="285D4B"/>
                </a:solidFill>
                <a:latin typeface="Segoe UI"/>
                <a:ea typeface="Segoe UI"/>
                <a:cs typeface="Tahoma"/>
              </a:rPr>
              <a:t xml:space="preserve">Deux distributions</a:t>
            </a:r>
            <a:endParaRPr lang="fr-FR" sz="1800"/>
          </a:p>
        </p:txBody>
      </p:sp>
      <p:sp>
        <p:nvSpPr>
          <p:cNvPr id="15" name="text-15"/>
          <p:cNvSpPr txBox="1"/>
          <p:nvPr/>
        </p:nvSpPr>
        <p:spPr>
          <a:xfrm>
            <a:off x="8248650" y="2762250"/>
            <a:ext cx="3238500" cy="552450"/>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64736B"/>
                </a:solidFill>
                <a:latin typeface="Segoe UI"/>
                <a:ea typeface="Segoe UI"/>
                <a:cs typeface="Tahoma"/>
              </a:rPr>
              <a:t xml:space="preserve">p₁ et p₂ sur le sarcasme</a:t>
            </a:r>
            <a:endParaRPr lang="fr-FR" sz="1350"/>
          </a:p>
        </p:txBody>
      </p:sp>
      <p:sp>
        <p:nvSpPr>
          <p:cNvPr id="16" name="text-16"/>
          <p:cNvSpPr txBox="1"/>
          <p:nvPr/>
        </p:nvSpPr>
        <p:spPr>
          <a:xfrm>
            <a:off x="552450" y="3810000"/>
            <a:ext cx="10858500" cy="1057275"/>
          </a:xfrm>
          <a:prstGeom prst="rect">
            <a:avLst/>
          </a:prstGeom>
          <a:noFill/>
          <a:ln>
            <a:noFill/>
          </a:ln>
        </p:spPr>
        <p:txBody>
          <a:bodyPr wrap="none" lIns="0" tIns="0" rIns="0" bIns="0" anchor="t"/>
          <a:lstStyle/>
          <a:p>
            <a:pPr algn="l">
              <a:lnSpc>
                <a:spcPts val="3000"/>
              </a:lnSpc>
              <a:spcBef>
                <a:spcPts val="0"/>
              </a:spcBef>
              <a:spcAft>
                <a:spcPts val="0"/>
              </a:spcAft>
            </a:pPr>
            <a:r>
              <a:rPr lang="fr-FR" sz="2400" b="1">
                <a:solidFill>
                  <a:srgbClr val="285D4B"/>
                </a:solidFill>
                <a:latin typeface="Segoe UI"/>
                <a:ea typeface="Segoe UI"/>
                <a:cs typeface="Tahoma"/>
              </a:rPr>
              <a:t xml:space="preserve">Perte = CE moyenne + λ × CE sentiment moyenne</a:t>
            </a:r>
            <a:endParaRPr lang="fr-FR" sz="2400"/>
          </a:p>
          <a:p>
            <a:pPr algn="l">
              <a:lnSpc>
                <a:spcPts val="3000"/>
              </a:lnSpc>
              <a:spcBef>
                <a:spcPts val="0"/>
              </a:spcBef>
              <a:spcAft>
                <a:spcPts val="0"/>
              </a:spcAft>
            </a:pPr>
            <a:r>
              <a:rPr lang="fr-FR" sz="2400" b="1">
                <a:solidFill>
                  <a:srgbClr val="285D4B"/>
                </a:solidFill>
                <a:latin typeface="Segoe UI"/>
                <a:ea typeface="Segoe UI"/>
                <a:cs typeface="Tahoma"/>
              </a:rPr>
              <a:t xml:space="preserve">+ α × KL symétrique des prédictions de sarcasme</a:t>
            </a:r>
            <a:endParaRPr lang="fr-FR" sz="2400"/>
          </a:p>
        </p:txBody>
      </p:sp>
      <p:sp>
        <p:nvSpPr>
          <p:cNvPr id="17" name="rect-17"/>
          <p:cNvSpPr txBox="1"/>
          <p:nvPr/>
        </p:nvSpPr>
        <p:spPr>
          <a:xfrm>
            <a:off x="552450" y="5810250"/>
            <a:ext cx="11087100" cy="542925"/>
          </a:xfrm>
          <a:prstGeom prst="rect">
            <a:avLst/>
          </a:prstGeom>
          <a:solidFill>
            <a:srgbClr val="DDE7D6"/>
          </a:solidFill>
          <a:ln>
            <a:noFill/>
          </a:ln>
        </p:spPr>
      </p:sp>
      <p:sp>
        <p:nvSpPr>
          <p:cNvPr id="18" name="text-18"/>
          <p:cNvSpPr txBox="1"/>
          <p:nvPr/>
        </p:nvSpPr>
        <p:spPr>
          <a:xfrm>
            <a:off x="723900" y="5857875"/>
            <a:ext cx="10715625" cy="476250"/>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285D4B"/>
                </a:solidFill>
                <a:latin typeface="Segoe UI"/>
                <a:ea typeface="Segoe UI"/>
                <a:cs typeface="Tahoma"/>
              </a:rPr>
              <a:t xml:space="preserve">Pendant l’entraînement seulement. À l’inférence : un passage en mode eval(). Gain encore à mesurer sur ce projet.</a:t>
            </a:r>
            <a:endParaRPr lang="fr-FR" sz="1350"/>
          </a:p>
        </p:txBody>
      </p:sp>
      <p:cxnSp>
        <p:nvCxnSpPr>
          <p:cNvPr id="19" name="line-19"/>
          <p:cNvCxnSpPr/>
          <p:nvPr/>
        </p:nvCxnSpPr>
        <p:spPr>
          <a:xfrm>
            <a:off x="552450" y="6505575"/>
            <a:ext cx="11087100" cy="0"/>
          </a:xfrm>
          <a:prstGeom prst="line">
            <a:avLst/>
          </a:prstGeom>
          <a:ln w="9525">
            <a:solidFill>
              <a:srgbClr val="D4DBCE"/>
            </a:solidFill>
          </a:ln>
        </p:spPr>
      </p:cxnSp>
      <p:sp>
        <p:nvSpPr>
          <p:cNvPr id="20" name="text-20"/>
          <p:cNvSpPr txBox="1"/>
          <p:nvPr/>
        </p:nvSpPr>
        <p:spPr>
          <a:xfrm>
            <a:off x="552450" y="6572250"/>
            <a:ext cx="8572500" cy="219075"/>
          </a:xfrm>
          <a:prstGeom prst="rect">
            <a:avLst/>
          </a:prstGeom>
          <a:noFill/>
          <a:ln>
            <a:noFill/>
          </a:ln>
        </p:spPr>
        <p:txBody>
          <a:bodyPr wrap="none" lIns="0" tIns="0" rIns="0" bIns="0" anchor="t"/>
          <a:lstStyle/>
          <a:p>
            <a:pPr algn="l">
              <a:lnSpc>
                <a:spcPts val="1125"/>
              </a:lnSpc>
              <a:spcBef>
                <a:spcPts val="0"/>
              </a:spcBef>
              <a:spcAft>
                <a:spcPts val="0"/>
              </a:spcAft>
            </a:pPr>
            <a:r>
              <a:rPr lang="fr-FR" sz="900" b="0">
                <a:solidFill>
                  <a:srgbClr val="64736B"/>
                </a:solidFill>
                <a:latin typeface="Segoe UI"/>
                <a:ea typeface="Segoe UI"/>
                <a:cs typeface="Tahoma"/>
              </a:rPr>
              <a:t xml:space="preserve">LMA3NA · Omar Elkhali · BDIOT</a:t>
            </a:r>
            <a:endParaRPr lang="fr-FR" sz="900"/>
          </a:p>
        </p:txBody>
      </p:sp>
      <p:sp>
        <p:nvSpPr>
          <p:cNvPr id="21" name="text-21"/>
          <p:cNvSpPr txBox="1"/>
          <p:nvPr/>
        </p:nvSpPr>
        <p:spPr>
          <a:xfrm>
            <a:off x="10763250" y="6572250"/>
            <a:ext cx="876300" cy="219075"/>
          </a:xfrm>
          <a:prstGeom prst="rect">
            <a:avLst/>
          </a:prstGeom>
          <a:noFill/>
          <a:ln>
            <a:noFill/>
          </a:ln>
        </p:spPr>
        <p:txBody>
          <a:bodyPr wrap="none" lIns="0" tIns="0" rIns="0" bIns="0" anchor="t"/>
          <a:lstStyle/>
          <a:p>
            <a:pPr algn="r">
              <a:lnSpc>
                <a:spcPts val="1125"/>
              </a:lnSpc>
              <a:spcBef>
                <a:spcPts val="0"/>
              </a:spcBef>
              <a:spcAft>
                <a:spcPts val="0"/>
              </a:spcAft>
            </a:pPr>
            <a:r>
              <a:rPr lang="fr-FR" sz="900" b="0">
                <a:solidFill>
                  <a:srgbClr val="64736B"/>
                </a:solidFill>
                <a:latin typeface="Segoe UI"/>
                <a:ea typeface="Segoe UI"/>
                <a:cs typeface="Tahoma"/>
              </a:rPr>
              <a:t xml:space="preserve">33 / 38</a:t>
            </a:r>
            <a:endParaRPr lang="fr-FR" sz="900"/>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F5F4EE"/>
        </a:solidFill>
        <a:effectLst/>
      </p:bgPr>
    </p:bg>
    <p:spTree>
      <p:nvGrpSpPr>
        <p:cNvPr id="1" name=""/>
        <p:cNvGrpSpPr/>
        <p:nvPr/>
      </p:nvGrpSpPr>
      <p:grpSpPr>
        <a:xfrm>
          <a:off x="0" y="0"/>
          <a:ext cx="0" cy="0"/>
          <a:chOff x="0" y="0"/>
          <a:chExt cx="0" cy="0"/>
        </a:xfrm>
      </p:grpSpPr>
      <p:sp>
        <p:nvSpPr>
          <p:cNvPr id="2" name="rect-2"/>
          <p:cNvSpPr txBox="1"/>
          <p:nvPr/>
        </p:nvSpPr>
        <p:spPr>
          <a:xfrm>
            <a:off x="552450" y="361950"/>
            <a:ext cx="400050" cy="38100"/>
          </a:xfrm>
          <a:prstGeom prst="rect">
            <a:avLst/>
          </a:prstGeom>
          <a:solidFill>
            <a:srgbClr val="E6A477"/>
          </a:solidFill>
          <a:ln>
            <a:noFill/>
          </a:ln>
        </p:spPr>
      </p:sp>
      <p:sp>
        <p:nvSpPr>
          <p:cNvPr id="3" name="text-3"/>
          <p:cNvSpPr txBox="1"/>
          <p:nvPr/>
        </p:nvSpPr>
        <p:spPr>
          <a:xfrm>
            <a:off x="1066800" y="276225"/>
            <a:ext cx="10287000" cy="266700"/>
          </a:xfrm>
          <a:prstGeom prst="rect">
            <a:avLst/>
          </a:prstGeom>
          <a:noFill/>
          <a:ln>
            <a:noFill/>
          </a:ln>
        </p:spPr>
        <p:txBody>
          <a:bodyPr wrap="none" lIns="0" tIns="0" rIns="0" bIns="0" anchor="t"/>
          <a:lstStyle/>
          <a:p>
            <a:pPr algn="l">
              <a:lnSpc>
                <a:spcPts val="1406"/>
              </a:lnSpc>
              <a:spcBef>
                <a:spcPts val="0"/>
              </a:spcBef>
              <a:spcAft>
                <a:spcPts val="0"/>
              </a:spcAft>
            </a:pPr>
            <a:r>
              <a:rPr lang="fr-FR" sz="1125" b="1">
                <a:solidFill>
                  <a:srgbClr val="285D4B"/>
                </a:solidFill>
                <a:latin typeface="Segoe UI"/>
                <a:ea typeface="Segoe UI"/>
                <a:cs typeface="Tahoma"/>
              </a:rPr>
              <a:t xml:space="preserve">08 · EXPÉRIENCE À EXÉCUTER</a:t>
            </a:r>
            <a:endParaRPr lang="fr-FR" sz="1125"/>
          </a:p>
        </p:txBody>
      </p:sp>
      <p:sp>
        <p:nvSpPr>
          <p:cNvPr id="4" name="text-4"/>
          <p:cNvSpPr txBox="1"/>
          <p:nvPr/>
        </p:nvSpPr>
        <p:spPr>
          <a:xfrm>
            <a:off x="552450" y="790575"/>
            <a:ext cx="11087100" cy="1066800"/>
          </a:xfrm>
          <a:prstGeom prst="rect">
            <a:avLst/>
          </a:prstGeom>
          <a:noFill/>
          <a:ln>
            <a:noFill/>
          </a:ln>
        </p:spPr>
        <p:txBody>
          <a:bodyPr wrap="none" lIns="0" tIns="0" rIns="0" bIns="0" anchor="t"/>
          <a:lstStyle/>
          <a:p>
            <a:pPr algn="l">
              <a:lnSpc>
                <a:spcPts val="4031"/>
              </a:lnSpc>
              <a:spcBef>
                <a:spcPts val="0"/>
              </a:spcBef>
              <a:spcAft>
                <a:spcPts val="0"/>
              </a:spcAft>
            </a:pPr>
            <a:r>
              <a:rPr lang="fr-FR" sz="3225" b="1">
                <a:solidFill>
                  <a:srgbClr val="203A32"/>
                </a:solidFill>
                <a:latin typeface="Segoe UI"/>
                <a:ea typeface="Segoe UI"/>
                <a:cs typeface="Tahoma"/>
              </a:rPr>
              <a:t xml:space="preserve">L’extension R-Drop dispose d’un protocole sans résultat</a:t>
            </a:r>
            <a:endParaRPr lang="fr-FR" sz="3225"/>
          </a:p>
          <a:p>
            <a:pPr algn="l">
              <a:lnSpc>
                <a:spcPts val="4031"/>
              </a:lnSpc>
              <a:spcBef>
                <a:spcPts val="0"/>
              </a:spcBef>
              <a:spcAft>
                <a:spcPts val="0"/>
              </a:spcAft>
            </a:pPr>
            <a:r>
              <a:rPr lang="fr-FR" sz="3225" b="1">
                <a:solidFill>
                  <a:srgbClr val="203A32"/>
                </a:solidFill>
                <a:latin typeface="Segoe UI"/>
                <a:ea typeface="Segoe UI"/>
                <a:cs typeface="Tahoma"/>
              </a:rPr>
              <a:t xml:space="preserve">annoncé</a:t>
            </a:r>
            <a:endParaRPr lang="fr-FR" sz="3225"/>
          </a:p>
        </p:txBody>
      </p:sp>
      <p:sp>
        <p:nvSpPr>
          <p:cNvPr id="5" name="text-5"/>
          <p:cNvSpPr txBox="1"/>
          <p:nvPr/>
        </p:nvSpPr>
        <p:spPr>
          <a:xfrm>
            <a:off x="552450" y="2095500"/>
            <a:ext cx="3238500" cy="685800"/>
          </a:xfrm>
          <a:prstGeom prst="rect">
            <a:avLst/>
          </a:prstGeom>
          <a:noFill/>
          <a:ln>
            <a:noFill/>
          </a:ln>
        </p:spPr>
        <p:txBody>
          <a:bodyPr wrap="none" lIns="0" tIns="0" rIns="0" bIns="0" anchor="t"/>
          <a:lstStyle/>
          <a:p>
            <a:pPr algn="l">
              <a:lnSpc>
                <a:spcPts val="2719"/>
              </a:lnSpc>
              <a:spcBef>
                <a:spcPts val="0"/>
              </a:spcBef>
              <a:spcAft>
                <a:spcPts val="0"/>
              </a:spcAft>
            </a:pPr>
            <a:r>
              <a:rPr lang="fr-FR" sz="2175" b="1">
                <a:solidFill>
                  <a:srgbClr val="285D4B"/>
                </a:solidFill>
                <a:latin typeface="Segoe UI"/>
                <a:ea typeface="Segoe UI"/>
                <a:cs typeface="Tahoma"/>
              </a:rPr>
              <a:t xml:space="preserve">Comparaison appariée</a:t>
            </a:r>
            <a:endParaRPr lang="fr-FR" sz="2175"/>
          </a:p>
        </p:txBody>
      </p:sp>
      <p:sp>
        <p:nvSpPr>
          <p:cNvPr id="6" name="text-6"/>
          <p:cNvSpPr txBox="1"/>
          <p:nvPr/>
        </p:nvSpPr>
        <p:spPr>
          <a:xfrm>
            <a:off x="552450" y="2886075"/>
            <a:ext cx="3238500" cy="2286000"/>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64736B"/>
                </a:solidFill>
                <a:latin typeface="Segoe UI"/>
                <a:ea typeface="Segoe UI"/>
                <a:cs typeface="Tahoma"/>
              </a:rPr>
              <a:t xml:space="preserve">E2 AraBERT, λ 0,3</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Référence : α = 0</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R-Drop : α = 1</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Graines 42, 43, 44</a:t>
            </a:r>
            <a:endParaRPr lang="fr-FR" sz="1725"/>
          </a:p>
        </p:txBody>
      </p:sp>
      <p:sp>
        <p:nvSpPr>
          <p:cNvPr id="7" name="text-7"/>
          <p:cNvSpPr txBox="1"/>
          <p:nvPr/>
        </p:nvSpPr>
        <p:spPr>
          <a:xfrm>
            <a:off x="4333875" y="2095500"/>
            <a:ext cx="3238500" cy="685800"/>
          </a:xfrm>
          <a:prstGeom prst="rect">
            <a:avLst/>
          </a:prstGeom>
          <a:noFill/>
          <a:ln>
            <a:noFill/>
          </a:ln>
        </p:spPr>
        <p:txBody>
          <a:bodyPr wrap="none" lIns="0" tIns="0" rIns="0" bIns="0" anchor="t"/>
          <a:lstStyle/>
          <a:p>
            <a:pPr algn="l">
              <a:lnSpc>
                <a:spcPts val="2719"/>
              </a:lnSpc>
              <a:spcBef>
                <a:spcPts val="0"/>
              </a:spcBef>
              <a:spcAft>
                <a:spcPts val="0"/>
              </a:spcAft>
            </a:pPr>
            <a:r>
              <a:rPr lang="fr-FR" sz="2175" b="1">
                <a:solidFill>
                  <a:srgbClr val="285D4B"/>
                </a:solidFill>
                <a:latin typeface="Segoe UI"/>
                <a:ea typeface="Segoe UI"/>
                <a:cs typeface="Tahoma"/>
              </a:rPr>
              <a:t xml:space="preserve">Réglages identiques</a:t>
            </a:r>
            <a:endParaRPr lang="fr-FR" sz="2175"/>
          </a:p>
        </p:txBody>
      </p:sp>
      <p:sp>
        <p:nvSpPr>
          <p:cNvPr id="8" name="text-8"/>
          <p:cNvSpPr txBox="1"/>
          <p:nvPr/>
        </p:nvSpPr>
        <p:spPr>
          <a:xfrm>
            <a:off x="4333875" y="2886075"/>
            <a:ext cx="3238500" cy="2286000"/>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64736B"/>
                </a:solidFill>
                <a:latin typeface="Segoe UI"/>
                <a:ea typeface="Segoe UI"/>
                <a:cs typeface="Tahoma"/>
              </a:rPr>
              <a:t xml:space="preserve">Même train et validation</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LR 2e−5, longueur 64</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Batch effectif 32</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3 époques max., patience 2</a:t>
            </a:r>
            <a:endParaRPr lang="fr-FR" sz="1725"/>
          </a:p>
        </p:txBody>
      </p:sp>
      <p:sp>
        <p:nvSpPr>
          <p:cNvPr id="9" name="text-9"/>
          <p:cNvSpPr txBox="1"/>
          <p:nvPr/>
        </p:nvSpPr>
        <p:spPr>
          <a:xfrm>
            <a:off x="8115300" y="2095500"/>
            <a:ext cx="3238500" cy="685800"/>
          </a:xfrm>
          <a:prstGeom prst="rect">
            <a:avLst/>
          </a:prstGeom>
          <a:noFill/>
          <a:ln>
            <a:noFill/>
          </a:ln>
        </p:spPr>
        <p:txBody>
          <a:bodyPr wrap="none" lIns="0" tIns="0" rIns="0" bIns="0" anchor="t"/>
          <a:lstStyle/>
          <a:p>
            <a:pPr algn="l">
              <a:lnSpc>
                <a:spcPts val="2719"/>
              </a:lnSpc>
              <a:spcBef>
                <a:spcPts val="0"/>
              </a:spcBef>
              <a:spcAft>
                <a:spcPts val="0"/>
              </a:spcAft>
            </a:pPr>
            <a:r>
              <a:rPr lang="fr-FR" sz="2175" b="1">
                <a:solidFill>
                  <a:srgbClr val="285D4B"/>
                </a:solidFill>
                <a:latin typeface="Segoe UI"/>
                <a:ea typeface="Segoe UI"/>
                <a:cs typeface="Tahoma"/>
              </a:rPr>
              <a:t xml:space="preserve">État vérifié</a:t>
            </a:r>
            <a:endParaRPr lang="fr-FR" sz="2175"/>
          </a:p>
        </p:txBody>
      </p:sp>
      <p:sp>
        <p:nvSpPr>
          <p:cNvPr id="10" name="text-10"/>
          <p:cNvSpPr txBox="1"/>
          <p:nvPr/>
        </p:nvSpPr>
        <p:spPr>
          <a:xfrm>
            <a:off x="8115300" y="2886075"/>
            <a:ext cx="3238500" cy="2286000"/>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64736B"/>
                </a:solidFill>
                <a:latin typeface="Segoe UI"/>
                <a:ea typeface="Segoe UI"/>
                <a:cs typeface="Tahoma"/>
              </a:rPr>
              <a:t xml:space="preserve">3 cellules ajoutées</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Exécution désactivée</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Aucun run local terminé</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Aucun gain revendiqué</a:t>
            </a:r>
            <a:endParaRPr lang="fr-FR" sz="1725"/>
          </a:p>
        </p:txBody>
      </p:sp>
      <p:sp>
        <p:nvSpPr>
          <p:cNvPr id="11" name="rect-11"/>
          <p:cNvSpPr txBox="1"/>
          <p:nvPr/>
        </p:nvSpPr>
        <p:spPr>
          <a:xfrm>
            <a:off x="552450" y="5810250"/>
            <a:ext cx="11087100" cy="542925"/>
          </a:xfrm>
          <a:prstGeom prst="rect">
            <a:avLst/>
          </a:prstGeom>
          <a:solidFill>
            <a:srgbClr val="DDE7D6"/>
          </a:solidFill>
          <a:ln>
            <a:noFill/>
          </a:ln>
        </p:spPr>
      </p:sp>
      <p:sp>
        <p:nvSpPr>
          <p:cNvPr id="12" name="text-12"/>
          <p:cNvSpPr txBox="1"/>
          <p:nvPr/>
        </p:nvSpPr>
        <p:spPr>
          <a:xfrm>
            <a:off x="723900" y="5857875"/>
            <a:ext cx="10715625" cy="476250"/>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285D4B"/>
                </a:solidFill>
                <a:latin typeface="Segoe UI"/>
                <a:ea typeface="Segoe UI"/>
                <a:cs typeface="Tahoma"/>
              </a:rPr>
              <a:t xml:space="preserve">Six runs au total. Sélection sur validation. Les résultats seront séparés des expériences historiques A–G.</a:t>
            </a:r>
            <a:endParaRPr lang="fr-FR" sz="1350"/>
          </a:p>
        </p:txBody>
      </p:sp>
      <p:cxnSp>
        <p:nvCxnSpPr>
          <p:cNvPr id="13" name="line-13"/>
          <p:cNvCxnSpPr/>
          <p:nvPr/>
        </p:nvCxnSpPr>
        <p:spPr>
          <a:xfrm>
            <a:off x="552450" y="6505575"/>
            <a:ext cx="11087100" cy="0"/>
          </a:xfrm>
          <a:prstGeom prst="line">
            <a:avLst/>
          </a:prstGeom>
          <a:ln w="9525">
            <a:solidFill>
              <a:srgbClr val="D4DBCE"/>
            </a:solidFill>
          </a:ln>
        </p:spPr>
      </p:cxnSp>
      <p:sp>
        <p:nvSpPr>
          <p:cNvPr id="14" name="text-14"/>
          <p:cNvSpPr txBox="1"/>
          <p:nvPr/>
        </p:nvSpPr>
        <p:spPr>
          <a:xfrm>
            <a:off x="552450" y="6572250"/>
            <a:ext cx="8572500" cy="219075"/>
          </a:xfrm>
          <a:prstGeom prst="rect">
            <a:avLst/>
          </a:prstGeom>
          <a:noFill/>
          <a:ln>
            <a:noFill/>
          </a:ln>
        </p:spPr>
        <p:txBody>
          <a:bodyPr wrap="none" lIns="0" tIns="0" rIns="0" bIns="0" anchor="t"/>
          <a:lstStyle/>
          <a:p>
            <a:pPr algn="l">
              <a:lnSpc>
                <a:spcPts val="1125"/>
              </a:lnSpc>
              <a:spcBef>
                <a:spcPts val="0"/>
              </a:spcBef>
              <a:spcAft>
                <a:spcPts val="0"/>
              </a:spcAft>
            </a:pPr>
            <a:r>
              <a:rPr lang="fr-FR" sz="900" b="0">
                <a:solidFill>
                  <a:srgbClr val="64736B"/>
                </a:solidFill>
                <a:latin typeface="Segoe UI"/>
                <a:ea typeface="Segoe UI"/>
                <a:cs typeface="Tahoma"/>
              </a:rPr>
              <a:t xml:space="preserve">LMA3NA · Omar Elkhali · BDIOT</a:t>
            </a:r>
            <a:endParaRPr lang="fr-FR" sz="900"/>
          </a:p>
        </p:txBody>
      </p:sp>
      <p:sp>
        <p:nvSpPr>
          <p:cNvPr id="15" name="text-15"/>
          <p:cNvSpPr txBox="1"/>
          <p:nvPr/>
        </p:nvSpPr>
        <p:spPr>
          <a:xfrm>
            <a:off x="10763250" y="6572250"/>
            <a:ext cx="876300" cy="219075"/>
          </a:xfrm>
          <a:prstGeom prst="rect">
            <a:avLst/>
          </a:prstGeom>
          <a:noFill/>
          <a:ln>
            <a:noFill/>
          </a:ln>
        </p:spPr>
        <p:txBody>
          <a:bodyPr wrap="none" lIns="0" tIns="0" rIns="0" bIns="0" anchor="t"/>
          <a:lstStyle/>
          <a:p>
            <a:pPr algn="r">
              <a:lnSpc>
                <a:spcPts val="1125"/>
              </a:lnSpc>
              <a:spcBef>
                <a:spcPts val="0"/>
              </a:spcBef>
              <a:spcAft>
                <a:spcPts val="0"/>
              </a:spcAft>
            </a:pPr>
            <a:r>
              <a:rPr lang="fr-FR" sz="900" b="0">
                <a:solidFill>
                  <a:srgbClr val="64736B"/>
                </a:solidFill>
                <a:latin typeface="Segoe UI"/>
                <a:ea typeface="Segoe UI"/>
                <a:cs typeface="Tahoma"/>
              </a:rPr>
              <a:t xml:space="preserve">34 / 38</a:t>
            </a:r>
            <a:endParaRPr lang="fr-FR" sz="900"/>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F5F4EE"/>
        </a:solidFill>
        <a:effectLst/>
      </p:bgPr>
    </p:bg>
    <p:spTree>
      <p:nvGrpSpPr>
        <p:cNvPr id="1" name=""/>
        <p:cNvGrpSpPr/>
        <p:nvPr/>
      </p:nvGrpSpPr>
      <p:grpSpPr>
        <a:xfrm>
          <a:off x="0" y="0"/>
          <a:ext cx="0" cy="0"/>
          <a:chOff x="0" y="0"/>
          <a:chExt cx="0" cy="0"/>
        </a:xfrm>
      </p:grpSpPr>
      <p:sp>
        <p:nvSpPr>
          <p:cNvPr id="2" name="rect-2"/>
          <p:cNvSpPr txBox="1"/>
          <p:nvPr/>
        </p:nvSpPr>
        <p:spPr>
          <a:xfrm>
            <a:off x="552450" y="361950"/>
            <a:ext cx="400050" cy="38100"/>
          </a:xfrm>
          <a:prstGeom prst="rect">
            <a:avLst/>
          </a:prstGeom>
          <a:solidFill>
            <a:srgbClr val="E6A477"/>
          </a:solidFill>
          <a:ln>
            <a:noFill/>
          </a:ln>
        </p:spPr>
      </p:sp>
      <p:sp>
        <p:nvSpPr>
          <p:cNvPr id="3" name="text-3"/>
          <p:cNvSpPr txBox="1"/>
          <p:nvPr/>
        </p:nvSpPr>
        <p:spPr>
          <a:xfrm>
            <a:off x="1066800" y="276225"/>
            <a:ext cx="10287000" cy="266700"/>
          </a:xfrm>
          <a:prstGeom prst="rect">
            <a:avLst/>
          </a:prstGeom>
          <a:noFill/>
          <a:ln>
            <a:noFill/>
          </a:ln>
        </p:spPr>
        <p:txBody>
          <a:bodyPr wrap="none" lIns="0" tIns="0" rIns="0" bIns="0" anchor="t"/>
          <a:lstStyle/>
          <a:p>
            <a:pPr algn="l">
              <a:lnSpc>
                <a:spcPts val="1406"/>
              </a:lnSpc>
              <a:spcBef>
                <a:spcPts val="0"/>
              </a:spcBef>
              <a:spcAft>
                <a:spcPts val="0"/>
              </a:spcAft>
            </a:pPr>
            <a:r>
              <a:rPr lang="fr-FR" sz="1125" b="1">
                <a:solidFill>
                  <a:srgbClr val="285D4B"/>
                </a:solidFill>
                <a:latin typeface="Segoe UI"/>
                <a:ea typeface="Segoe UI"/>
                <a:cs typeface="Tahoma"/>
              </a:rPr>
              <a:t xml:space="preserve">08 · PLAN DE PROGRÈS</a:t>
            </a:r>
            <a:endParaRPr lang="fr-FR" sz="1125"/>
          </a:p>
        </p:txBody>
      </p:sp>
      <p:sp>
        <p:nvSpPr>
          <p:cNvPr id="4" name="text-4"/>
          <p:cNvSpPr txBox="1"/>
          <p:nvPr/>
        </p:nvSpPr>
        <p:spPr>
          <a:xfrm>
            <a:off x="552450" y="790575"/>
            <a:ext cx="11087100" cy="1066800"/>
          </a:xfrm>
          <a:prstGeom prst="rect">
            <a:avLst/>
          </a:prstGeom>
          <a:noFill/>
          <a:ln>
            <a:noFill/>
          </a:ln>
        </p:spPr>
        <p:txBody>
          <a:bodyPr wrap="none" lIns="0" tIns="0" rIns="0" bIns="0" anchor="t"/>
          <a:lstStyle/>
          <a:p>
            <a:pPr algn="l">
              <a:lnSpc>
                <a:spcPts val="4031"/>
              </a:lnSpc>
              <a:spcBef>
                <a:spcPts val="0"/>
              </a:spcBef>
              <a:spcAft>
                <a:spcPts val="0"/>
              </a:spcAft>
            </a:pPr>
            <a:r>
              <a:rPr lang="fr-FR" sz="3225" b="1">
                <a:solidFill>
                  <a:srgbClr val="203A32"/>
                </a:solidFill>
                <a:latin typeface="Segoe UI"/>
                <a:ea typeface="Segoe UI"/>
                <a:cs typeface="Tahoma"/>
              </a:rPr>
              <a:t xml:space="preserve">Les prochaines étapes privilégient des comparaisons</a:t>
            </a:r>
            <a:endParaRPr lang="fr-FR" sz="3225"/>
          </a:p>
          <a:p>
            <a:pPr algn="l">
              <a:lnSpc>
                <a:spcPts val="4031"/>
              </a:lnSpc>
              <a:spcBef>
                <a:spcPts val="0"/>
              </a:spcBef>
              <a:spcAft>
                <a:spcPts val="0"/>
              </a:spcAft>
            </a:pPr>
            <a:r>
              <a:rPr lang="fr-FR" sz="3225" b="1">
                <a:solidFill>
                  <a:srgbClr val="203A32"/>
                </a:solidFill>
                <a:latin typeface="Segoe UI"/>
                <a:ea typeface="Segoe UI"/>
                <a:cs typeface="Tahoma"/>
              </a:rPr>
              <a:t xml:space="preserve">contrôlées</a:t>
            </a:r>
            <a:endParaRPr lang="fr-FR" sz="3225"/>
          </a:p>
        </p:txBody>
      </p:sp>
      <p:sp>
        <p:nvSpPr>
          <p:cNvPr id="5" name="rect-5"/>
          <p:cNvSpPr txBox="1"/>
          <p:nvPr/>
        </p:nvSpPr>
        <p:spPr>
          <a:xfrm>
            <a:off x="552450" y="2028825"/>
            <a:ext cx="11087100" cy="638175"/>
          </a:xfrm>
          <a:prstGeom prst="rect">
            <a:avLst/>
          </a:prstGeom>
          <a:solidFill>
            <a:srgbClr val="285D4B"/>
          </a:solidFill>
          <a:ln>
            <a:noFill/>
          </a:ln>
        </p:spPr>
      </p:sp>
      <p:sp>
        <p:nvSpPr>
          <p:cNvPr id="6" name="text-6"/>
          <p:cNvSpPr txBox="1"/>
          <p:nvPr/>
        </p:nvSpPr>
        <p:spPr>
          <a:xfrm>
            <a:off x="666750" y="2057400"/>
            <a:ext cx="899160" cy="609600"/>
          </a:xfrm>
          <a:prstGeom prst="rect">
            <a:avLst/>
          </a:prstGeom>
          <a:noFill/>
          <a:ln>
            <a:noFill/>
          </a:ln>
        </p:spPr>
        <p:txBody>
          <a:bodyPr wrap="none" lIns="0" tIns="0" rIns="0" bIns="0" anchor="t"/>
          <a:lstStyle/>
          <a:p>
            <a:pPr algn="l">
              <a:lnSpc>
                <a:spcPts val="1969"/>
              </a:lnSpc>
              <a:spcBef>
                <a:spcPts val="0"/>
              </a:spcBef>
              <a:spcAft>
                <a:spcPts val="0"/>
              </a:spcAft>
            </a:pPr>
            <a:r>
              <a:rPr lang="fr-FR" sz="1575" b="1">
                <a:solidFill>
                  <a:srgbClr val="FFFFFF"/>
                </a:solidFill>
                <a:latin typeface="Segoe UI"/>
                <a:ea typeface="Segoe UI"/>
                <a:cs typeface="Tahoma"/>
              </a:rPr>
              <a:t xml:space="preserve">Priorité</a:t>
            </a:r>
            <a:endParaRPr lang="fr-FR" sz="1575"/>
          </a:p>
        </p:txBody>
      </p:sp>
      <p:sp>
        <p:nvSpPr>
          <p:cNvPr id="7" name="text-7"/>
          <p:cNvSpPr txBox="1"/>
          <p:nvPr/>
        </p:nvSpPr>
        <p:spPr>
          <a:xfrm>
            <a:off x="1775460" y="2057400"/>
            <a:ext cx="4890516" cy="609600"/>
          </a:xfrm>
          <a:prstGeom prst="rect">
            <a:avLst/>
          </a:prstGeom>
          <a:noFill/>
          <a:ln>
            <a:noFill/>
          </a:ln>
        </p:spPr>
        <p:txBody>
          <a:bodyPr wrap="none" lIns="0" tIns="0" rIns="0" bIns="0" anchor="t"/>
          <a:lstStyle/>
          <a:p>
            <a:pPr algn="l">
              <a:lnSpc>
                <a:spcPts val="1969"/>
              </a:lnSpc>
              <a:spcBef>
                <a:spcPts val="0"/>
              </a:spcBef>
              <a:spcAft>
                <a:spcPts val="0"/>
              </a:spcAft>
            </a:pPr>
            <a:r>
              <a:rPr lang="fr-FR" sz="1575" b="1">
                <a:solidFill>
                  <a:srgbClr val="FFFFFF"/>
                </a:solidFill>
                <a:latin typeface="Segoe UI"/>
                <a:ea typeface="Segoe UI"/>
                <a:cs typeface="Tahoma"/>
              </a:rPr>
              <a:t xml:space="preserve">Action</a:t>
            </a:r>
            <a:endParaRPr lang="fr-FR" sz="1575"/>
          </a:p>
        </p:txBody>
      </p:sp>
      <p:sp>
        <p:nvSpPr>
          <p:cNvPr id="8" name="text-8"/>
          <p:cNvSpPr txBox="1"/>
          <p:nvPr/>
        </p:nvSpPr>
        <p:spPr>
          <a:xfrm>
            <a:off x="6875526" y="2057400"/>
            <a:ext cx="4668774" cy="609600"/>
          </a:xfrm>
          <a:prstGeom prst="rect">
            <a:avLst/>
          </a:prstGeom>
          <a:noFill/>
          <a:ln>
            <a:noFill/>
          </a:ln>
        </p:spPr>
        <p:txBody>
          <a:bodyPr wrap="none" lIns="0" tIns="0" rIns="0" bIns="0" anchor="t"/>
          <a:lstStyle/>
          <a:p>
            <a:pPr algn="l">
              <a:lnSpc>
                <a:spcPts val="1969"/>
              </a:lnSpc>
              <a:spcBef>
                <a:spcPts val="0"/>
              </a:spcBef>
              <a:spcAft>
                <a:spcPts val="0"/>
              </a:spcAft>
            </a:pPr>
            <a:r>
              <a:rPr lang="fr-FR" sz="1575" b="1">
                <a:solidFill>
                  <a:srgbClr val="FFFFFF"/>
                </a:solidFill>
                <a:latin typeface="Segoe UI"/>
                <a:ea typeface="Segoe UI"/>
                <a:cs typeface="Tahoma"/>
              </a:rPr>
              <a:t xml:space="preserve">Critère de décision</a:t>
            </a:r>
            <a:endParaRPr lang="fr-FR" sz="1575"/>
          </a:p>
        </p:txBody>
      </p:sp>
      <p:sp>
        <p:nvSpPr>
          <p:cNvPr id="9" name="rect-9"/>
          <p:cNvSpPr txBox="1"/>
          <p:nvPr/>
        </p:nvSpPr>
        <p:spPr>
          <a:xfrm>
            <a:off x="552450" y="2667000"/>
            <a:ext cx="11087100" cy="638175"/>
          </a:xfrm>
          <a:prstGeom prst="rect">
            <a:avLst/>
          </a:prstGeom>
          <a:solidFill>
            <a:srgbClr val="FFFFFF"/>
          </a:solidFill>
          <a:ln>
            <a:noFill/>
          </a:ln>
        </p:spPr>
      </p:sp>
      <p:sp>
        <p:nvSpPr>
          <p:cNvPr id="10" name="text-10"/>
          <p:cNvSpPr txBox="1"/>
          <p:nvPr/>
        </p:nvSpPr>
        <p:spPr>
          <a:xfrm>
            <a:off x="666750" y="2695575"/>
            <a:ext cx="899160" cy="609600"/>
          </a:xfrm>
          <a:prstGeom prst="rect">
            <a:avLst/>
          </a:prstGeom>
          <a:noFill/>
          <a:ln>
            <a:noFill/>
          </a:ln>
        </p:spPr>
        <p:txBody>
          <a:bodyPr wrap="none" lIns="0" tIns="0" rIns="0" bIns="0" anchor="t"/>
          <a:lstStyle/>
          <a:p>
            <a:pPr algn="l">
              <a:lnSpc>
                <a:spcPts val="1969"/>
              </a:lnSpc>
              <a:spcBef>
                <a:spcPts val="0"/>
              </a:spcBef>
              <a:spcAft>
                <a:spcPts val="0"/>
              </a:spcAft>
            </a:pPr>
            <a:r>
              <a:rPr lang="fr-FR" sz="1575" b="0">
                <a:solidFill>
                  <a:srgbClr val="203A32"/>
                </a:solidFill>
                <a:latin typeface="Segoe UI"/>
                <a:ea typeface="Segoe UI"/>
                <a:cs typeface="Tahoma"/>
              </a:rPr>
              <a:t xml:space="preserve">1</a:t>
            </a:r>
            <a:endParaRPr lang="fr-FR" sz="1575"/>
          </a:p>
        </p:txBody>
      </p:sp>
      <p:sp>
        <p:nvSpPr>
          <p:cNvPr id="11" name="text-11"/>
          <p:cNvSpPr txBox="1"/>
          <p:nvPr/>
        </p:nvSpPr>
        <p:spPr>
          <a:xfrm>
            <a:off x="1775460" y="2695575"/>
            <a:ext cx="4890516" cy="609600"/>
          </a:xfrm>
          <a:prstGeom prst="rect">
            <a:avLst/>
          </a:prstGeom>
          <a:noFill/>
          <a:ln>
            <a:noFill/>
          </a:ln>
        </p:spPr>
        <p:txBody>
          <a:bodyPr wrap="none" lIns="0" tIns="0" rIns="0" bIns="0" anchor="t"/>
          <a:lstStyle/>
          <a:p>
            <a:pPr algn="l">
              <a:lnSpc>
                <a:spcPts val="1969"/>
              </a:lnSpc>
              <a:spcBef>
                <a:spcPts val="0"/>
              </a:spcBef>
              <a:spcAft>
                <a:spcPts val="0"/>
              </a:spcAft>
            </a:pPr>
            <a:r>
              <a:rPr lang="fr-FR" sz="1575" b="0">
                <a:solidFill>
                  <a:srgbClr val="203A32"/>
                </a:solidFill>
                <a:latin typeface="Segoe UI"/>
                <a:ea typeface="Segoe UI"/>
                <a:cs typeface="Tahoma"/>
              </a:rPr>
              <a:t xml:space="preserve">Revalider checkpoint, prétraitement et seuil</a:t>
            </a:r>
            <a:endParaRPr lang="fr-FR" sz="1575"/>
          </a:p>
        </p:txBody>
      </p:sp>
      <p:sp>
        <p:nvSpPr>
          <p:cNvPr id="12" name="text-12"/>
          <p:cNvSpPr txBox="1"/>
          <p:nvPr/>
        </p:nvSpPr>
        <p:spPr>
          <a:xfrm>
            <a:off x="6875526" y="2695575"/>
            <a:ext cx="4668774" cy="609600"/>
          </a:xfrm>
          <a:prstGeom prst="rect">
            <a:avLst/>
          </a:prstGeom>
          <a:noFill/>
          <a:ln>
            <a:noFill/>
          </a:ln>
        </p:spPr>
        <p:txBody>
          <a:bodyPr wrap="none" lIns="0" tIns="0" rIns="0" bIns="0" anchor="t"/>
          <a:lstStyle/>
          <a:p>
            <a:pPr algn="l">
              <a:lnSpc>
                <a:spcPts val="1969"/>
              </a:lnSpc>
              <a:spcBef>
                <a:spcPts val="0"/>
              </a:spcBef>
              <a:spcAft>
                <a:spcPts val="0"/>
              </a:spcAft>
            </a:pPr>
            <a:r>
              <a:rPr lang="fr-FR" sz="1575" b="0">
                <a:solidFill>
                  <a:srgbClr val="203A32"/>
                </a:solidFill>
                <a:latin typeface="Segoe UI"/>
                <a:ea typeface="Segoe UI"/>
                <a:cs typeface="Tahoma"/>
              </a:rPr>
              <a:t xml:space="preserve">Même chaîne en évaluation et en saisie</a:t>
            </a:r>
            <a:endParaRPr lang="fr-FR" sz="1575"/>
          </a:p>
        </p:txBody>
      </p:sp>
      <p:sp>
        <p:nvSpPr>
          <p:cNvPr id="13" name="rect-13"/>
          <p:cNvSpPr txBox="1"/>
          <p:nvPr/>
        </p:nvSpPr>
        <p:spPr>
          <a:xfrm>
            <a:off x="552450" y="3305175"/>
            <a:ext cx="11087100" cy="638175"/>
          </a:xfrm>
          <a:prstGeom prst="rect">
            <a:avLst/>
          </a:prstGeom>
          <a:solidFill>
            <a:srgbClr val="EBEEE6"/>
          </a:solidFill>
          <a:ln>
            <a:noFill/>
          </a:ln>
        </p:spPr>
      </p:sp>
      <p:sp>
        <p:nvSpPr>
          <p:cNvPr id="14" name="text-14"/>
          <p:cNvSpPr txBox="1"/>
          <p:nvPr/>
        </p:nvSpPr>
        <p:spPr>
          <a:xfrm>
            <a:off x="666750" y="3333750"/>
            <a:ext cx="899160" cy="609600"/>
          </a:xfrm>
          <a:prstGeom prst="rect">
            <a:avLst/>
          </a:prstGeom>
          <a:noFill/>
          <a:ln>
            <a:noFill/>
          </a:ln>
        </p:spPr>
        <p:txBody>
          <a:bodyPr wrap="none" lIns="0" tIns="0" rIns="0" bIns="0" anchor="t"/>
          <a:lstStyle/>
          <a:p>
            <a:pPr algn="l">
              <a:lnSpc>
                <a:spcPts val="1969"/>
              </a:lnSpc>
              <a:spcBef>
                <a:spcPts val="0"/>
              </a:spcBef>
              <a:spcAft>
                <a:spcPts val="0"/>
              </a:spcAft>
            </a:pPr>
            <a:r>
              <a:rPr lang="fr-FR" sz="1575" b="0">
                <a:solidFill>
                  <a:srgbClr val="203A32"/>
                </a:solidFill>
                <a:latin typeface="Segoe UI"/>
                <a:ea typeface="Segoe UI"/>
                <a:cs typeface="Tahoma"/>
              </a:rPr>
              <a:t xml:space="preserve">2</a:t>
            </a:r>
            <a:endParaRPr lang="fr-FR" sz="1575"/>
          </a:p>
        </p:txBody>
      </p:sp>
      <p:sp>
        <p:nvSpPr>
          <p:cNvPr id="15" name="text-15"/>
          <p:cNvSpPr txBox="1"/>
          <p:nvPr/>
        </p:nvSpPr>
        <p:spPr>
          <a:xfrm>
            <a:off x="1775460" y="3333750"/>
            <a:ext cx="4890516" cy="609600"/>
          </a:xfrm>
          <a:prstGeom prst="rect">
            <a:avLst/>
          </a:prstGeom>
          <a:noFill/>
          <a:ln>
            <a:noFill/>
          </a:ln>
        </p:spPr>
        <p:txBody>
          <a:bodyPr wrap="none" lIns="0" tIns="0" rIns="0" bIns="0" anchor="t"/>
          <a:lstStyle/>
          <a:p>
            <a:pPr algn="l">
              <a:lnSpc>
                <a:spcPts val="1969"/>
              </a:lnSpc>
              <a:spcBef>
                <a:spcPts val="0"/>
              </a:spcBef>
              <a:spcAft>
                <a:spcPts val="0"/>
              </a:spcAft>
            </a:pPr>
            <a:r>
              <a:rPr lang="fr-FR" sz="1575" b="0">
                <a:solidFill>
                  <a:srgbClr val="203A32"/>
                </a:solidFill>
                <a:latin typeface="Segoe UI"/>
                <a:ea typeface="Segoe UI"/>
                <a:cs typeface="Tahoma"/>
              </a:rPr>
              <a:t xml:space="preserve">Exécuter référence / R-Drop</a:t>
            </a:r>
            <a:endParaRPr lang="fr-FR" sz="1575"/>
          </a:p>
        </p:txBody>
      </p:sp>
      <p:sp>
        <p:nvSpPr>
          <p:cNvPr id="16" name="text-16"/>
          <p:cNvSpPr txBox="1"/>
          <p:nvPr/>
        </p:nvSpPr>
        <p:spPr>
          <a:xfrm>
            <a:off x="6875526" y="3333750"/>
            <a:ext cx="4668774" cy="609600"/>
          </a:xfrm>
          <a:prstGeom prst="rect">
            <a:avLst/>
          </a:prstGeom>
          <a:noFill/>
          <a:ln>
            <a:noFill/>
          </a:ln>
        </p:spPr>
        <p:txBody>
          <a:bodyPr wrap="none" lIns="0" tIns="0" rIns="0" bIns="0" anchor="t"/>
          <a:lstStyle/>
          <a:p>
            <a:pPr algn="l">
              <a:lnSpc>
                <a:spcPts val="1969"/>
              </a:lnSpc>
              <a:spcBef>
                <a:spcPts val="0"/>
              </a:spcBef>
              <a:spcAft>
                <a:spcPts val="0"/>
              </a:spcAft>
            </a:pPr>
            <a:r>
              <a:rPr lang="fr-FR" sz="1575" b="0">
                <a:solidFill>
                  <a:srgbClr val="203A32"/>
                </a:solidFill>
                <a:latin typeface="Segoe UI"/>
                <a:ea typeface="Segoe UI"/>
                <a:cs typeface="Tahoma"/>
              </a:rPr>
              <a:t xml:space="preserve">Écarts appariés sur trois graines</a:t>
            </a:r>
            <a:endParaRPr lang="fr-FR" sz="1575"/>
          </a:p>
        </p:txBody>
      </p:sp>
      <p:sp>
        <p:nvSpPr>
          <p:cNvPr id="17" name="rect-17"/>
          <p:cNvSpPr txBox="1"/>
          <p:nvPr/>
        </p:nvSpPr>
        <p:spPr>
          <a:xfrm>
            <a:off x="552450" y="3943350"/>
            <a:ext cx="11087100" cy="638175"/>
          </a:xfrm>
          <a:prstGeom prst="rect">
            <a:avLst/>
          </a:prstGeom>
          <a:solidFill>
            <a:srgbClr val="FFFFFF"/>
          </a:solidFill>
          <a:ln>
            <a:noFill/>
          </a:ln>
        </p:spPr>
      </p:sp>
      <p:sp>
        <p:nvSpPr>
          <p:cNvPr id="18" name="text-18"/>
          <p:cNvSpPr txBox="1"/>
          <p:nvPr/>
        </p:nvSpPr>
        <p:spPr>
          <a:xfrm>
            <a:off x="666750" y="3971925"/>
            <a:ext cx="899160" cy="609600"/>
          </a:xfrm>
          <a:prstGeom prst="rect">
            <a:avLst/>
          </a:prstGeom>
          <a:noFill/>
          <a:ln>
            <a:noFill/>
          </a:ln>
        </p:spPr>
        <p:txBody>
          <a:bodyPr wrap="none" lIns="0" tIns="0" rIns="0" bIns="0" anchor="t"/>
          <a:lstStyle/>
          <a:p>
            <a:pPr algn="l">
              <a:lnSpc>
                <a:spcPts val="1969"/>
              </a:lnSpc>
              <a:spcBef>
                <a:spcPts val="0"/>
              </a:spcBef>
              <a:spcAft>
                <a:spcPts val="0"/>
              </a:spcAft>
            </a:pPr>
            <a:r>
              <a:rPr lang="fr-FR" sz="1575" b="0">
                <a:solidFill>
                  <a:srgbClr val="203A32"/>
                </a:solidFill>
                <a:latin typeface="Segoe UI"/>
                <a:ea typeface="Segoe UI"/>
                <a:cs typeface="Tahoma"/>
              </a:rPr>
              <a:t xml:space="preserve">3</a:t>
            </a:r>
            <a:endParaRPr lang="fr-FR" sz="1575"/>
          </a:p>
        </p:txBody>
      </p:sp>
      <p:sp>
        <p:nvSpPr>
          <p:cNvPr id="19" name="text-19"/>
          <p:cNvSpPr txBox="1"/>
          <p:nvPr/>
        </p:nvSpPr>
        <p:spPr>
          <a:xfrm>
            <a:off x="1775460" y="3971925"/>
            <a:ext cx="4890516" cy="609600"/>
          </a:xfrm>
          <a:prstGeom prst="rect">
            <a:avLst/>
          </a:prstGeom>
          <a:noFill/>
          <a:ln>
            <a:noFill/>
          </a:ln>
        </p:spPr>
        <p:txBody>
          <a:bodyPr wrap="none" lIns="0" tIns="0" rIns="0" bIns="0" anchor="t"/>
          <a:lstStyle/>
          <a:p>
            <a:pPr algn="l">
              <a:lnSpc>
                <a:spcPts val="1969"/>
              </a:lnSpc>
              <a:spcBef>
                <a:spcPts val="0"/>
              </a:spcBef>
              <a:spcAft>
                <a:spcPts val="0"/>
              </a:spcAft>
            </a:pPr>
            <a:r>
              <a:rPr lang="fr-FR" sz="1575" b="0">
                <a:solidFill>
                  <a:srgbClr val="203A32"/>
                </a:solidFill>
                <a:latin typeface="Segoe UI"/>
                <a:ea typeface="Segoe UI"/>
                <a:cs typeface="Tahoma"/>
              </a:rPr>
              <a:t xml:space="preserve">Comparer LR, longueur et prétraitement</a:t>
            </a:r>
            <a:endParaRPr lang="fr-FR" sz="1575"/>
          </a:p>
        </p:txBody>
      </p:sp>
      <p:sp>
        <p:nvSpPr>
          <p:cNvPr id="20" name="text-20"/>
          <p:cNvSpPr txBox="1"/>
          <p:nvPr/>
        </p:nvSpPr>
        <p:spPr>
          <a:xfrm>
            <a:off x="6875526" y="3971925"/>
            <a:ext cx="4668774" cy="609600"/>
          </a:xfrm>
          <a:prstGeom prst="rect">
            <a:avLst/>
          </a:prstGeom>
          <a:noFill/>
          <a:ln>
            <a:noFill/>
          </a:ln>
        </p:spPr>
        <p:txBody>
          <a:bodyPr wrap="none" lIns="0" tIns="0" rIns="0" bIns="0" anchor="t"/>
          <a:lstStyle/>
          <a:p>
            <a:pPr algn="l">
              <a:lnSpc>
                <a:spcPts val="1969"/>
              </a:lnSpc>
              <a:spcBef>
                <a:spcPts val="0"/>
              </a:spcBef>
              <a:spcAft>
                <a:spcPts val="0"/>
              </a:spcAft>
            </a:pPr>
            <a:r>
              <a:rPr lang="fr-FR" sz="1575" b="0">
                <a:solidFill>
                  <a:srgbClr val="203A32"/>
                </a:solidFill>
                <a:latin typeface="Segoe UI"/>
                <a:ea typeface="Segoe UI"/>
                <a:cs typeface="Tahoma"/>
              </a:rPr>
              <a:t xml:space="preserve">Gain validation et coût mesuré</a:t>
            </a:r>
            <a:endParaRPr lang="fr-FR" sz="1575"/>
          </a:p>
        </p:txBody>
      </p:sp>
      <p:sp>
        <p:nvSpPr>
          <p:cNvPr id="21" name="rect-21"/>
          <p:cNvSpPr txBox="1"/>
          <p:nvPr/>
        </p:nvSpPr>
        <p:spPr>
          <a:xfrm>
            <a:off x="552450" y="4581525"/>
            <a:ext cx="11087100" cy="638175"/>
          </a:xfrm>
          <a:prstGeom prst="rect">
            <a:avLst/>
          </a:prstGeom>
          <a:solidFill>
            <a:srgbClr val="EBEEE6"/>
          </a:solidFill>
          <a:ln>
            <a:noFill/>
          </a:ln>
        </p:spPr>
      </p:sp>
      <p:sp>
        <p:nvSpPr>
          <p:cNvPr id="22" name="text-22"/>
          <p:cNvSpPr txBox="1"/>
          <p:nvPr/>
        </p:nvSpPr>
        <p:spPr>
          <a:xfrm>
            <a:off x="666750" y="4610100"/>
            <a:ext cx="899160" cy="609600"/>
          </a:xfrm>
          <a:prstGeom prst="rect">
            <a:avLst/>
          </a:prstGeom>
          <a:noFill/>
          <a:ln>
            <a:noFill/>
          </a:ln>
        </p:spPr>
        <p:txBody>
          <a:bodyPr wrap="none" lIns="0" tIns="0" rIns="0" bIns="0" anchor="t"/>
          <a:lstStyle/>
          <a:p>
            <a:pPr algn="l">
              <a:lnSpc>
                <a:spcPts val="1969"/>
              </a:lnSpc>
              <a:spcBef>
                <a:spcPts val="0"/>
              </a:spcBef>
              <a:spcAft>
                <a:spcPts val="0"/>
              </a:spcAft>
            </a:pPr>
            <a:r>
              <a:rPr lang="fr-FR" sz="1575" b="0">
                <a:solidFill>
                  <a:srgbClr val="203A32"/>
                </a:solidFill>
                <a:latin typeface="Segoe UI"/>
                <a:ea typeface="Segoe UI"/>
                <a:cs typeface="Tahoma"/>
              </a:rPr>
              <a:t xml:space="preserve">4</a:t>
            </a:r>
            <a:endParaRPr lang="fr-FR" sz="1575"/>
          </a:p>
        </p:txBody>
      </p:sp>
      <p:sp>
        <p:nvSpPr>
          <p:cNvPr id="23" name="text-23"/>
          <p:cNvSpPr txBox="1"/>
          <p:nvPr/>
        </p:nvSpPr>
        <p:spPr>
          <a:xfrm>
            <a:off x="1775460" y="4610100"/>
            <a:ext cx="4890516" cy="609600"/>
          </a:xfrm>
          <a:prstGeom prst="rect">
            <a:avLst/>
          </a:prstGeom>
          <a:noFill/>
          <a:ln>
            <a:noFill/>
          </a:ln>
        </p:spPr>
        <p:txBody>
          <a:bodyPr wrap="none" lIns="0" tIns="0" rIns="0" bIns="0" anchor="t"/>
          <a:lstStyle/>
          <a:p>
            <a:pPr algn="l">
              <a:lnSpc>
                <a:spcPts val="1969"/>
              </a:lnSpc>
              <a:spcBef>
                <a:spcPts val="0"/>
              </a:spcBef>
              <a:spcAft>
                <a:spcPts val="0"/>
              </a:spcAft>
            </a:pPr>
            <a:r>
              <a:rPr lang="fr-FR" sz="1575" b="0">
                <a:solidFill>
                  <a:srgbClr val="203A32"/>
                </a:solidFill>
                <a:latin typeface="Segoe UI"/>
                <a:ea typeface="Segoe UI"/>
                <a:cs typeface="Tahoma"/>
              </a:rPr>
              <a:t xml:space="preserve">Étudier ensemble ou TAPT sur train</a:t>
            </a:r>
            <a:endParaRPr lang="fr-FR" sz="1575"/>
          </a:p>
        </p:txBody>
      </p:sp>
      <p:sp>
        <p:nvSpPr>
          <p:cNvPr id="24" name="text-24"/>
          <p:cNvSpPr txBox="1"/>
          <p:nvPr/>
        </p:nvSpPr>
        <p:spPr>
          <a:xfrm>
            <a:off x="6875526" y="4610100"/>
            <a:ext cx="4668774" cy="609600"/>
          </a:xfrm>
          <a:prstGeom prst="rect">
            <a:avLst/>
          </a:prstGeom>
          <a:noFill/>
          <a:ln>
            <a:noFill/>
          </a:ln>
        </p:spPr>
        <p:txBody>
          <a:bodyPr wrap="none" lIns="0" tIns="0" rIns="0" bIns="0" anchor="t"/>
          <a:lstStyle/>
          <a:p>
            <a:pPr algn="l">
              <a:lnSpc>
                <a:spcPts val="1969"/>
              </a:lnSpc>
              <a:spcBef>
                <a:spcPts val="0"/>
              </a:spcBef>
              <a:spcAft>
                <a:spcPts val="0"/>
              </a:spcAft>
            </a:pPr>
            <a:r>
              <a:rPr lang="fr-FR" sz="1575" b="0">
                <a:solidFill>
                  <a:srgbClr val="203A32"/>
                </a:solidFill>
                <a:latin typeface="Segoe UI"/>
                <a:ea typeface="Segoe UI"/>
                <a:cs typeface="Tahoma"/>
              </a:rPr>
              <a:t xml:space="preserve">Extension isolée, sans labels test</a:t>
            </a:r>
            <a:endParaRPr lang="fr-FR" sz="1575"/>
          </a:p>
        </p:txBody>
      </p:sp>
      <p:sp>
        <p:nvSpPr>
          <p:cNvPr id="25" name="rect-25"/>
          <p:cNvSpPr txBox="1"/>
          <p:nvPr/>
        </p:nvSpPr>
        <p:spPr>
          <a:xfrm>
            <a:off x="552450" y="5219700"/>
            <a:ext cx="11087100" cy="638175"/>
          </a:xfrm>
          <a:prstGeom prst="rect">
            <a:avLst/>
          </a:prstGeom>
          <a:solidFill>
            <a:srgbClr val="FFFFFF"/>
          </a:solidFill>
          <a:ln>
            <a:noFill/>
          </a:ln>
        </p:spPr>
      </p:sp>
      <p:sp>
        <p:nvSpPr>
          <p:cNvPr id="26" name="text-26"/>
          <p:cNvSpPr txBox="1"/>
          <p:nvPr/>
        </p:nvSpPr>
        <p:spPr>
          <a:xfrm>
            <a:off x="666750" y="5248275"/>
            <a:ext cx="899160" cy="609600"/>
          </a:xfrm>
          <a:prstGeom prst="rect">
            <a:avLst/>
          </a:prstGeom>
          <a:noFill/>
          <a:ln>
            <a:noFill/>
          </a:ln>
        </p:spPr>
        <p:txBody>
          <a:bodyPr wrap="none" lIns="0" tIns="0" rIns="0" bIns="0" anchor="t"/>
          <a:lstStyle/>
          <a:p>
            <a:pPr algn="l">
              <a:lnSpc>
                <a:spcPts val="1969"/>
              </a:lnSpc>
              <a:spcBef>
                <a:spcPts val="0"/>
              </a:spcBef>
              <a:spcAft>
                <a:spcPts val="0"/>
              </a:spcAft>
            </a:pPr>
            <a:r>
              <a:rPr lang="fr-FR" sz="1575" b="0">
                <a:solidFill>
                  <a:srgbClr val="203A32"/>
                </a:solidFill>
                <a:latin typeface="Segoe UI"/>
                <a:ea typeface="Segoe UI"/>
                <a:cs typeface="Tahoma"/>
              </a:rPr>
              <a:t xml:space="preserve">5</a:t>
            </a:r>
            <a:endParaRPr lang="fr-FR" sz="1575"/>
          </a:p>
        </p:txBody>
      </p:sp>
      <p:sp>
        <p:nvSpPr>
          <p:cNvPr id="27" name="text-27"/>
          <p:cNvSpPr txBox="1"/>
          <p:nvPr/>
        </p:nvSpPr>
        <p:spPr>
          <a:xfrm>
            <a:off x="1775460" y="5248275"/>
            <a:ext cx="4890516" cy="609600"/>
          </a:xfrm>
          <a:prstGeom prst="rect">
            <a:avLst/>
          </a:prstGeom>
          <a:noFill/>
          <a:ln>
            <a:noFill/>
          </a:ln>
        </p:spPr>
        <p:txBody>
          <a:bodyPr wrap="none" lIns="0" tIns="0" rIns="0" bIns="0" anchor="t"/>
          <a:lstStyle/>
          <a:p>
            <a:pPr algn="l">
              <a:lnSpc>
                <a:spcPts val="1969"/>
              </a:lnSpc>
              <a:spcBef>
                <a:spcPts val="0"/>
              </a:spcBef>
              <a:spcAft>
                <a:spcPts val="0"/>
              </a:spcAft>
            </a:pPr>
            <a:r>
              <a:rPr lang="fr-FR" sz="1575" b="0">
                <a:solidFill>
                  <a:srgbClr val="203A32"/>
                </a:solidFill>
                <a:latin typeface="Segoe UI"/>
                <a:ea typeface="Segoe UI"/>
                <a:cs typeface="Tahoma"/>
              </a:rPr>
              <a:t xml:space="preserve">Finaliser les preuves et l’analyse</a:t>
            </a:r>
            <a:endParaRPr lang="fr-FR" sz="1575"/>
          </a:p>
        </p:txBody>
      </p:sp>
      <p:sp>
        <p:nvSpPr>
          <p:cNvPr id="28" name="text-28"/>
          <p:cNvSpPr txBox="1"/>
          <p:nvPr/>
        </p:nvSpPr>
        <p:spPr>
          <a:xfrm>
            <a:off x="6875526" y="5248275"/>
            <a:ext cx="4668774" cy="609600"/>
          </a:xfrm>
          <a:prstGeom prst="rect">
            <a:avLst/>
          </a:prstGeom>
          <a:noFill/>
          <a:ln>
            <a:noFill/>
          </a:ln>
        </p:spPr>
        <p:txBody>
          <a:bodyPr wrap="none" lIns="0" tIns="0" rIns="0" bIns="0" anchor="t"/>
          <a:lstStyle/>
          <a:p>
            <a:pPr algn="l">
              <a:lnSpc>
                <a:spcPts val="1969"/>
              </a:lnSpc>
              <a:spcBef>
                <a:spcPts val="0"/>
              </a:spcBef>
              <a:spcAft>
                <a:spcPts val="0"/>
              </a:spcAft>
            </a:pPr>
            <a:r>
              <a:rPr lang="fr-FR" sz="1575" b="0">
                <a:solidFill>
                  <a:srgbClr val="203A32"/>
                </a:solidFill>
                <a:latin typeface="Segoe UI"/>
                <a:ea typeface="Segoe UI"/>
                <a:cs typeface="Tahoma"/>
              </a:rPr>
              <a:t xml:space="preserve">Exports test et relecture des erreurs</a:t>
            </a:r>
            <a:endParaRPr lang="fr-FR" sz="1575"/>
          </a:p>
        </p:txBody>
      </p:sp>
      <p:sp>
        <p:nvSpPr>
          <p:cNvPr id="29" name="rect-29"/>
          <p:cNvSpPr txBox="1"/>
          <p:nvPr/>
        </p:nvSpPr>
        <p:spPr>
          <a:xfrm>
            <a:off x="552450" y="5810250"/>
            <a:ext cx="11087100" cy="542925"/>
          </a:xfrm>
          <a:prstGeom prst="rect">
            <a:avLst/>
          </a:prstGeom>
          <a:solidFill>
            <a:srgbClr val="DDE7D6"/>
          </a:solidFill>
          <a:ln>
            <a:noFill/>
          </a:ln>
        </p:spPr>
      </p:sp>
      <p:sp>
        <p:nvSpPr>
          <p:cNvPr id="30" name="text-30"/>
          <p:cNvSpPr txBox="1"/>
          <p:nvPr/>
        </p:nvSpPr>
        <p:spPr>
          <a:xfrm>
            <a:off x="723900" y="5857875"/>
            <a:ext cx="10715625" cy="476250"/>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285D4B"/>
                </a:solidFill>
                <a:latin typeface="Segoe UI"/>
                <a:ea typeface="Segoe UI"/>
                <a:cs typeface="Tahoma"/>
              </a:rPr>
              <a:t xml:space="preserve">Pas de modification des réglages pour réussir quelques phrases de démonstration. Aucune amélioration n’est garantie avant mesure.</a:t>
            </a:r>
            <a:endParaRPr lang="fr-FR" sz="1350"/>
          </a:p>
        </p:txBody>
      </p:sp>
      <p:cxnSp>
        <p:nvCxnSpPr>
          <p:cNvPr id="31" name="line-31"/>
          <p:cNvCxnSpPr/>
          <p:nvPr/>
        </p:nvCxnSpPr>
        <p:spPr>
          <a:xfrm>
            <a:off x="552450" y="6505575"/>
            <a:ext cx="11087100" cy="0"/>
          </a:xfrm>
          <a:prstGeom prst="line">
            <a:avLst/>
          </a:prstGeom>
          <a:ln w="9525">
            <a:solidFill>
              <a:srgbClr val="D4DBCE"/>
            </a:solidFill>
          </a:ln>
        </p:spPr>
      </p:cxnSp>
      <p:sp>
        <p:nvSpPr>
          <p:cNvPr id="32" name="text-32"/>
          <p:cNvSpPr txBox="1"/>
          <p:nvPr/>
        </p:nvSpPr>
        <p:spPr>
          <a:xfrm>
            <a:off x="552450" y="6572250"/>
            <a:ext cx="8572500" cy="219075"/>
          </a:xfrm>
          <a:prstGeom prst="rect">
            <a:avLst/>
          </a:prstGeom>
          <a:noFill/>
          <a:ln>
            <a:noFill/>
          </a:ln>
        </p:spPr>
        <p:txBody>
          <a:bodyPr wrap="none" lIns="0" tIns="0" rIns="0" bIns="0" anchor="t"/>
          <a:lstStyle/>
          <a:p>
            <a:pPr algn="l">
              <a:lnSpc>
                <a:spcPts val="1125"/>
              </a:lnSpc>
              <a:spcBef>
                <a:spcPts val="0"/>
              </a:spcBef>
              <a:spcAft>
                <a:spcPts val="0"/>
              </a:spcAft>
            </a:pPr>
            <a:r>
              <a:rPr lang="fr-FR" sz="900" b="0">
                <a:solidFill>
                  <a:srgbClr val="64736B"/>
                </a:solidFill>
                <a:latin typeface="Segoe UI"/>
                <a:ea typeface="Segoe UI"/>
                <a:cs typeface="Tahoma"/>
              </a:rPr>
              <a:t xml:space="preserve">LMA3NA · Omar Elkhali · BDIOT</a:t>
            </a:r>
            <a:endParaRPr lang="fr-FR" sz="900"/>
          </a:p>
        </p:txBody>
      </p:sp>
      <p:sp>
        <p:nvSpPr>
          <p:cNvPr id="33" name="text-33"/>
          <p:cNvSpPr txBox="1"/>
          <p:nvPr/>
        </p:nvSpPr>
        <p:spPr>
          <a:xfrm>
            <a:off x="10763250" y="6572250"/>
            <a:ext cx="876300" cy="219075"/>
          </a:xfrm>
          <a:prstGeom prst="rect">
            <a:avLst/>
          </a:prstGeom>
          <a:noFill/>
          <a:ln>
            <a:noFill/>
          </a:ln>
        </p:spPr>
        <p:txBody>
          <a:bodyPr wrap="none" lIns="0" tIns="0" rIns="0" bIns="0" anchor="t"/>
          <a:lstStyle/>
          <a:p>
            <a:pPr algn="r">
              <a:lnSpc>
                <a:spcPts val="1125"/>
              </a:lnSpc>
              <a:spcBef>
                <a:spcPts val="0"/>
              </a:spcBef>
              <a:spcAft>
                <a:spcPts val="0"/>
              </a:spcAft>
            </a:pPr>
            <a:r>
              <a:rPr lang="fr-FR" sz="900" b="0">
                <a:solidFill>
                  <a:srgbClr val="64736B"/>
                </a:solidFill>
                <a:latin typeface="Segoe UI"/>
                <a:ea typeface="Segoe UI"/>
                <a:cs typeface="Tahoma"/>
              </a:rPr>
              <a:t xml:space="preserve">35 / 38</a:t>
            </a:r>
            <a:endParaRPr lang="fr-FR" sz="900"/>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F5F4EE"/>
        </a:solidFill>
        <a:effectLst/>
      </p:bgPr>
    </p:bg>
    <p:spTree>
      <p:nvGrpSpPr>
        <p:cNvPr id="1" name=""/>
        <p:cNvGrpSpPr/>
        <p:nvPr/>
      </p:nvGrpSpPr>
      <p:grpSpPr>
        <a:xfrm>
          <a:off x="0" y="0"/>
          <a:ext cx="0" cy="0"/>
          <a:chOff x="0" y="0"/>
          <a:chExt cx="0" cy="0"/>
        </a:xfrm>
      </p:grpSpPr>
      <p:sp>
        <p:nvSpPr>
          <p:cNvPr id="2" name="rect-2"/>
          <p:cNvSpPr txBox="1"/>
          <p:nvPr/>
        </p:nvSpPr>
        <p:spPr>
          <a:xfrm>
            <a:off x="552450" y="361950"/>
            <a:ext cx="400050" cy="38100"/>
          </a:xfrm>
          <a:prstGeom prst="rect">
            <a:avLst/>
          </a:prstGeom>
          <a:solidFill>
            <a:srgbClr val="E6A477"/>
          </a:solidFill>
          <a:ln>
            <a:noFill/>
          </a:ln>
        </p:spPr>
      </p:sp>
      <p:sp>
        <p:nvSpPr>
          <p:cNvPr id="3" name="text-3"/>
          <p:cNvSpPr txBox="1"/>
          <p:nvPr/>
        </p:nvSpPr>
        <p:spPr>
          <a:xfrm>
            <a:off x="1066800" y="276225"/>
            <a:ext cx="10287000" cy="266700"/>
          </a:xfrm>
          <a:prstGeom prst="rect">
            <a:avLst/>
          </a:prstGeom>
          <a:noFill/>
          <a:ln>
            <a:noFill/>
          </a:ln>
        </p:spPr>
        <p:txBody>
          <a:bodyPr wrap="none" lIns="0" tIns="0" rIns="0" bIns="0" anchor="t"/>
          <a:lstStyle/>
          <a:p>
            <a:pPr algn="l">
              <a:lnSpc>
                <a:spcPts val="1406"/>
              </a:lnSpc>
              <a:spcBef>
                <a:spcPts val="0"/>
              </a:spcBef>
              <a:spcAft>
                <a:spcPts val="0"/>
              </a:spcAft>
            </a:pPr>
            <a:r>
              <a:rPr lang="fr-FR" sz="1125" b="1">
                <a:solidFill>
                  <a:srgbClr val="285D4B"/>
                </a:solidFill>
                <a:latin typeface="Segoe UI"/>
                <a:ea typeface="Segoe UI"/>
                <a:cs typeface="Tahoma"/>
              </a:rPr>
              <a:t xml:space="preserve">09 · BILAN</a:t>
            </a:r>
            <a:endParaRPr lang="fr-FR" sz="1125"/>
          </a:p>
        </p:txBody>
      </p:sp>
      <p:sp>
        <p:nvSpPr>
          <p:cNvPr id="4" name="text-4"/>
          <p:cNvSpPr txBox="1"/>
          <p:nvPr/>
        </p:nvSpPr>
        <p:spPr>
          <a:xfrm>
            <a:off x="552450" y="790575"/>
            <a:ext cx="11087100" cy="1066800"/>
          </a:xfrm>
          <a:prstGeom prst="rect">
            <a:avLst/>
          </a:prstGeom>
          <a:noFill/>
          <a:ln>
            <a:noFill/>
          </a:ln>
        </p:spPr>
        <p:txBody>
          <a:bodyPr wrap="none" lIns="0" tIns="0" rIns="0" bIns="0" anchor="t"/>
          <a:lstStyle/>
          <a:p>
            <a:pPr algn="l">
              <a:lnSpc>
                <a:spcPts val="4031"/>
              </a:lnSpc>
              <a:spcBef>
                <a:spcPts val="0"/>
              </a:spcBef>
              <a:spcAft>
                <a:spcPts val="0"/>
              </a:spcAft>
            </a:pPr>
            <a:r>
              <a:rPr lang="fr-FR" sz="3225" b="1">
                <a:solidFill>
                  <a:srgbClr val="203A32"/>
                </a:solidFill>
                <a:latin typeface="Segoe UI"/>
                <a:ea typeface="Segoe UI"/>
                <a:cs typeface="Tahoma"/>
              </a:rPr>
              <a:t xml:space="preserve">La reproductibilité dépend aussi des artefacts conservés</a:t>
            </a:r>
            <a:endParaRPr lang="fr-FR" sz="3225"/>
          </a:p>
        </p:txBody>
      </p:sp>
      <p:sp>
        <p:nvSpPr>
          <p:cNvPr id="5" name="text-5"/>
          <p:cNvSpPr txBox="1"/>
          <p:nvPr/>
        </p:nvSpPr>
        <p:spPr>
          <a:xfrm>
            <a:off x="552450" y="2095500"/>
            <a:ext cx="3238500" cy="685800"/>
          </a:xfrm>
          <a:prstGeom prst="rect">
            <a:avLst/>
          </a:prstGeom>
          <a:noFill/>
          <a:ln>
            <a:noFill/>
          </a:ln>
        </p:spPr>
        <p:txBody>
          <a:bodyPr wrap="none" lIns="0" tIns="0" rIns="0" bIns="0" anchor="t"/>
          <a:lstStyle/>
          <a:p>
            <a:pPr algn="l">
              <a:lnSpc>
                <a:spcPts val="2719"/>
              </a:lnSpc>
              <a:spcBef>
                <a:spcPts val="0"/>
              </a:spcBef>
              <a:spcAft>
                <a:spcPts val="0"/>
              </a:spcAft>
            </a:pPr>
            <a:r>
              <a:rPr lang="fr-FR" sz="2175" b="1">
                <a:solidFill>
                  <a:srgbClr val="285D4B"/>
                </a:solidFill>
                <a:latin typeface="Segoe UI"/>
                <a:ea typeface="Segoe UI"/>
                <a:cs typeface="Tahoma"/>
              </a:rPr>
              <a:t xml:space="preserve">Disponible</a:t>
            </a:r>
            <a:endParaRPr lang="fr-FR" sz="2175"/>
          </a:p>
        </p:txBody>
      </p:sp>
      <p:sp>
        <p:nvSpPr>
          <p:cNvPr id="6" name="text-6"/>
          <p:cNvSpPr txBox="1"/>
          <p:nvPr/>
        </p:nvSpPr>
        <p:spPr>
          <a:xfrm>
            <a:off x="552450" y="2886075"/>
            <a:ext cx="3238500" cy="2286000"/>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64736B"/>
                </a:solidFill>
                <a:latin typeface="Segoe UI"/>
                <a:ea typeface="Segoe UI"/>
                <a:cs typeface="Tahoma"/>
              </a:rPr>
              <a:t xml:space="preserve">Code et notebooks</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Tableaux T4 exportés</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Figures historiques</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Registre et checkpoints CPU</a:t>
            </a:r>
            <a:endParaRPr lang="fr-FR" sz="1725"/>
          </a:p>
        </p:txBody>
      </p:sp>
      <p:sp>
        <p:nvSpPr>
          <p:cNvPr id="7" name="text-7"/>
          <p:cNvSpPr txBox="1"/>
          <p:nvPr/>
        </p:nvSpPr>
        <p:spPr>
          <a:xfrm>
            <a:off x="4333875" y="2095500"/>
            <a:ext cx="3238500" cy="685800"/>
          </a:xfrm>
          <a:prstGeom prst="rect">
            <a:avLst/>
          </a:prstGeom>
          <a:noFill/>
          <a:ln>
            <a:noFill/>
          </a:ln>
        </p:spPr>
        <p:txBody>
          <a:bodyPr wrap="none" lIns="0" tIns="0" rIns="0" bIns="0" anchor="t"/>
          <a:lstStyle/>
          <a:p>
            <a:pPr algn="l">
              <a:lnSpc>
                <a:spcPts val="2719"/>
              </a:lnSpc>
              <a:spcBef>
                <a:spcPts val="0"/>
              </a:spcBef>
              <a:spcAft>
                <a:spcPts val="0"/>
              </a:spcAft>
            </a:pPr>
            <a:r>
              <a:rPr lang="fr-FR" sz="2175" b="1">
                <a:solidFill>
                  <a:srgbClr val="285D4B"/>
                </a:solidFill>
                <a:latin typeface="Segoe UI"/>
                <a:ea typeface="Segoe UI"/>
                <a:cs typeface="Tahoma"/>
              </a:rPr>
              <a:t xml:space="preserve">À compléter</a:t>
            </a:r>
            <a:endParaRPr lang="fr-FR" sz="2175"/>
          </a:p>
        </p:txBody>
      </p:sp>
      <p:sp>
        <p:nvSpPr>
          <p:cNvPr id="8" name="text-8"/>
          <p:cNvSpPr txBox="1"/>
          <p:nvPr/>
        </p:nvSpPr>
        <p:spPr>
          <a:xfrm>
            <a:off x="4333875" y="2886075"/>
            <a:ext cx="3238500" cy="2286000"/>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64736B"/>
                </a:solidFill>
                <a:latin typeface="Segoe UI"/>
                <a:ea typeface="Segoe UI"/>
                <a:cs typeface="Tahoma"/>
              </a:rPr>
              <a:t xml:space="preserve">17 CSV individuels test</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Poids T4 nécessaires au service</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Relecture des 30 erreurs</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Résultats R-Drop exécutés</a:t>
            </a:r>
            <a:endParaRPr lang="fr-FR" sz="1725"/>
          </a:p>
        </p:txBody>
      </p:sp>
      <p:sp>
        <p:nvSpPr>
          <p:cNvPr id="9" name="text-9"/>
          <p:cNvSpPr txBox="1"/>
          <p:nvPr/>
        </p:nvSpPr>
        <p:spPr>
          <a:xfrm>
            <a:off x="8115300" y="2095500"/>
            <a:ext cx="3238500" cy="685800"/>
          </a:xfrm>
          <a:prstGeom prst="rect">
            <a:avLst/>
          </a:prstGeom>
          <a:noFill/>
          <a:ln>
            <a:noFill/>
          </a:ln>
        </p:spPr>
        <p:txBody>
          <a:bodyPr wrap="none" lIns="0" tIns="0" rIns="0" bIns="0" anchor="t"/>
          <a:lstStyle/>
          <a:p>
            <a:pPr algn="l">
              <a:lnSpc>
                <a:spcPts val="2719"/>
              </a:lnSpc>
              <a:spcBef>
                <a:spcPts val="0"/>
              </a:spcBef>
              <a:spcAft>
                <a:spcPts val="0"/>
              </a:spcAft>
            </a:pPr>
            <a:r>
              <a:rPr lang="fr-FR" sz="2175" b="1">
                <a:solidFill>
                  <a:srgbClr val="285D4B"/>
                </a:solidFill>
                <a:latin typeface="Segoe UI"/>
                <a:ea typeface="Segoe UI"/>
                <a:cs typeface="Tahoma"/>
              </a:rPr>
              <a:t xml:space="preserve">Séparations explicites</a:t>
            </a:r>
            <a:endParaRPr lang="fr-FR" sz="2175"/>
          </a:p>
        </p:txBody>
      </p:sp>
      <p:sp>
        <p:nvSpPr>
          <p:cNvPr id="10" name="text-10"/>
          <p:cNvSpPr txBox="1"/>
          <p:nvPr/>
        </p:nvSpPr>
        <p:spPr>
          <a:xfrm>
            <a:off x="8115300" y="2886075"/>
            <a:ext cx="3238500" cy="2286000"/>
          </a:xfrm>
          <a:prstGeom prst="rect">
            <a:avLst/>
          </a:prstGeom>
          <a:noFill/>
          <a:ln>
            <a:noFill/>
          </a:ln>
        </p:spPr>
        <p:txBody>
          <a:bodyPr wrap="none" lIns="0" tIns="0" rIns="0" bIns="0" anchor="t"/>
          <a:lstStyle/>
          <a:p>
            <a:pPr algn="l">
              <a:lnSpc>
                <a:spcPts val="2156"/>
              </a:lnSpc>
              <a:spcBef>
                <a:spcPts val="0"/>
              </a:spcBef>
              <a:spcAft>
                <a:spcPts val="0"/>
              </a:spcAft>
            </a:pPr>
            <a:r>
              <a:rPr lang="fr-FR" sz="1725" b="0">
                <a:solidFill>
                  <a:srgbClr val="64736B"/>
                </a:solidFill>
                <a:latin typeface="Segoe UI"/>
                <a:ea typeface="Segoe UI"/>
                <a:cs typeface="Tahoma"/>
              </a:rPr>
              <a:t xml:space="preserve">CPU / T4</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Validation / test</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Agrégats / prédictions</a:t>
            </a:r>
            <a:endParaRPr lang="fr-FR" sz="1725"/>
          </a:p>
          <a:p>
            <a:pPr algn="l">
              <a:lnSpc>
                <a:spcPts val="2156"/>
              </a:lnSpc>
              <a:spcBef>
                <a:spcPts val="0"/>
              </a:spcBef>
              <a:spcAft>
                <a:spcPts val="0"/>
              </a:spcAft>
            </a:pPr>
            <a:r>
              <a:rPr lang="fr-FR" sz="1725" b="0">
                <a:solidFill>
                  <a:srgbClr val="64736B"/>
                </a:solidFill>
                <a:latin typeface="Segoe UI"/>
                <a:ea typeface="Segoe UI"/>
                <a:cs typeface="Tahoma"/>
              </a:rPr>
              <a:t xml:space="preserve">Exécuté / seulement ajouté</a:t>
            </a:r>
            <a:endParaRPr lang="fr-FR" sz="1725"/>
          </a:p>
        </p:txBody>
      </p:sp>
      <p:sp>
        <p:nvSpPr>
          <p:cNvPr id="11" name="rect-11"/>
          <p:cNvSpPr txBox="1"/>
          <p:nvPr/>
        </p:nvSpPr>
        <p:spPr>
          <a:xfrm>
            <a:off x="552450" y="5810250"/>
            <a:ext cx="11087100" cy="542925"/>
          </a:xfrm>
          <a:prstGeom prst="rect">
            <a:avLst/>
          </a:prstGeom>
          <a:solidFill>
            <a:srgbClr val="DDE7D6"/>
          </a:solidFill>
          <a:ln>
            <a:noFill/>
          </a:ln>
        </p:spPr>
      </p:sp>
      <p:sp>
        <p:nvSpPr>
          <p:cNvPr id="12" name="text-12"/>
          <p:cNvSpPr txBox="1"/>
          <p:nvPr/>
        </p:nvSpPr>
        <p:spPr>
          <a:xfrm>
            <a:off x="723900" y="5857875"/>
            <a:ext cx="10715625" cy="476250"/>
          </a:xfrm>
          <a:prstGeom prst="rect">
            <a:avLst/>
          </a:prstGeom>
          <a:noFill/>
          <a:ln>
            <a:noFill/>
          </a:ln>
        </p:spPr>
        <p:txBody>
          <a:bodyPr wrap="none" lIns="0" tIns="0" rIns="0" bIns="0" anchor="t"/>
          <a:lstStyle/>
          <a:p>
            <a:pPr algn="l">
              <a:lnSpc>
                <a:spcPts val="1688"/>
              </a:lnSpc>
              <a:spcBef>
                <a:spcPts val="0"/>
              </a:spcBef>
              <a:spcAft>
                <a:spcPts val="0"/>
              </a:spcAft>
            </a:pPr>
            <a:r>
              <a:rPr lang="fr-FR" sz="1350" b="0">
                <a:solidFill>
                  <a:srgbClr val="285D4B"/>
                </a:solidFill>
                <a:latin typeface="Segoe UI"/>
                <a:ea typeface="Segoe UI"/>
                <a:cs typeface="Tahoma"/>
              </a:rPr>
              <a:t xml:space="preserve">Le dépôt public permet de consulter le projet : github.com/OmarElkhali/TP2-ArSarcasm-v2</a:t>
            </a:r>
            <a:endParaRPr lang="fr-FR" sz="1350"/>
          </a:p>
        </p:txBody>
      </p:sp>
      <p:cxnSp>
        <p:nvCxnSpPr>
          <p:cNvPr id="13" name="line-13"/>
          <p:cNvCxnSpPr/>
          <p:nvPr/>
        </p:nvCxnSpPr>
        <p:spPr>
          <a:xfrm>
            <a:off x="552450" y="6505575"/>
            <a:ext cx="11087100" cy="0"/>
          </a:xfrm>
          <a:prstGeom prst="line">
            <a:avLst/>
          </a:prstGeom>
          <a:ln w="9525">
            <a:solidFill>
              <a:srgbClr val="D4DBCE"/>
            </a:solidFill>
          </a:ln>
        </p:spPr>
      </p:cxnSp>
      <p:sp>
        <p:nvSpPr>
          <p:cNvPr id="14" name="text-14"/>
          <p:cNvSpPr txBox="1"/>
          <p:nvPr/>
        </p:nvSpPr>
        <p:spPr>
          <a:xfrm>
            <a:off x="552450" y="6572250"/>
            <a:ext cx="8572500" cy="219075"/>
          </a:xfrm>
          <a:prstGeom prst="rect">
            <a:avLst/>
          </a:prstGeom>
          <a:noFill/>
          <a:ln>
            <a:noFill/>
          </a:ln>
        </p:spPr>
        <p:txBody>
          <a:bodyPr wrap="none" lIns="0" tIns="0" rIns="0" bIns="0" anchor="t"/>
          <a:lstStyle/>
          <a:p>
            <a:pPr algn="l">
              <a:lnSpc>
                <a:spcPts val="1125"/>
              </a:lnSpc>
              <a:spcBef>
                <a:spcPts val="0"/>
              </a:spcBef>
              <a:spcAft>
                <a:spcPts val="0"/>
              </a:spcAft>
            </a:pPr>
            <a:r>
              <a:rPr lang="fr-FR" sz="900" b="0">
                <a:solidFill>
                  <a:srgbClr val="64736B"/>
                </a:solidFill>
                <a:latin typeface="Segoe UI"/>
                <a:ea typeface="Segoe UI"/>
                <a:cs typeface="Tahoma"/>
              </a:rPr>
              <a:t xml:space="preserve">LMA3NA · Omar Elkhali · BDIOT</a:t>
            </a:r>
            <a:endParaRPr lang="fr-FR" sz="900"/>
          </a:p>
        </p:txBody>
      </p:sp>
      <p:sp>
        <p:nvSpPr>
          <p:cNvPr id="15" name="text-15"/>
          <p:cNvSpPr txBox="1"/>
          <p:nvPr/>
        </p:nvSpPr>
        <p:spPr>
          <a:xfrm>
            <a:off x="10763250" y="6572250"/>
            <a:ext cx="876300" cy="219075"/>
          </a:xfrm>
          <a:prstGeom prst="rect">
            <a:avLst/>
          </a:prstGeom>
          <a:noFill/>
          <a:ln>
            <a:noFill/>
          </a:ln>
        </p:spPr>
        <p:txBody>
          <a:bodyPr wrap="none" lIns="0" tIns="0" rIns="0" bIns="0" anchor="t"/>
          <a:lstStyle/>
          <a:p>
            <a:pPr algn="r">
              <a:lnSpc>
                <a:spcPts val="1125"/>
              </a:lnSpc>
              <a:spcBef>
                <a:spcPts val="0"/>
              </a:spcBef>
              <a:spcAft>
                <a:spcPts val="0"/>
              </a:spcAft>
            </a:pPr>
            <a:r>
              <a:rPr lang="fr-FR" sz="900" b="0">
                <a:solidFill>
                  <a:srgbClr val="64736B"/>
                </a:solidFill>
                <a:latin typeface="Segoe UI"/>
                <a:ea typeface="Segoe UI"/>
                <a:cs typeface="Tahoma"/>
              </a:rPr>
              <a:t xml:space="preserve">36 / 38</a:t>
            </a:r>
            <a:endParaRPr lang="fr-FR" sz="900"/>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172E2B"/>
        </a:solidFill>
        <a:effectLst/>
      </p:bgPr>
    </p:bg>
    <p:spTree>
      <p:nvGrpSpPr>
        <p:cNvPr id="1" name=""/>
        <p:cNvGrpSpPr/>
        <p:nvPr/>
      </p:nvGrpSpPr>
      <p:grpSpPr>
        <a:xfrm>
          <a:off x="0" y="0"/>
          <a:ext cx="0" cy="0"/>
          <a:chOff x="0" y="0"/>
          <a:chExt cx="0" cy="0"/>
        </a:xfrm>
      </p:grpSpPr>
      <p:sp>
        <p:nvSpPr>
          <p:cNvPr id="2" name="text-2"/>
          <p:cNvSpPr txBox="1"/>
          <p:nvPr/>
        </p:nvSpPr>
        <p:spPr>
          <a:xfrm>
            <a:off x="619125" y="619125"/>
            <a:ext cx="10858500" cy="857250"/>
          </a:xfrm>
          <a:prstGeom prst="rect">
            <a:avLst/>
          </a:prstGeom>
          <a:noFill/>
          <a:ln>
            <a:noFill/>
          </a:ln>
        </p:spPr>
        <p:txBody>
          <a:bodyPr wrap="none" lIns="0" tIns="0" rIns="0" bIns="0" anchor="t"/>
          <a:lstStyle/>
          <a:p>
            <a:pPr algn="l">
              <a:lnSpc>
                <a:spcPts val="5156"/>
              </a:lnSpc>
              <a:spcBef>
                <a:spcPts val="0"/>
              </a:spcBef>
              <a:spcAft>
                <a:spcPts val="0"/>
              </a:spcAft>
            </a:pPr>
            <a:r>
              <a:rPr lang="fr-FR" sz="4125" b="1">
                <a:solidFill>
                  <a:srgbClr val="FFFFFF"/>
                </a:solidFill>
                <a:latin typeface="Segoe UI"/>
                <a:ea typeface="Segoe UI"/>
                <a:cs typeface="Tahoma"/>
              </a:rPr>
              <a:t xml:space="preserve">Bilan du projet</a:t>
            </a:r>
            <a:endParaRPr lang="fr-FR" sz="4125"/>
          </a:p>
        </p:txBody>
      </p:sp>
      <p:sp>
        <p:nvSpPr>
          <p:cNvPr id="3" name="text-3"/>
          <p:cNvSpPr txBox="1"/>
          <p:nvPr/>
        </p:nvSpPr>
        <p:spPr>
          <a:xfrm>
            <a:off x="619125" y="2047875"/>
            <a:ext cx="5715000" cy="1238250"/>
          </a:xfrm>
          <a:prstGeom prst="rect">
            <a:avLst/>
          </a:prstGeom>
          <a:noFill/>
          <a:ln>
            <a:noFill/>
          </a:ln>
        </p:spPr>
        <p:txBody>
          <a:bodyPr wrap="none" lIns="0" tIns="0" rIns="0" bIns="0" anchor="t"/>
          <a:lstStyle/>
          <a:p>
            <a:pPr algn="l">
              <a:lnSpc>
                <a:spcPts val="8812"/>
              </a:lnSpc>
              <a:spcBef>
                <a:spcPts val="0"/>
              </a:spcBef>
              <a:spcAft>
                <a:spcPts val="0"/>
              </a:spcAft>
            </a:pPr>
            <a:r>
              <a:rPr lang="fr-FR" sz="7050" b="1">
                <a:solidFill>
                  <a:srgbClr val="E6A477"/>
                </a:solidFill>
                <a:latin typeface="Segoe UI"/>
                <a:ea typeface="Segoe UI"/>
                <a:cs typeface="Tahoma"/>
              </a:rPr>
              <a:t xml:space="preserve">0,6096</a:t>
            </a:r>
            <a:endParaRPr lang="fr-FR" sz="7050"/>
          </a:p>
        </p:txBody>
      </p:sp>
      <p:sp>
        <p:nvSpPr>
          <p:cNvPr id="4" name="text-4"/>
          <p:cNvSpPr txBox="1"/>
          <p:nvPr/>
        </p:nvSpPr>
        <p:spPr>
          <a:xfrm>
            <a:off x="666750" y="3333750"/>
            <a:ext cx="6667500" cy="952500"/>
          </a:xfrm>
          <a:prstGeom prst="rect">
            <a:avLst/>
          </a:prstGeom>
          <a:noFill/>
          <a:ln>
            <a:noFill/>
          </a:ln>
        </p:spPr>
        <p:txBody>
          <a:bodyPr wrap="none" lIns="0" tIns="0" rIns="0" bIns="0" anchor="t"/>
          <a:lstStyle/>
          <a:p>
            <a:pPr algn="l">
              <a:lnSpc>
                <a:spcPts val="2812"/>
              </a:lnSpc>
              <a:spcBef>
                <a:spcPts val="0"/>
              </a:spcBef>
              <a:spcAft>
                <a:spcPts val="0"/>
              </a:spcAft>
            </a:pPr>
            <a:r>
              <a:rPr lang="fr-FR" sz="2250" b="0">
                <a:solidFill>
                  <a:srgbClr val="FFFFFF"/>
                </a:solidFill>
                <a:latin typeface="Segoe UI"/>
                <a:ea typeface="Segoe UI"/>
                <a:cs typeface="Tahoma"/>
              </a:rPr>
              <a:t xml:space="preserve">Meilleur F1 test moyen enregistré</a:t>
            </a:r>
            <a:endParaRPr lang="fr-FR" sz="2250"/>
          </a:p>
          <a:p>
            <a:pPr algn="l">
              <a:lnSpc>
                <a:spcPts val="2812"/>
              </a:lnSpc>
              <a:spcBef>
                <a:spcPts val="0"/>
              </a:spcBef>
              <a:spcAft>
                <a:spcPts val="0"/>
              </a:spcAft>
            </a:pPr>
            <a:r>
              <a:rPr lang="fr-FR" sz="2250" b="0">
                <a:solidFill>
                  <a:srgbClr val="FFFFFF"/>
                </a:solidFill>
                <a:latin typeface="Segoe UI"/>
                <a:ea typeface="Segoe UI"/>
                <a:cs typeface="Tahoma"/>
              </a:rPr>
              <a:t xml:space="preserve">E2 AraBERT, λ = 0,3</a:t>
            </a:r>
            <a:endParaRPr lang="fr-FR" sz="2250"/>
          </a:p>
        </p:txBody>
      </p:sp>
      <p:sp>
        <p:nvSpPr>
          <p:cNvPr id="5" name="text-5"/>
          <p:cNvSpPr txBox="1"/>
          <p:nvPr/>
        </p:nvSpPr>
        <p:spPr>
          <a:xfrm>
            <a:off x="666750" y="4762500"/>
            <a:ext cx="10668000" cy="1304925"/>
          </a:xfrm>
          <a:prstGeom prst="rect">
            <a:avLst/>
          </a:prstGeom>
          <a:noFill/>
          <a:ln>
            <a:noFill/>
          </a:ln>
        </p:spPr>
        <p:txBody>
          <a:bodyPr wrap="none" lIns="0" tIns="0" rIns="0" bIns="0" anchor="t"/>
          <a:lstStyle/>
          <a:p>
            <a:pPr algn="l">
              <a:lnSpc>
                <a:spcPts val="2531"/>
              </a:lnSpc>
              <a:spcBef>
                <a:spcPts val="0"/>
              </a:spcBef>
              <a:spcAft>
                <a:spcPts val="0"/>
              </a:spcAft>
            </a:pPr>
            <a:r>
              <a:rPr lang="fr-FR" sz="2025" b="0">
                <a:solidFill>
                  <a:srgbClr val="BCCEBE"/>
                </a:solidFill>
                <a:latin typeface="Segoe UI"/>
                <a:ea typeface="Segoe UI"/>
                <a:cs typeface="Tahoma"/>
              </a:rPr>
              <a:t xml:space="preserve">Les expériences couvrent les familles A–G.</a:t>
            </a:r>
            <a:endParaRPr lang="fr-FR" sz="2025"/>
          </a:p>
          <a:p>
            <a:pPr algn="l">
              <a:lnSpc>
                <a:spcPts val="2531"/>
              </a:lnSpc>
              <a:spcBef>
                <a:spcPts val="0"/>
              </a:spcBef>
              <a:spcAft>
                <a:spcPts val="0"/>
              </a:spcAft>
            </a:pPr>
            <a:r>
              <a:rPr lang="fr-FR" sz="2025" b="0">
                <a:solidFill>
                  <a:srgbClr val="BCCEBE"/>
                </a:solidFill>
                <a:latin typeface="Segoe UI"/>
                <a:ea typeface="Segoe UI"/>
                <a:cs typeface="Tahoma"/>
              </a:rPr>
              <a:t xml:space="preserve">Les essais réels montrent encore des sarcasmes manqués.</a:t>
            </a:r>
            <a:endParaRPr lang="fr-FR" sz="2025"/>
          </a:p>
          <a:p>
            <a:pPr algn="l">
              <a:lnSpc>
                <a:spcPts val="2531"/>
              </a:lnSpc>
              <a:spcBef>
                <a:spcPts val="0"/>
              </a:spcBef>
              <a:spcAft>
                <a:spcPts val="0"/>
              </a:spcAft>
            </a:pPr>
            <a:r>
              <a:rPr lang="fr-FR" sz="2025" b="0">
                <a:solidFill>
                  <a:srgbClr val="BCCEBE"/>
                </a:solidFill>
                <a:latin typeface="Segoe UI"/>
                <a:ea typeface="Segoe UI"/>
                <a:cs typeface="Tahoma"/>
              </a:rPr>
              <a:t xml:space="preserve">R-Drop fournit une prochaine comparaison mesurable.</a:t>
            </a:r>
            <a:endParaRPr lang="fr-FR" sz="2025"/>
          </a:p>
        </p:txBody>
      </p:sp>
      <p:cxnSp>
        <p:nvCxnSpPr>
          <p:cNvPr id="6" name="line-6"/>
          <p:cNvCxnSpPr/>
          <p:nvPr/>
        </p:nvCxnSpPr>
        <p:spPr>
          <a:xfrm>
            <a:off x="552450" y="6505575"/>
            <a:ext cx="11087100" cy="0"/>
          </a:xfrm>
          <a:prstGeom prst="line">
            <a:avLst/>
          </a:prstGeom>
          <a:ln w="9525">
            <a:solidFill>
              <a:srgbClr val="4A6658"/>
            </a:solidFill>
          </a:ln>
        </p:spPr>
      </p:cxnSp>
      <p:sp>
        <p:nvSpPr>
          <p:cNvPr id="7" name="text-7"/>
          <p:cNvSpPr txBox="1"/>
          <p:nvPr/>
        </p:nvSpPr>
        <p:spPr>
          <a:xfrm>
            <a:off x="552450" y="6572250"/>
            <a:ext cx="8572500" cy="219075"/>
          </a:xfrm>
          <a:prstGeom prst="rect">
            <a:avLst/>
          </a:prstGeom>
          <a:noFill/>
          <a:ln>
            <a:noFill/>
          </a:ln>
        </p:spPr>
        <p:txBody>
          <a:bodyPr wrap="none" lIns="0" tIns="0" rIns="0" bIns="0" anchor="t"/>
          <a:lstStyle/>
          <a:p>
            <a:pPr algn="l">
              <a:lnSpc>
                <a:spcPts val="1125"/>
              </a:lnSpc>
              <a:spcBef>
                <a:spcPts val="0"/>
              </a:spcBef>
              <a:spcAft>
                <a:spcPts val="0"/>
              </a:spcAft>
            </a:pPr>
            <a:r>
              <a:rPr lang="fr-FR" sz="900" b="0">
                <a:solidFill>
                  <a:srgbClr val="BCCEBE"/>
                </a:solidFill>
                <a:latin typeface="Segoe UI"/>
                <a:ea typeface="Segoe UI"/>
                <a:cs typeface="Tahoma"/>
              </a:rPr>
              <a:t xml:space="preserve">LMA3NA · Omar Elkhali · BDIOT</a:t>
            </a:r>
            <a:endParaRPr lang="fr-FR" sz="900"/>
          </a:p>
        </p:txBody>
      </p:sp>
      <p:sp>
        <p:nvSpPr>
          <p:cNvPr id="8" name="text-8"/>
          <p:cNvSpPr txBox="1"/>
          <p:nvPr/>
        </p:nvSpPr>
        <p:spPr>
          <a:xfrm>
            <a:off x="10763250" y="6572250"/>
            <a:ext cx="876300" cy="219075"/>
          </a:xfrm>
          <a:prstGeom prst="rect">
            <a:avLst/>
          </a:prstGeom>
          <a:noFill/>
          <a:ln>
            <a:noFill/>
          </a:ln>
        </p:spPr>
        <p:txBody>
          <a:bodyPr wrap="none" lIns="0" tIns="0" rIns="0" bIns="0" anchor="t"/>
          <a:lstStyle/>
          <a:p>
            <a:pPr algn="r">
              <a:lnSpc>
                <a:spcPts val="1125"/>
              </a:lnSpc>
              <a:spcBef>
                <a:spcPts val="0"/>
              </a:spcBef>
              <a:spcAft>
                <a:spcPts val="0"/>
              </a:spcAft>
            </a:pPr>
            <a:r>
              <a:rPr lang="fr-FR" sz="900" b="0">
                <a:solidFill>
                  <a:srgbClr val="BCCEBE"/>
                </a:solidFill>
                <a:latin typeface="Segoe UI"/>
                <a:ea typeface="Segoe UI"/>
                <a:cs typeface="Tahoma"/>
              </a:rPr>
              <a:t xml:space="preserve">37 / 38</a:t>
            </a:r>
            <a:endParaRPr lang="fr-FR" sz="900"/>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F5F4EE"/>
        </a:solidFill>
        <a:effectLst/>
      </p:bgPr>
    </p:bg>
    <p:spTree>
      <p:nvGrpSpPr>
        <p:cNvPr id="1" name=""/>
        <p:cNvGrpSpPr/>
        <p:nvPr/>
      </p:nvGrpSpPr>
      <p:grpSpPr>
        <a:xfrm>
          <a:off x="0" y="0"/>
          <a:ext cx="0" cy="0"/>
          <a:chOff x="0" y="0"/>
          <a:chExt cx="0" cy="0"/>
        </a:xfrm>
      </p:grpSpPr>
      <p:sp>
        <p:nvSpPr>
          <p:cNvPr id="2" name="rect-2"/>
          <p:cNvSpPr txBox="1"/>
          <p:nvPr/>
        </p:nvSpPr>
        <p:spPr>
          <a:xfrm>
            <a:off x="552450" y="361950"/>
            <a:ext cx="400050" cy="38100"/>
          </a:xfrm>
          <a:prstGeom prst="rect">
            <a:avLst/>
          </a:prstGeom>
          <a:solidFill>
            <a:srgbClr val="E6A477"/>
          </a:solidFill>
          <a:ln>
            <a:noFill/>
          </a:ln>
        </p:spPr>
      </p:sp>
      <p:sp>
        <p:nvSpPr>
          <p:cNvPr id="3" name="text-3"/>
          <p:cNvSpPr txBox="1"/>
          <p:nvPr/>
        </p:nvSpPr>
        <p:spPr>
          <a:xfrm>
            <a:off x="1066800" y="276225"/>
            <a:ext cx="10287000" cy="266700"/>
          </a:xfrm>
          <a:prstGeom prst="rect">
            <a:avLst/>
          </a:prstGeom>
          <a:noFill/>
          <a:ln>
            <a:noFill/>
          </a:ln>
        </p:spPr>
        <p:txBody>
          <a:bodyPr wrap="none" lIns="0" tIns="0" rIns="0" bIns="0" anchor="t"/>
          <a:lstStyle/>
          <a:p>
            <a:pPr algn="l">
              <a:lnSpc>
                <a:spcPts val="1406"/>
              </a:lnSpc>
              <a:spcBef>
                <a:spcPts val="0"/>
              </a:spcBef>
              <a:spcAft>
                <a:spcPts val="0"/>
              </a:spcAft>
            </a:pPr>
            <a:r>
              <a:rPr lang="fr-FR" sz="1125" b="1">
                <a:solidFill>
                  <a:srgbClr val="285D4B"/>
                </a:solidFill>
                <a:latin typeface="Segoe UI"/>
                <a:ea typeface="Segoe UI"/>
                <a:cs typeface="Tahoma"/>
              </a:rPr>
              <a:t xml:space="preserve">ANNEXE · RÉFÉRENCES</a:t>
            </a:r>
            <a:endParaRPr lang="fr-FR" sz="1125"/>
          </a:p>
        </p:txBody>
      </p:sp>
      <p:sp>
        <p:nvSpPr>
          <p:cNvPr id="4" name="text-4"/>
          <p:cNvSpPr txBox="1"/>
          <p:nvPr/>
        </p:nvSpPr>
        <p:spPr>
          <a:xfrm>
            <a:off x="552450" y="790575"/>
            <a:ext cx="11087100" cy="1066800"/>
          </a:xfrm>
          <a:prstGeom prst="rect">
            <a:avLst/>
          </a:prstGeom>
          <a:noFill/>
          <a:ln>
            <a:noFill/>
          </a:ln>
        </p:spPr>
        <p:txBody>
          <a:bodyPr wrap="none" lIns="0" tIns="0" rIns="0" bIns="0" anchor="t"/>
          <a:lstStyle/>
          <a:p>
            <a:pPr algn="l">
              <a:lnSpc>
                <a:spcPts val="4031"/>
              </a:lnSpc>
              <a:spcBef>
                <a:spcPts val="0"/>
              </a:spcBef>
              <a:spcAft>
                <a:spcPts val="0"/>
              </a:spcAft>
            </a:pPr>
            <a:r>
              <a:rPr lang="fr-FR" sz="3225" b="1">
                <a:solidFill>
                  <a:srgbClr val="203A32"/>
                </a:solidFill>
                <a:latin typeface="Segoe UI"/>
                <a:ea typeface="Segoe UI"/>
                <a:cs typeface="Tahoma"/>
              </a:rPr>
              <a:t xml:space="preserve">Sources scientifiques et preuves du projet</a:t>
            </a:r>
            <a:endParaRPr lang="fr-FR" sz="3225"/>
          </a:p>
        </p:txBody>
      </p:sp>
      <p:sp>
        <p:nvSpPr>
          <p:cNvPr id="5" name="text-5"/>
          <p:cNvSpPr txBox="1"/>
          <p:nvPr/>
        </p:nvSpPr>
        <p:spPr>
          <a:xfrm>
            <a:off x="552450" y="1952625"/>
            <a:ext cx="2857500" cy="428625"/>
          </a:xfrm>
          <a:prstGeom prst="rect">
            <a:avLst/>
          </a:prstGeom>
          <a:noFill/>
          <a:ln>
            <a:noFill/>
          </a:ln>
        </p:spPr>
        <p:txBody>
          <a:bodyPr wrap="none" lIns="0" tIns="0" rIns="0" bIns="0" anchor="t"/>
          <a:lstStyle/>
          <a:p>
            <a:pPr algn="l">
              <a:lnSpc>
                <a:spcPts val="2438"/>
              </a:lnSpc>
              <a:spcBef>
                <a:spcPts val="0"/>
              </a:spcBef>
              <a:spcAft>
                <a:spcPts val="0"/>
              </a:spcAft>
            </a:pPr>
            <a:r>
              <a:rPr lang="fr-FR" sz="1950" b="1">
                <a:solidFill>
                  <a:srgbClr val="285D4B"/>
                </a:solidFill>
                <a:latin typeface="Segoe UI"/>
                <a:ea typeface="Segoe UI"/>
                <a:cs typeface="Tahoma"/>
              </a:rPr>
              <a:t xml:space="preserve">ArSarcasm-v2</a:t>
            </a:r>
            <a:endParaRPr lang="fr-FR" sz="1950"/>
          </a:p>
        </p:txBody>
      </p:sp>
      <p:sp>
        <p:nvSpPr>
          <p:cNvPr id="6" name="text-6"/>
          <p:cNvSpPr txBox="1"/>
          <p:nvPr/>
        </p:nvSpPr>
        <p:spPr>
          <a:xfrm>
            <a:off x="3476625" y="1952625"/>
            <a:ext cx="8096250" cy="400050"/>
          </a:xfrm>
          <a:prstGeom prst="rect">
            <a:avLst/>
          </a:prstGeom>
          <a:noFill/>
          <a:ln>
            <a:noFill/>
          </a:ln>
        </p:spPr>
        <p:txBody>
          <a:bodyPr wrap="none" lIns="0" tIns="0" rIns="0" bIns="0" anchor="t"/>
          <a:lstStyle/>
          <a:p>
            <a:pPr algn="l">
              <a:lnSpc>
                <a:spcPts val="2062"/>
              </a:lnSpc>
              <a:spcBef>
                <a:spcPts val="0"/>
              </a:spcBef>
              <a:spcAft>
                <a:spcPts val="0"/>
              </a:spcAft>
            </a:pPr>
            <a:r>
              <a:rPr lang="fr-FR" sz="1650" b="0">
                <a:solidFill>
                  <a:srgbClr val="203A32"/>
                </a:solidFill>
                <a:latin typeface="Segoe UI"/>
                <a:ea typeface="Segoe UI"/>
                <a:cs typeface="Tahoma"/>
              </a:rPr>
              <a:t xml:space="preserve">iabufarha/ArSarcasm-v2, jeu officiel et partitions</a:t>
            </a:r>
            <a:endParaRPr lang="fr-FR" sz="1650"/>
          </a:p>
        </p:txBody>
      </p:sp>
      <p:sp>
        <p:nvSpPr>
          <p:cNvPr id="7" name="text-7"/>
          <p:cNvSpPr txBox="1"/>
          <p:nvPr/>
        </p:nvSpPr>
        <p:spPr>
          <a:xfrm>
            <a:off x="3476625" y="2352675"/>
            <a:ext cx="8096250" cy="400050"/>
          </a:xfrm>
          <a:prstGeom prst="rect">
            <a:avLst/>
          </a:prstGeom>
          <a:noFill/>
          <a:ln>
            <a:noFill/>
          </a:ln>
        </p:spPr>
        <p:txBody>
          <a:bodyPr wrap="none" lIns="0" tIns="0" rIns="0" bIns="0" anchor="t"/>
          <a:lstStyle/>
          <a:p>
            <a:pPr algn="l">
              <a:lnSpc>
                <a:spcPts val="1219"/>
              </a:lnSpc>
              <a:spcBef>
                <a:spcPts val="0"/>
              </a:spcBef>
              <a:spcAft>
                <a:spcPts val="0"/>
              </a:spcAft>
            </a:pPr>
            <a:r>
              <a:rPr lang="fr-FR" sz="975" b="0">
                <a:solidFill>
                  <a:srgbClr val="64736B"/>
                </a:solidFill>
                <a:latin typeface="Segoe UI"/>
                <a:ea typeface="Segoe UI"/>
                <a:cs typeface="Tahoma"/>
              </a:rPr>
              <a:t xml:space="preserve">https://github.com/iabufarha/ArSarcasm-v2</a:t>
            </a:r>
            <a:endParaRPr lang="fr-FR" sz="975"/>
          </a:p>
        </p:txBody>
      </p:sp>
      <p:sp>
        <p:nvSpPr>
          <p:cNvPr id="8" name="text-8"/>
          <p:cNvSpPr txBox="1"/>
          <p:nvPr/>
        </p:nvSpPr>
        <p:spPr>
          <a:xfrm>
            <a:off x="552450" y="2905125"/>
            <a:ext cx="2857500" cy="428625"/>
          </a:xfrm>
          <a:prstGeom prst="rect">
            <a:avLst/>
          </a:prstGeom>
          <a:noFill/>
          <a:ln>
            <a:noFill/>
          </a:ln>
        </p:spPr>
        <p:txBody>
          <a:bodyPr wrap="none" lIns="0" tIns="0" rIns="0" bIns="0" anchor="t"/>
          <a:lstStyle/>
          <a:p>
            <a:pPr algn="l">
              <a:lnSpc>
                <a:spcPts val="2438"/>
              </a:lnSpc>
              <a:spcBef>
                <a:spcPts val="0"/>
              </a:spcBef>
              <a:spcAft>
                <a:spcPts val="0"/>
              </a:spcAft>
            </a:pPr>
            <a:r>
              <a:rPr lang="fr-FR" sz="1950" b="1">
                <a:solidFill>
                  <a:srgbClr val="285D4B"/>
                </a:solidFill>
                <a:latin typeface="Segoe UI"/>
                <a:ea typeface="Segoe UI"/>
                <a:cs typeface="Tahoma"/>
              </a:rPr>
              <a:t xml:space="preserve">AraBERT</a:t>
            </a:r>
            <a:endParaRPr lang="fr-FR" sz="1950"/>
          </a:p>
        </p:txBody>
      </p:sp>
      <p:sp>
        <p:nvSpPr>
          <p:cNvPr id="9" name="text-9"/>
          <p:cNvSpPr txBox="1"/>
          <p:nvPr/>
        </p:nvSpPr>
        <p:spPr>
          <a:xfrm>
            <a:off x="3476625" y="2905125"/>
            <a:ext cx="8096250" cy="400050"/>
          </a:xfrm>
          <a:prstGeom prst="rect">
            <a:avLst/>
          </a:prstGeom>
          <a:noFill/>
          <a:ln>
            <a:noFill/>
          </a:ln>
        </p:spPr>
        <p:txBody>
          <a:bodyPr wrap="none" lIns="0" tIns="0" rIns="0" bIns="0" anchor="t"/>
          <a:lstStyle/>
          <a:p>
            <a:pPr algn="l">
              <a:lnSpc>
                <a:spcPts val="2062"/>
              </a:lnSpc>
              <a:spcBef>
                <a:spcPts val="0"/>
              </a:spcBef>
              <a:spcAft>
                <a:spcPts val="0"/>
              </a:spcAft>
            </a:pPr>
            <a:r>
              <a:rPr lang="fr-FR" sz="1650" b="0">
                <a:solidFill>
                  <a:srgbClr val="203A32"/>
                </a:solidFill>
                <a:latin typeface="Segoe UI"/>
                <a:ea typeface="Segoe UI"/>
                <a:cs typeface="Tahoma"/>
              </a:rPr>
              <a:t xml:space="preserve">Antoun, Baly et Hajj, 2020</a:t>
            </a:r>
            <a:endParaRPr lang="fr-FR" sz="1650"/>
          </a:p>
        </p:txBody>
      </p:sp>
      <p:sp>
        <p:nvSpPr>
          <p:cNvPr id="10" name="text-10"/>
          <p:cNvSpPr txBox="1"/>
          <p:nvPr/>
        </p:nvSpPr>
        <p:spPr>
          <a:xfrm>
            <a:off x="3476625" y="3305175"/>
            <a:ext cx="8096250" cy="400050"/>
          </a:xfrm>
          <a:prstGeom prst="rect">
            <a:avLst/>
          </a:prstGeom>
          <a:noFill/>
          <a:ln>
            <a:noFill/>
          </a:ln>
        </p:spPr>
        <p:txBody>
          <a:bodyPr wrap="none" lIns="0" tIns="0" rIns="0" bIns="0" anchor="t"/>
          <a:lstStyle/>
          <a:p>
            <a:pPr algn="l">
              <a:lnSpc>
                <a:spcPts val="1219"/>
              </a:lnSpc>
              <a:spcBef>
                <a:spcPts val="0"/>
              </a:spcBef>
              <a:spcAft>
                <a:spcPts val="0"/>
              </a:spcAft>
            </a:pPr>
            <a:r>
              <a:rPr lang="fr-FR" sz="975" b="0">
                <a:solidFill>
                  <a:srgbClr val="64736B"/>
                </a:solidFill>
                <a:latin typeface="Segoe UI"/>
                <a:ea typeface="Segoe UI"/>
                <a:cs typeface="Tahoma"/>
              </a:rPr>
              <a:t xml:space="preserve">https://aclanthology.org/2020.osact-1.2/</a:t>
            </a:r>
            <a:endParaRPr lang="fr-FR" sz="975"/>
          </a:p>
        </p:txBody>
      </p:sp>
      <p:sp>
        <p:nvSpPr>
          <p:cNvPr id="11" name="text-11"/>
          <p:cNvSpPr txBox="1"/>
          <p:nvPr/>
        </p:nvSpPr>
        <p:spPr>
          <a:xfrm>
            <a:off x="552450" y="3857625"/>
            <a:ext cx="2857500" cy="428625"/>
          </a:xfrm>
          <a:prstGeom prst="rect">
            <a:avLst/>
          </a:prstGeom>
          <a:noFill/>
          <a:ln>
            <a:noFill/>
          </a:ln>
        </p:spPr>
        <p:txBody>
          <a:bodyPr wrap="none" lIns="0" tIns="0" rIns="0" bIns="0" anchor="t"/>
          <a:lstStyle/>
          <a:p>
            <a:pPr algn="l">
              <a:lnSpc>
                <a:spcPts val="2438"/>
              </a:lnSpc>
              <a:spcBef>
                <a:spcPts val="0"/>
              </a:spcBef>
              <a:spcAft>
                <a:spcPts val="0"/>
              </a:spcAft>
            </a:pPr>
            <a:r>
              <a:rPr lang="fr-FR" sz="1950" b="1">
                <a:solidFill>
                  <a:srgbClr val="285D4B"/>
                </a:solidFill>
                <a:latin typeface="Segoe UI"/>
                <a:ea typeface="Segoe UI"/>
                <a:cs typeface="Tahoma"/>
              </a:rPr>
              <a:t xml:space="preserve">ARBERT &amp; MARBERT</a:t>
            </a:r>
            <a:endParaRPr lang="fr-FR" sz="1950"/>
          </a:p>
        </p:txBody>
      </p:sp>
      <p:sp>
        <p:nvSpPr>
          <p:cNvPr id="12" name="text-12"/>
          <p:cNvSpPr txBox="1"/>
          <p:nvPr/>
        </p:nvSpPr>
        <p:spPr>
          <a:xfrm>
            <a:off x="3476625" y="3857625"/>
            <a:ext cx="8096250" cy="400050"/>
          </a:xfrm>
          <a:prstGeom prst="rect">
            <a:avLst/>
          </a:prstGeom>
          <a:noFill/>
          <a:ln>
            <a:noFill/>
          </a:ln>
        </p:spPr>
        <p:txBody>
          <a:bodyPr wrap="none" lIns="0" tIns="0" rIns="0" bIns="0" anchor="t"/>
          <a:lstStyle/>
          <a:p>
            <a:pPr algn="l">
              <a:lnSpc>
                <a:spcPts val="2062"/>
              </a:lnSpc>
              <a:spcBef>
                <a:spcPts val="0"/>
              </a:spcBef>
              <a:spcAft>
                <a:spcPts val="0"/>
              </a:spcAft>
            </a:pPr>
            <a:r>
              <a:rPr lang="fr-FR" sz="1650" b="0">
                <a:solidFill>
                  <a:srgbClr val="203A32"/>
                </a:solidFill>
                <a:latin typeface="Segoe UI"/>
                <a:ea typeface="Segoe UI"/>
                <a:cs typeface="Tahoma"/>
              </a:rPr>
              <a:t xml:space="preserve">Abdul-Mageed, Elmadany et Nagoudi, 2021</a:t>
            </a:r>
            <a:endParaRPr lang="fr-FR" sz="1650"/>
          </a:p>
        </p:txBody>
      </p:sp>
      <p:sp>
        <p:nvSpPr>
          <p:cNvPr id="13" name="text-13"/>
          <p:cNvSpPr txBox="1"/>
          <p:nvPr/>
        </p:nvSpPr>
        <p:spPr>
          <a:xfrm>
            <a:off x="3476625" y="4257675"/>
            <a:ext cx="8096250" cy="400050"/>
          </a:xfrm>
          <a:prstGeom prst="rect">
            <a:avLst/>
          </a:prstGeom>
          <a:noFill/>
          <a:ln>
            <a:noFill/>
          </a:ln>
        </p:spPr>
        <p:txBody>
          <a:bodyPr wrap="none" lIns="0" tIns="0" rIns="0" bIns="0" anchor="t"/>
          <a:lstStyle/>
          <a:p>
            <a:pPr algn="l">
              <a:lnSpc>
                <a:spcPts val="1219"/>
              </a:lnSpc>
              <a:spcBef>
                <a:spcPts val="0"/>
              </a:spcBef>
              <a:spcAft>
                <a:spcPts val="0"/>
              </a:spcAft>
            </a:pPr>
            <a:r>
              <a:rPr lang="fr-FR" sz="975" b="0">
                <a:solidFill>
                  <a:srgbClr val="64736B"/>
                </a:solidFill>
                <a:latin typeface="Segoe UI"/>
                <a:ea typeface="Segoe UI"/>
                <a:cs typeface="Tahoma"/>
              </a:rPr>
              <a:t xml:space="preserve">https://aclanthology.org/2021.acl-long.551/</a:t>
            </a:r>
            <a:endParaRPr lang="fr-FR" sz="975"/>
          </a:p>
        </p:txBody>
      </p:sp>
      <p:sp>
        <p:nvSpPr>
          <p:cNvPr id="14" name="text-14"/>
          <p:cNvSpPr txBox="1"/>
          <p:nvPr/>
        </p:nvSpPr>
        <p:spPr>
          <a:xfrm>
            <a:off x="552450" y="4810125"/>
            <a:ext cx="2857500" cy="428625"/>
          </a:xfrm>
          <a:prstGeom prst="rect">
            <a:avLst/>
          </a:prstGeom>
          <a:noFill/>
          <a:ln>
            <a:noFill/>
          </a:ln>
        </p:spPr>
        <p:txBody>
          <a:bodyPr wrap="none" lIns="0" tIns="0" rIns="0" bIns="0" anchor="t"/>
          <a:lstStyle/>
          <a:p>
            <a:pPr algn="l">
              <a:lnSpc>
                <a:spcPts val="2438"/>
              </a:lnSpc>
              <a:spcBef>
                <a:spcPts val="0"/>
              </a:spcBef>
              <a:spcAft>
                <a:spcPts val="0"/>
              </a:spcAft>
            </a:pPr>
            <a:r>
              <a:rPr lang="fr-FR" sz="1950" b="1">
                <a:solidFill>
                  <a:srgbClr val="285D4B"/>
                </a:solidFill>
                <a:latin typeface="Segoe UI"/>
                <a:ea typeface="Segoe UI"/>
                <a:cs typeface="Tahoma"/>
              </a:rPr>
              <a:t xml:space="preserve">R-Drop</a:t>
            </a:r>
            <a:endParaRPr lang="fr-FR" sz="1950"/>
          </a:p>
        </p:txBody>
      </p:sp>
      <p:sp>
        <p:nvSpPr>
          <p:cNvPr id="15" name="text-15"/>
          <p:cNvSpPr txBox="1"/>
          <p:nvPr/>
        </p:nvSpPr>
        <p:spPr>
          <a:xfrm>
            <a:off x="3476625" y="4810125"/>
            <a:ext cx="8096250" cy="400050"/>
          </a:xfrm>
          <a:prstGeom prst="rect">
            <a:avLst/>
          </a:prstGeom>
          <a:noFill/>
          <a:ln>
            <a:noFill/>
          </a:ln>
        </p:spPr>
        <p:txBody>
          <a:bodyPr wrap="none" lIns="0" tIns="0" rIns="0" bIns="0" anchor="t"/>
          <a:lstStyle/>
          <a:p>
            <a:pPr algn="l">
              <a:lnSpc>
                <a:spcPts val="2062"/>
              </a:lnSpc>
              <a:spcBef>
                <a:spcPts val="0"/>
              </a:spcBef>
              <a:spcAft>
                <a:spcPts val="0"/>
              </a:spcAft>
            </a:pPr>
            <a:r>
              <a:rPr lang="fr-FR" sz="1650" b="0">
                <a:solidFill>
                  <a:srgbClr val="203A32"/>
                </a:solidFill>
                <a:latin typeface="Segoe UI"/>
                <a:ea typeface="Segoe UI"/>
                <a:cs typeface="Tahoma"/>
              </a:rPr>
              <a:t xml:space="preserve">Liang et al., NeurIPS 2021</a:t>
            </a:r>
            <a:endParaRPr lang="fr-FR" sz="1650"/>
          </a:p>
        </p:txBody>
      </p:sp>
      <p:sp>
        <p:nvSpPr>
          <p:cNvPr id="16" name="text-16"/>
          <p:cNvSpPr txBox="1"/>
          <p:nvPr/>
        </p:nvSpPr>
        <p:spPr>
          <a:xfrm>
            <a:off x="3476625" y="5210175"/>
            <a:ext cx="8096250" cy="400050"/>
          </a:xfrm>
          <a:prstGeom prst="rect">
            <a:avLst/>
          </a:prstGeom>
          <a:noFill/>
          <a:ln>
            <a:noFill/>
          </a:ln>
        </p:spPr>
        <p:txBody>
          <a:bodyPr wrap="none" lIns="0" tIns="0" rIns="0" bIns="0" anchor="t"/>
          <a:lstStyle/>
          <a:p>
            <a:pPr algn="l">
              <a:lnSpc>
                <a:spcPts val="1219"/>
              </a:lnSpc>
              <a:spcBef>
                <a:spcPts val="0"/>
              </a:spcBef>
              <a:spcAft>
                <a:spcPts val="0"/>
              </a:spcAft>
            </a:pPr>
            <a:r>
              <a:rPr lang="fr-FR" sz="975" b="0">
                <a:solidFill>
                  <a:srgbClr val="64736B"/>
                </a:solidFill>
                <a:latin typeface="Segoe UI"/>
                <a:ea typeface="Segoe UI"/>
                <a:cs typeface="Tahoma"/>
              </a:rPr>
              <a:t xml:space="preserve">https://proceedings.neurips.cc/paper_files/paper/2021/hash/5a66b9200f29ac3fa0ae244cc2a51b39-Abstract.html</a:t>
            </a:r>
            <a:endParaRPr lang="fr-FR" sz="975"/>
          </a:p>
        </p:txBody>
      </p:sp>
      <p:sp>
        <p:nvSpPr>
          <p:cNvPr id="17" name="text-17"/>
          <p:cNvSpPr txBox="1"/>
          <p:nvPr/>
        </p:nvSpPr>
        <p:spPr>
          <a:xfrm>
            <a:off x="552450" y="6048375"/>
            <a:ext cx="11049000" cy="381000"/>
          </a:xfrm>
          <a:prstGeom prst="rect">
            <a:avLst/>
          </a:prstGeom>
          <a:noFill/>
          <a:ln>
            <a:noFill/>
          </a:ln>
        </p:spPr>
        <p:txBody>
          <a:bodyPr wrap="none" lIns="0" tIns="0" rIns="0" bIns="0" anchor="t"/>
          <a:lstStyle/>
          <a:p>
            <a:pPr algn="l">
              <a:lnSpc>
                <a:spcPts val="1594"/>
              </a:lnSpc>
              <a:spcBef>
                <a:spcPts val="0"/>
              </a:spcBef>
              <a:spcAft>
                <a:spcPts val="0"/>
              </a:spcAft>
            </a:pPr>
            <a:r>
              <a:rPr lang="fr-FR" sz="1275" b="0">
                <a:solidFill>
                  <a:srgbClr val="64736B"/>
                </a:solidFill>
                <a:latin typeface="Segoe UI"/>
                <a:ea typeface="Segoe UI"/>
                <a:cs typeface="Tahoma"/>
              </a:rPr>
              <a:t xml:space="preserve">Mesures : results/report_data/*.csv et figures du notebook. Détails de provenance et notes orales inclus dans le PowerPoint.</a:t>
            </a:r>
            <a:endParaRPr lang="fr-FR" sz="1275"/>
          </a:p>
        </p:txBody>
      </p:sp>
      <p:cxnSp>
        <p:nvCxnSpPr>
          <p:cNvPr id="18" name="line-18"/>
          <p:cNvCxnSpPr/>
          <p:nvPr/>
        </p:nvCxnSpPr>
        <p:spPr>
          <a:xfrm>
            <a:off x="552450" y="6505575"/>
            <a:ext cx="11087100" cy="0"/>
          </a:xfrm>
          <a:prstGeom prst="line">
            <a:avLst/>
          </a:prstGeom>
          <a:ln w="9525">
            <a:solidFill>
              <a:srgbClr val="D4DBCE"/>
            </a:solidFill>
          </a:ln>
        </p:spPr>
      </p:cxnSp>
      <p:sp>
        <p:nvSpPr>
          <p:cNvPr id="19" name="text-19"/>
          <p:cNvSpPr txBox="1"/>
          <p:nvPr/>
        </p:nvSpPr>
        <p:spPr>
          <a:xfrm>
            <a:off x="552450" y="6572250"/>
            <a:ext cx="8572500" cy="219075"/>
          </a:xfrm>
          <a:prstGeom prst="rect">
            <a:avLst/>
          </a:prstGeom>
          <a:noFill/>
          <a:ln>
            <a:noFill/>
          </a:ln>
        </p:spPr>
        <p:txBody>
          <a:bodyPr wrap="none" lIns="0" tIns="0" rIns="0" bIns="0" anchor="t"/>
          <a:lstStyle/>
          <a:p>
            <a:pPr algn="l">
              <a:lnSpc>
                <a:spcPts val="1125"/>
              </a:lnSpc>
              <a:spcBef>
                <a:spcPts val="0"/>
              </a:spcBef>
              <a:spcAft>
                <a:spcPts val="0"/>
              </a:spcAft>
            </a:pPr>
            <a:r>
              <a:rPr lang="fr-FR" sz="900" b="0">
                <a:solidFill>
                  <a:srgbClr val="64736B"/>
                </a:solidFill>
                <a:latin typeface="Segoe UI"/>
                <a:ea typeface="Segoe UI"/>
                <a:cs typeface="Tahoma"/>
              </a:rPr>
              <a:t xml:space="preserve">LMA3NA · Omar Elkhali · BDIOT</a:t>
            </a:r>
            <a:endParaRPr lang="fr-FR" sz="900"/>
          </a:p>
        </p:txBody>
      </p:sp>
      <p:sp>
        <p:nvSpPr>
          <p:cNvPr id="20" name="text-20"/>
          <p:cNvSpPr txBox="1"/>
          <p:nvPr/>
        </p:nvSpPr>
        <p:spPr>
          <a:xfrm>
            <a:off x="10763250" y="6572250"/>
            <a:ext cx="876300" cy="219075"/>
          </a:xfrm>
          <a:prstGeom prst="rect">
            <a:avLst/>
          </a:prstGeom>
          <a:noFill/>
          <a:ln>
            <a:noFill/>
          </a:ln>
        </p:spPr>
        <p:txBody>
          <a:bodyPr wrap="none" lIns="0" tIns="0" rIns="0" bIns="0" anchor="t"/>
          <a:lstStyle/>
          <a:p>
            <a:pPr algn="r">
              <a:lnSpc>
                <a:spcPts val="1125"/>
              </a:lnSpc>
              <a:spcBef>
                <a:spcPts val="0"/>
              </a:spcBef>
              <a:spcAft>
                <a:spcPts val="0"/>
              </a:spcAft>
            </a:pPr>
            <a:r>
              <a:rPr lang="fr-FR" sz="900" b="0">
                <a:solidFill>
                  <a:srgbClr val="64736B"/>
                </a:solidFill>
                <a:latin typeface="Segoe UI"/>
                <a:ea typeface="Segoe UI"/>
                <a:cs typeface="Tahoma"/>
              </a:rPr>
              <a:t xml:space="preserve">38 / 38</a:t>
            </a:r>
            <a:endParaRPr lang="fr-FR" sz="900"/>
          </a:p>
        </p:txBody>
      </p:sp>
    </p:spTree>
  </p:cSld>
  <p:clrMapOvr>
    <a:masterClrMapping/>
  </p:clrMapOvr>
</p:sld>
</file>

<file path=ppt/theme/theme1.xml><?xml version="1.0" encoding="utf-8"?>
<a:theme xmlns:a="http://schemas.openxmlformats.org/drawingml/2006/main" name="LMA3NA">
  <a:themeElements>
    <a:clrScheme name="LMA3NA">
      <a:dk1>
        <a:srgbClr val="203A32"/>
      </a:dk1>
      <a:lt1>
        <a:srgbClr val="FFFFFF"/>
      </a:lt1>
      <a:dk2>
        <a:srgbClr val="172E2B"/>
      </a:dk2>
      <a:lt2>
        <a:srgbClr val="F5F4EE"/>
      </a:lt2>
      <a:accent1>
        <a:srgbClr val="285D4B"/>
      </a:accent1>
      <a:accent2>
        <a:srgbClr val="E6A477"/>
      </a:accent2>
      <a:accent3>
        <a:srgbClr val="7298C0"/>
      </a:accent3>
      <a:accent4>
        <a:srgbClr val="A084D0"/>
      </a:accent4>
      <a:accent5>
        <a:srgbClr val="C28494"/>
      </a:accent5>
      <a:accent6>
        <a:srgbClr val="DDE7D6"/>
      </a:accent6>
      <a:hlink>
        <a:srgbClr val="246D96"/>
      </a:hlink>
      <a:folHlink>
        <a:srgbClr val="774F92"/>
      </a:folHlink>
    </a:clrScheme>
    <a:fontScheme name="Segoe">
      <a:majorFont>
        <a:latin typeface="Segoe UI"/>
        <a:ea typeface="Segoe UI"/>
        <a:cs typeface="Tahoma"/>
      </a:majorFont>
      <a:minorFont>
        <a:latin typeface="Segoe UI"/>
        <a:ea typeface="Segoe UI"/>
        <a:cs typeface="Tahoma"/>
      </a:minorFont>
    </a:fontScheme>
    <a:fmtScheme name="LMA3NA">
      <a:fillStyleLst>
        <a:solidFill>
          <a:schemeClr val="phClr"/>
        </a:solidFill>
        <a:solidFill>
          <a:schemeClr val="phClr"/>
        </a:solidFill>
        <a:solidFill>
          <a:schemeClr val="phClr"/>
        </a:soli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